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326" r:id="rId7"/>
    <p:sldId id="327" r:id="rId8"/>
    <p:sldId id="260" r:id="rId9"/>
    <p:sldId id="262" r:id="rId10"/>
    <p:sldId id="263" r:id="rId11"/>
    <p:sldId id="264" r:id="rId12"/>
    <p:sldId id="265" r:id="rId13"/>
    <p:sldId id="266" r:id="rId14"/>
    <p:sldId id="268" r:id="rId15"/>
    <p:sldId id="325" r:id="rId16"/>
    <p:sldId id="279" r:id="rId17"/>
    <p:sldId id="299" r:id="rId18"/>
    <p:sldId id="300" r:id="rId19"/>
    <p:sldId id="301" r:id="rId20"/>
    <p:sldId id="302" r:id="rId21"/>
    <p:sldId id="303" r:id="rId22"/>
    <p:sldId id="304" r:id="rId23"/>
    <p:sldId id="306" r:id="rId24"/>
    <p:sldId id="307" r:id="rId25"/>
    <p:sldId id="311" r:id="rId26"/>
    <p:sldId id="312" r:id="rId27"/>
    <p:sldId id="305" r:id="rId28"/>
    <p:sldId id="314" r:id="rId29"/>
    <p:sldId id="313" r:id="rId30"/>
    <p:sldId id="315" r:id="rId31"/>
    <p:sldId id="320" r:id="rId32"/>
    <p:sldId id="316" r:id="rId33"/>
    <p:sldId id="321" r:id="rId34"/>
    <p:sldId id="317" r:id="rId35"/>
    <p:sldId id="322" r:id="rId36"/>
    <p:sldId id="318" r:id="rId37"/>
    <p:sldId id="323" r:id="rId38"/>
    <p:sldId id="324" r:id="rId39"/>
    <p:sldId id="287" r:id="rId40"/>
    <p:sldId id="293" r:id="rId41"/>
    <p:sldId id="267" r:id="rId42"/>
    <p:sldId id="294" r:id="rId43"/>
    <p:sldId id="298" r:id="rId44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4"/>
    <p:restoredTop sz="94624"/>
  </p:normalViewPr>
  <p:slideViewPr>
    <p:cSldViewPr snapToGrid="0">
      <p:cViewPr varScale="1">
        <p:scale>
          <a:sx n="111" d="100"/>
          <a:sy n="111" d="100"/>
        </p:scale>
        <p:origin x="496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80AF94-E469-5F68-0959-67126CC13D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21950890-7A19-793F-B925-F7EAB7E365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E9DC92A-5241-0969-6937-73BB7CC210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738D3-ED82-4F4A-8D89-517188837633}" type="datetimeFigureOut">
              <a:rPr lang="de-DE" smtClean="0"/>
              <a:t>25.04.24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F6D38DB-19AE-146C-E2A5-0A8E35BFB7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7352D44-688A-9C3B-7E8E-FBBB463006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345625-98A1-A94D-B024-FFAFB745F95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181697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41D2BFD-7198-589A-E829-1A22F07B79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7821260-D1AC-8B4C-BE90-4EC48BC293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2ECDE21-8BA5-D4A8-AE20-4CDDC03F69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738D3-ED82-4F4A-8D89-517188837633}" type="datetimeFigureOut">
              <a:rPr lang="de-DE" smtClean="0"/>
              <a:t>25.04.24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4C55BB7-4BEC-170E-954C-DE442555D4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F4C250F-D431-E44B-2BEF-96AAD8DE1F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345625-98A1-A94D-B024-FFAFB745F95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067769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6062BB9-74D2-38B8-169A-F30DE7634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795241F-E9AF-BF58-3354-1A83BF10D4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C6B02B0-A651-C022-6F0A-8A85463038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738D3-ED82-4F4A-8D89-517188837633}" type="datetimeFigureOut">
              <a:rPr lang="de-DE" smtClean="0"/>
              <a:t>25.04.24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4D867EB-C1D3-5D55-C08B-C9110E44CF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078EF30-E73B-5880-6105-3404785993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345625-98A1-A94D-B024-FFAFB745F95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764850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D142533-EE79-6BA7-2B2A-858A7FD84F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A1BBE44-EF2C-A934-7C29-D9D2B96CAE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F12415E-DA9D-D699-368C-66980812CD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EAA81FC-FB98-F70C-10E0-490B4CDABD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738D3-ED82-4F4A-8D89-517188837633}" type="datetimeFigureOut">
              <a:rPr lang="de-DE" smtClean="0"/>
              <a:t>25.04.24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EBC2568-D980-DC64-C7E0-48E8BEC3CD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C9946A2-3571-3525-AAC9-4622D1C820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345625-98A1-A94D-B024-FFAFB745F95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314037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60ED6B0-714F-0C28-2656-79D87A282D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2126EFB-199F-2E74-118C-1C6BF4AA2F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2F20E8DA-DED2-90D9-B4E2-77F9901C87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B16536B-CBE9-4239-DE40-7DCA52FE7B8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3958CE77-ABE8-FC88-BF11-2BDC82623B5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A1E9A081-E704-0C6B-28B6-C36F1B4BFC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738D3-ED82-4F4A-8D89-517188837633}" type="datetimeFigureOut">
              <a:rPr lang="de-DE" smtClean="0"/>
              <a:t>25.04.24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5C590CC8-0D47-031B-5267-9A8433D231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CFBAD545-FA5A-7D22-2D7B-366E0AEC4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345625-98A1-A94D-B024-FFAFB745F95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242465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2254925-BE65-8BF2-A57B-6F1753052B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3BC6461-3A5E-F757-AB97-B7276649A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738D3-ED82-4F4A-8D89-517188837633}" type="datetimeFigureOut">
              <a:rPr lang="de-DE" smtClean="0"/>
              <a:t>25.04.24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76120FE-66EC-F2BD-FC03-666ED92B47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7B4C681-8634-3E8B-3854-1670A1A29E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345625-98A1-A94D-B024-FFAFB745F95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062295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EADD7724-662A-B5AA-E815-F069694AA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738D3-ED82-4F4A-8D89-517188837633}" type="datetimeFigureOut">
              <a:rPr lang="de-DE" smtClean="0"/>
              <a:t>25.04.24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33B04321-EC32-68AD-A6DB-BDFB4D0048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7FA8A69-56DA-4564-7273-CA16E7FD8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345625-98A1-A94D-B024-FFAFB745F95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221176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D23E9B-CA3F-FCEC-455D-F3B2017F7D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6024B75-7988-7743-3D37-B02AA5C1A5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46A853B-F53E-E3BC-0E94-8C8406172C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91BA553-526E-B4AC-3D18-18B7A09AEA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738D3-ED82-4F4A-8D89-517188837633}" type="datetimeFigureOut">
              <a:rPr lang="de-DE" smtClean="0"/>
              <a:t>25.04.24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626FD69-A507-7A54-C69D-51A8C6363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5AB5BA2-C8CA-E706-0146-C6649CA1E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345625-98A1-A94D-B024-FFAFB745F95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170104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BBFEB1E-0D93-804F-7C94-639954455B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7832B974-5C1A-0838-F214-EECB0B15907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D731725-A8D4-8F4A-9912-0F047AF1D7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9C93F4C-2386-B921-5981-C33BE02EA8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738D3-ED82-4F4A-8D89-517188837633}" type="datetimeFigureOut">
              <a:rPr lang="de-DE" smtClean="0"/>
              <a:t>25.04.24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3EDBE9E-E5E5-19CD-3685-24188C6D4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8676A12-34B7-8408-FDEA-2EABC2368D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345625-98A1-A94D-B024-FFAFB745F95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457381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2A1FE6A-CEE5-2F6F-DB29-278E8CAA42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FECBDDA-C0F8-5F61-26A7-BC51057F3A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5A09C0C-D793-2F4F-AD1A-83EA31DBE2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738D3-ED82-4F4A-8D89-517188837633}" type="datetimeFigureOut">
              <a:rPr lang="de-DE" smtClean="0"/>
              <a:t>25.04.24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8DCC95E-1120-FF15-330E-CCA067104D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8F6B68A-4460-F778-CEE9-4FB459B3F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345625-98A1-A94D-B024-FFAFB745F95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70898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3C8FA718-9BA8-1BDE-BE6A-94FCCA6D00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91F3A90-35DB-72C9-1DFC-D853C386A9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6386AD0-DEE2-FE34-1F94-215234AB5E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738D3-ED82-4F4A-8D89-517188837633}" type="datetimeFigureOut">
              <a:rPr lang="de-DE" smtClean="0"/>
              <a:t>25.04.24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61A4A85-409F-AAE4-04BB-A3439D6ADD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1A15C6E-4EF7-8E91-DE49-928E79DB01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345625-98A1-A94D-B024-FFAFB745F95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385675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D1933F9C-45F9-7EF6-53AC-524DDA4F72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42571B3-9919-FE93-F1FC-1774FAD688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F3D35E7-3A01-B01B-A59F-E485EB66582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D738D3-ED82-4F4A-8D89-517188837633}" type="datetimeFigureOut">
              <a:rPr lang="de-DE" smtClean="0"/>
              <a:t>25.04.24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8D7E3E2-B3A4-EC05-B495-76A9373135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FF5C4A2-6AFA-56C7-0B5A-B58A7E88A3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345625-98A1-A94D-B024-FFAFB745F95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45500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herbrich" TargetMode="External"/><Relationship Id="rId2" Type="http://schemas.openxmlformats.org/officeDocument/2006/relationships/hyperlink" Target="https://github.com/aherbrich/sysprog24/tree/main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windows/wsl/setup/environment#set-up-your-linux-username-and-password" TargetMode="External"/><Relationship Id="rId2" Type="http://schemas.openxmlformats.org/officeDocument/2006/relationships/hyperlink" Target="https://learn.microsoft.com/en-us/windows/wsl/install#install-wsl-command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gif"/><Relationship Id="rId4" Type="http://schemas.openxmlformats.org/officeDocument/2006/relationships/hyperlink" Target="https://learn.microsoft.com/en-us/windows/wsl/tutorials/wsl-vscode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IYZDIhfAUM0" TargetMode="External"/><Relationship Id="rId2" Type="http://schemas.openxmlformats.org/officeDocument/2006/relationships/hyperlink" Target="https://sourabhbajaj.com/mac-setup/iTerm/zsh.html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slideLayout" Target="../slideLayouts/slideLayout4.xml"/><Relationship Id="rId1" Type="http://schemas.openxmlformats.org/officeDocument/2006/relationships/video" Target="https://www.youtube.com/embed/4T5dBLakMQo?list=PL5FRnzOULdYfzyeoaKFJmfeHJvwIwqK0a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slideLayout" Target="../slideLayouts/slideLayout4.xml"/><Relationship Id="rId1" Type="http://schemas.openxmlformats.org/officeDocument/2006/relationships/video" Target="https://www.youtube.com/embed/4T5dBLakMQo?list=PL5FRnzOULdYfzyeoaKFJmfeHJvwIwqK0a" TargetMode="Externa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43CAA20-3569-4189-9E48-239A229A86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52567CF-4FE5-6E43-A88A-FF52C4CEAB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451381"/>
            <a:ext cx="10512552" cy="4066540"/>
          </a:xfrm>
        </p:spPr>
        <p:txBody>
          <a:bodyPr anchor="b">
            <a:normAutofit/>
          </a:bodyPr>
          <a:lstStyle/>
          <a:p>
            <a:pPr algn="l"/>
            <a:r>
              <a:rPr lang="de-DE" sz="6600"/>
              <a:t>Tutorium 1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98361BB-8130-A872-E4B9-2966BE056E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199" y="4983276"/>
            <a:ext cx="10512552" cy="1126680"/>
          </a:xfrm>
        </p:spPr>
        <p:txBody>
          <a:bodyPr>
            <a:normAutofit/>
          </a:bodyPr>
          <a:lstStyle/>
          <a:p>
            <a:pPr algn="l"/>
            <a:r>
              <a:rPr lang="de-DE" dirty="0"/>
              <a:t>Setup und C-Basics</a:t>
            </a:r>
            <a:endParaRPr lang="de-DE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A542B6D-E775-4832-91DC-2D20F85781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4718595"/>
            <a:ext cx="5410200" cy="18288"/>
          </a:xfrm>
          <a:custGeom>
            <a:avLst/>
            <a:gdLst>
              <a:gd name="connsiteX0" fmla="*/ 0 w 5410200"/>
              <a:gd name="connsiteY0" fmla="*/ 0 h 18288"/>
              <a:gd name="connsiteX1" fmla="*/ 568071 w 5410200"/>
              <a:gd name="connsiteY1" fmla="*/ 0 h 18288"/>
              <a:gd name="connsiteX2" fmla="*/ 1298448 w 5410200"/>
              <a:gd name="connsiteY2" fmla="*/ 0 h 18288"/>
              <a:gd name="connsiteX3" fmla="*/ 1920621 w 5410200"/>
              <a:gd name="connsiteY3" fmla="*/ 0 h 18288"/>
              <a:gd name="connsiteX4" fmla="*/ 2488692 w 5410200"/>
              <a:gd name="connsiteY4" fmla="*/ 0 h 18288"/>
              <a:gd name="connsiteX5" fmla="*/ 3219069 w 5410200"/>
              <a:gd name="connsiteY5" fmla="*/ 0 h 18288"/>
              <a:gd name="connsiteX6" fmla="*/ 3895344 w 5410200"/>
              <a:gd name="connsiteY6" fmla="*/ 0 h 18288"/>
              <a:gd name="connsiteX7" fmla="*/ 4571619 w 5410200"/>
              <a:gd name="connsiteY7" fmla="*/ 0 h 18288"/>
              <a:gd name="connsiteX8" fmla="*/ 5410200 w 5410200"/>
              <a:gd name="connsiteY8" fmla="*/ 0 h 18288"/>
              <a:gd name="connsiteX9" fmla="*/ 5410200 w 5410200"/>
              <a:gd name="connsiteY9" fmla="*/ 18288 h 18288"/>
              <a:gd name="connsiteX10" fmla="*/ 4842129 w 5410200"/>
              <a:gd name="connsiteY10" fmla="*/ 18288 h 18288"/>
              <a:gd name="connsiteX11" fmla="*/ 4328160 w 5410200"/>
              <a:gd name="connsiteY11" fmla="*/ 18288 h 18288"/>
              <a:gd name="connsiteX12" fmla="*/ 3597783 w 5410200"/>
              <a:gd name="connsiteY12" fmla="*/ 18288 h 18288"/>
              <a:gd name="connsiteX13" fmla="*/ 3029712 w 5410200"/>
              <a:gd name="connsiteY13" fmla="*/ 18288 h 18288"/>
              <a:gd name="connsiteX14" fmla="*/ 2299335 w 5410200"/>
              <a:gd name="connsiteY14" fmla="*/ 18288 h 18288"/>
              <a:gd name="connsiteX15" fmla="*/ 1514856 w 5410200"/>
              <a:gd name="connsiteY15" fmla="*/ 18288 h 18288"/>
              <a:gd name="connsiteX16" fmla="*/ 892683 w 5410200"/>
              <a:gd name="connsiteY16" fmla="*/ 18288 h 18288"/>
              <a:gd name="connsiteX17" fmla="*/ 0 w 5410200"/>
              <a:gd name="connsiteY17" fmla="*/ 18288 h 18288"/>
              <a:gd name="connsiteX18" fmla="*/ 0 w 5410200"/>
              <a:gd name="connsiteY1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17748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0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44D2CD9-E97C-9629-EE1C-5BE9273402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 dirty="0" err="1"/>
              <a:t>Vorab</a:t>
            </a:r>
            <a:r>
              <a:rPr lang="en-US" sz="5400" dirty="0"/>
              <a:t> – </a:t>
            </a:r>
            <a:r>
              <a:rPr lang="en-US" sz="5400" dirty="0" err="1"/>
              <a:t>Wer</a:t>
            </a:r>
            <a:r>
              <a:rPr lang="en-US" sz="5400" dirty="0"/>
              <a:t> bin ich?</a:t>
            </a:r>
          </a:p>
        </p:txBody>
      </p:sp>
      <p:sp>
        <p:nvSpPr>
          <p:cNvPr id="26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onnsiteX0" fmla="*/ 0 w 3474720"/>
              <a:gd name="connsiteY0" fmla="*/ 0 h 18288"/>
              <a:gd name="connsiteX1" fmla="*/ 694944 w 3474720"/>
              <a:gd name="connsiteY1" fmla="*/ 0 h 18288"/>
              <a:gd name="connsiteX2" fmla="*/ 1355141 w 3474720"/>
              <a:gd name="connsiteY2" fmla="*/ 0 h 18288"/>
              <a:gd name="connsiteX3" fmla="*/ 2015338 w 3474720"/>
              <a:gd name="connsiteY3" fmla="*/ 0 h 18288"/>
              <a:gd name="connsiteX4" fmla="*/ 2779776 w 3474720"/>
              <a:gd name="connsiteY4" fmla="*/ 0 h 18288"/>
              <a:gd name="connsiteX5" fmla="*/ 3474720 w 3474720"/>
              <a:gd name="connsiteY5" fmla="*/ 0 h 18288"/>
              <a:gd name="connsiteX6" fmla="*/ 3474720 w 3474720"/>
              <a:gd name="connsiteY6" fmla="*/ 18288 h 18288"/>
              <a:gd name="connsiteX7" fmla="*/ 2779776 w 3474720"/>
              <a:gd name="connsiteY7" fmla="*/ 18288 h 18288"/>
              <a:gd name="connsiteX8" fmla="*/ 2189074 w 3474720"/>
              <a:gd name="connsiteY8" fmla="*/ 18288 h 18288"/>
              <a:gd name="connsiteX9" fmla="*/ 1528877 w 3474720"/>
              <a:gd name="connsiteY9" fmla="*/ 18288 h 18288"/>
              <a:gd name="connsiteX10" fmla="*/ 868680 w 3474720"/>
              <a:gd name="connsiteY10" fmla="*/ 18288 h 18288"/>
              <a:gd name="connsiteX11" fmla="*/ 0 w 3474720"/>
              <a:gd name="connsiteY11" fmla="*/ 18288 h 18288"/>
              <a:gd name="connsiteX12" fmla="*/ 0 w 347472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22E96AE-0200-2DCF-F7A8-B89466C2DC3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0080" y="2872899"/>
            <a:ext cx="4243589" cy="3320668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1500" dirty="0"/>
              <a:t>Alexander </a:t>
            </a:r>
            <a:r>
              <a:rPr lang="en-US" sz="1500" dirty="0" err="1"/>
              <a:t>Herbrich</a:t>
            </a:r>
            <a:r>
              <a:rPr lang="en-US" sz="1500" dirty="0"/>
              <a:t> (</a:t>
            </a:r>
            <a:r>
              <a:rPr lang="en-US" sz="1500" dirty="0" err="1"/>
              <a:t>aber</a:t>
            </a:r>
            <a:r>
              <a:rPr lang="en-US" sz="1500" dirty="0"/>
              <a:t>, </a:t>
            </a:r>
            <a:r>
              <a:rPr lang="en-US" sz="1500" dirty="0" err="1"/>
              <a:t>nennt</a:t>
            </a:r>
            <a:r>
              <a:rPr lang="en-US" sz="1500" dirty="0"/>
              <a:t> </a:t>
            </a:r>
            <a:r>
              <a:rPr lang="en-US" sz="1500" dirty="0" err="1"/>
              <a:t>mich</a:t>
            </a:r>
            <a:r>
              <a:rPr lang="en-US" sz="1500" dirty="0"/>
              <a:t> </a:t>
            </a:r>
            <a:r>
              <a:rPr lang="en-US" sz="1500" dirty="0" err="1"/>
              <a:t>ruhig</a:t>
            </a:r>
            <a:r>
              <a:rPr lang="en-US" sz="1500" dirty="0"/>
              <a:t> Alex)</a:t>
            </a:r>
          </a:p>
          <a:p>
            <a:r>
              <a:rPr lang="en-US" sz="1500" dirty="0"/>
              <a:t>6. Sem. </a:t>
            </a:r>
            <a:r>
              <a:rPr lang="en-US" sz="1500" dirty="0" err="1"/>
              <a:t>Informatik</a:t>
            </a:r>
            <a:r>
              <a:rPr lang="en-US" sz="1500" dirty="0"/>
              <a:t> B.Sc. </a:t>
            </a:r>
          </a:p>
          <a:p>
            <a:r>
              <a:rPr lang="en-US" sz="1500" dirty="0" err="1"/>
              <a:t>Fragen</a:t>
            </a:r>
            <a:r>
              <a:rPr lang="en-US" sz="1500" dirty="0"/>
              <a:t>? </a:t>
            </a:r>
            <a:r>
              <a:rPr lang="en-US" sz="1500" dirty="0" err="1"/>
              <a:t>Organisatorisches</a:t>
            </a:r>
            <a:r>
              <a:rPr lang="en-US" sz="1500" dirty="0"/>
              <a:t>?</a:t>
            </a:r>
          </a:p>
          <a:p>
            <a:pPr lvl="1"/>
            <a:r>
              <a:rPr lang="en-US" sz="1500" dirty="0"/>
              <a:t>Mail at: </a:t>
            </a:r>
            <a:r>
              <a:rPr lang="en-US" sz="1500" b="1" dirty="0" err="1"/>
              <a:t>herbrich@tu-berlin.de</a:t>
            </a:r>
            <a:endParaRPr lang="en-US" sz="1500" b="1" dirty="0"/>
          </a:p>
          <a:p>
            <a:pPr lvl="1"/>
            <a:r>
              <a:rPr lang="en-US" sz="1500" dirty="0" err="1"/>
              <a:t>Im</a:t>
            </a:r>
            <a:r>
              <a:rPr lang="en-US" sz="1500" dirty="0"/>
              <a:t> Forum, falls </a:t>
            </a:r>
            <a:r>
              <a:rPr lang="en-US" sz="1500" dirty="0" err="1"/>
              <a:t>Andere</a:t>
            </a:r>
            <a:r>
              <a:rPr lang="en-US" sz="1500" dirty="0"/>
              <a:t> von der </a:t>
            </a:r>
            <a:r>
              <a:rPr lang="en-US" sz="1500" dirty="0" err="1"/>
              <a:t>Antwort</a:t>
            </a:r>
            <a:r>
              <a:rPr lang="en-US" sz="1500" dirty="0"/>
              <a:t> </a:t>
            </a:r>
            <a:r>
              <a:rPr lang="en-US" sz="1500" dirty="0" err="1"/>
              <a:t>profitieren</a:t>
            </a:r>
            <a:r>
              <a:rPr lang="en-US" sz="1500" dirty="0"/>
              <a:t> </a:t>
            </a:r>
            <a:r>
              <a:rPr lang="en-US" sz="1500" dirty="0" err="1"/>
              <a:t>könnten</a:t>
            </a:r>
            <a:endParaRPr lang="en-US" sz="1500" dirty="0"/>
          </a:p>
          <a:p>
            <a:r>
              <a:rPr lang="en-US" sz="1500" dirty="0" err="1"/>
              <a:t>Lösungen</a:t>
            </a:r>
            <a:r>
              <a:rPr lang="en-US" sz="1500" dirty="0"/>
              <a:t>?</a:t>
            </a:r>
          </a:p>
          <a:p>
            <a:pPr lvl="1"/>
            <a:r>
              <a:rPr lang="en-US" sz="1500" dirty="0"/>
              <a:t>Die </a:t>
            </a:r>
            <a:r>
              <a:rPr lang="en-US" sz="1500" dirty="0" err="1"/>
              <a:t>offiziellen</a:t>
            </a:r>
            <a:r>
              <a:rPr lang="en-US" sz="1500" dirty="0"/>
              <a:t> </a:t>
            </a:r>
            <a:r>
              <a:rPr lang="en-US" sz="1500" dirty="0" err="1"/>
              <a:t>Musterlösungen</a:t>
            </a:r>
            <a:r>
              <a:rPr lang="en-US" sz="1500" dirty="0"/>
              <a:t> </a:t>
            </a:r>
            <a:r>
              <a:rPr lang="en-US" sz="1500" dirty="0" err="1"/>
              <a:t>werden</a:t>
            </a:r>
            <a:r>
              <a:rPr lang="en-US" sz="1500" dirty="0"/>
              <a:t> </a:t>
            </a:r>
            <a:r>
              <a:rPr lang="en-US" sz="1500" dirty="0" err="1"/>
              <a:t>im</a:t>
            </a:r>
            <a:r>
              <a:rPr lang="en-US" sz="1500" dirty="0"/>
              <a:t> ISIS-</a:t>
            </a:r>
            <a:r>
              <a:rPr lang="en-US" sz="1500" dirty="0" err="1"/>
              <a:t>Kurs</a:t>
            </a:r>
            <a:r>
              <a:rPr lang="en-US" sz="1500" dirty="0"/>
              <a:t> </a:t>
            </a:r>
            <a:r>
              <a:rPr lang="en-US" sz="1500" dirty="0" err="1"/>
              <a:t>hochgeladen</a:t>
            </a:r>
            <a:endParaRPr lang="en-US" sz="1500" dirty="0"/>
          </a:p>
          <a:p>
            <a:pPr lvl="1"/>
            <a:r>
              <a:rPr lang="en-US" sz="1500" dirty="0" err="1"/>
              <a:t>Meine</a:t>
            </a:r>
            <a:r>
              <a:rPr lang="en-US" sz="1500" dirty="0"/>
              <a:t> </a:t>
            </a:r>
            <a:r>
              <a:rPr lang="en-US" sz="1500" dirty="0" err="1"/>
              <a:t>Notizen</a:t>
            </a:r>
            <a:r>
              <a:rPr lang="en-US" sz="1500" dirty="0"/>
              <a:t>/</a:t>
            </a:r>
            <a:r>
              <a:rPr lang="en-US" sz="1500" dirty="0" err="1"/>
              <a:t>Resourcen</a:t>
            </a:r>
            <a:r>
              <a:rPr lang="en-US" sz="1500" dirty="0"/>
              <a:t>/</a:t>
            </a:r>
            <a:r>
              <a:rPr lang="en-US" sz="1500" dirty="0" err="1"/>
              <a:t>Empfehlungen</a:t>
            </a:r>
            <a:r>
              <a:rPr lang="en-US" sz="1500" dirty="0"/>
              <a:t> </a:t>
            </a:r>
            <a:r>
              <a:rPr lang="en-US" sz="1500" dirty="0" err="1"/>
              <a:t>findet</a:t>
            </a:r>
            <a:r>
              <a:rPr lang="en-US" sz="1500" dirty="0"/>
              <a:t> </a:t>
            </a:r>
            <a:r>
              <a:rPr lang="en-US" sz="1500" dirty="0" err="1"/>
              <a:t>ihr</a:t>
            </a:r>
            <a:r>
              <a:rPr lang="en-US" sz="1500" dirty="0"/>
              <a:t> in </a:t>
            </a:r>
            <a:r>
              <a:rPr lang="en-US" sz="1500" dirty="0" err="1"/>
              <a:t>diesem</a:t>
            </a:r>
            <a:r>
              <a:rPr lang="en-US" sz="1500" dirty="0"/>
              <a:t> </a:t>
            </a:r>
            <a:r>
              <a:rPr lang="en-US" sz="1500" dirty="0">
                <a:hlinkClick r:id="rId2"/>
              </a:rPr>
              <a:t>Repo</a:t>
            </a:r>
            <a:r>
              <a:rPr lang="en-US" sz="1500" dirty="0"/>
              <a:t> (GitHub </a:t>
            </a:r>
            <a:r>
              <a:rPr lang="en-US" sz="1500" dirty="0">
                <a:hlinkClick r:id="rId3"/>
              </a:rPr>
              <a:t>@aherbrich</a:t>
            </a:r>
            <a:r>
              <a:rPr lang="en-US" sz="1500" dirty="0"/>
              <a:t>)</a:t>
            </a:r>
          </a:p>
        </p:txBody>
      </p:sp>
      <p:pic>
        <p:nvPicPr>
          <p:cNvPr id="9" name="Inhaltsplatzhalter 8" descr="Ein Bild, das Menschliches Gesicht, Person, Kleidung, Mann enthält.&#10;&#10;Automatisch generierte Beschreibung">
            <a:extLst>
              <a:ext uri="{FF2B5EF4-FFF2-40B4-BE49-F238E27FC236}">
                <a16:creationId xmlns:a16="http://schemas.microsoft.com/office/drawing/2014/main" id="{350DDE85-0E83-2881-F67D-DF2A614C370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4"/>
          <a:srcRect t="302"/>
          <a:stretch/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9497187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285ED59-3486-66B8-C0A0-FCF84502C3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anchor="b">
            <a:normAutofit/>
          </a:bodyPr>
          <a:lstStyle/>
          <a:p>
            <a:r>
              <a:rPr lang="de-DE" sz="4600" dirty="0"/>
              <a:t>Vorab - Organisatorisches</a:t>
            </a:r>
          </a:p>
        </p:txBody>
      </p:sp>
      <p:sp>
        <p:nvSpPr>
          <p:cNvPr id="11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onnsiteX0" fmla="*/ 0 w 3474720"/>
              <a:gd name="connsiteY0" fmla="*/ 0 h 18288"/>
              <a:gd name="connsiteX1" fmla="*/ 694944 w 3474720"/>
              <a:gd name="connsiteY1" fmla="*/ 0 h 18288"/>
              <a:gd name="connsiteX2" fmla="*/ 1355141 w 3474720"/>
              <a:gd name="connsiteY2" fmla="*/ 0 h 18288"/>
              <a:gd name="connsiteX3" fmla="*/ 2015338 w 3474720"/>
              <a:gd name="connsiteY3" fmla="*/ 0 h 18288"/>
              <a:gd name="connsiteX4" fmla="*/ 2779776 w 3474720"/>
              <a:gd name="connsiteY4" fmla="*/ 0 h 18288"/>
              <a:gd name="connsiteX5" fmla="*/ 3474720 w 3474720"/>
              <a:gd name="connsiteY5" fmla="*/ 0 h 18288"/>
              <a:gd name="connsiteX6" fmla="*/ 3474720 w 3474720"/>
              <a:gd name="connsiteY6" fmla="*/ 18288 h 18288"/>
              <a:gd name="connsiteX7" fmla="*/ 2779776 w 3474720"/>
              <a:gd name="connsiteY7" fmla="*/ 18288 h 18288"/>
              <a:gd name="connsiteX8" fmla="*/ 2189074 w 3474720"/>
              <a:gd name="connsiteY8" fmla="*/ 18288 h 18288"/>
              <a:gd name="connsiteX9" fmla="*/ 1528877 w 3474720"/>
              <a:gd name="connsiteY9" fmla="*/ 18288 h 18288"/>
              <a:gd name="connsiteX10" fmla="*/ 868680 w 3474720"/>
              <a:gd name="connsiteY10" fmla="*/ 18288 h 18288"/>
              <a:gd name="connsiteX11" fmla="*/ 0 w 3474720"/>
              <a:gd name="connsiteY11" fmla="*/ 18288 h 18288"/>
              <a:gd name="connsiteX12" fmla="*/ 0 w 347472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6EC8738-9D60-4E59-B0A1-64BD602574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872899"/>
            <a:ext cx="4243589" cy="3320668"/>
          </a:xfrm>
        </p:spPr>
        <p:txBody>
          <a:bodyPr>
            <a:normAutofit lnSpcReduction="10000"/>
          </a:bodyPr>
          <a:lstStyle/>
          <a:p>
            <a:r>
              <a:rPr lang="de-DE" sz="1700" b="1" dirty="0">
                <a:solidFill>
                  <a:srgbClr val="FF0000"/>
                </a:solidFill>
              </a:rPr>
              <a:t>Anmeldung !!!</a:t>
            </a:r>
          </a:p>
          <a:p>
            <a:pPr lvl="1"/>
            <a:r>
              <a:rPr lang="de-DE" sz="1700" dirty="0"/>
              <a:t>Über Moses </a:t>
            </a:r>
            <a:r>
              <a:rPr lang="de-DE" sz="1700" b="1" dirty="0"/>
              <a:t>bis 17.05.24 </a:t>
            </a:r>
            <a:r>
              <a:rPr lang="de-DE" sz="1700" dirty="0"/>
              <a:t>möglich</a:t>
            </a:r>
          </a:p>
          <a:p>
            <a:pPr lvl="2"/>
            <a:r>
              <a:rPr lang="de-DE" sz="1300" dirty="0"/>
              <a:t>Abmeldung bis 17.05.24 möglich!</a:t>
            </a:r>
          </a:p>
          <a:p>
            <a:pPr lvl="1"/>
            <a:r>
              <a:rPr lang="de-DE" sz="1700" dirty="0"/>
              <a:t>Wählt vorerst einen der zwei Termine; möglich sich </a:t>
            </a:r>
            <a:r>
              <a:rPr lang="de-DE" sz="1700" b="1" dirty="0"/>
              <a:t>bis zum 15.07.24 </a:t>
            </a:r>
            <a:r>
              <a:rPr lang="de-DE" sz="1700" dirty="0"/>
              <a:t>Termin umzuentscheiden</a:t>
            </a:r>
          </a:p>
          <a:p>
            <a:r>
              <a:rPr lang="de-DE" sz="1700" dirty="0"/>
              <a:t>Benotung:</a:t>
            </a:r>
          </a:p>
          <a:p>
            <a:pPr lvl="1"/>
            <a:r>
              <a:rPr lang="de-DE" sz="1700" dirty="0"/>
              <a:t>50PP Klausur</a:t>
            </a:r>
          </a:p>
          <a:p>
            <a:pPr lvl="1"/>
            <a:r>
              <a:rPr lang="de-DE" sz="1700" dirty="0"/>
              <a:t>50PP Hausaufgaben, wovon</a:t>
            </a:r>
          </a:p>
          <a:p>
            <a:pPr lvl="2"/>
            <a:r>
              <a:rPr lang="de-DE" sz="1700" dirty="0"/>
              <a:t>2x 5PP Theorieaufgaben</a:t>
            </a:r>
          </a:p>
          <a:p>
            <a:pPr lvl="2"/>
            <a:r>
              <a:rPr lang="de-DE" sz="1700" dirty="0"/>
              <a:t>1x 10PP (kleine) Praxisaufgabe</a:t>
            </a:r>
          </a:p>
          <a:p>
            <a:pPr lvl="2"/>
            <a:r>
              <a:rPr lang="de-DE" sz="1700" dirty="0"/>
              <a:t>1x 30PP (große) Praxisaufgabe</a:t>
            </a:r>
          </a:p>
          <a:p>
            <a:pPr lvl="2"/>
            <a:endParaRPr lang="de-DE" sz="1700" dirty="0"/>
          </a:p>
        </p:txBody>
      </p:sp>
      <p:pic>
        <p:nvPicPr>
          <p:cNvPr id="5" name="Picture 4" descr="Kalender auf Tisch">
            <a:extLst>
              <a:ext uri="{FF2B5EF4-FFF2-40B4-BE49-F238E27FC236}">
                <a16:creationId xmlns:a16="http://schemas.microsoft.com/office/drawing/2014/main" id="{F130C9DD-7957-13F4-6739-C2DC728FF74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3047" b="-1"/>
          <a:stretch/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9033440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2C61293E-6EBE-43EF-A52C-9BEBFD7679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63529D9-4F31-FB97-BE86-E1FFE87BF3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97762" y="329184"/>
            <a:ext cx="6251110" cy="1783080"/>
          </a:xfrm>
        </p:spPr>
        <p:txBody>
          <a:bodyPr anchor="b">
            <a:normAutofit/>
          </a:bodyPr>
          <a:lstStyle/>
          <a:p>
            <a:r>
              <a:rPr lang="de-DE" sz="5400" dirty="0"/>
              <a:t>Vorab – Ablauf</a:t>
            </a:r>
          </a:p>
        </p:txBody>
      </p:sp>
      <p:pic>
        <p:nvPicPr>
          <p:cNvPr id="14" name="Picture 13" descr="Kalender auf Tisch">
            <a:extLst>
              <a:ext uri="{FF2B5EF4-FFF2-40B4-BE49-F238E27FC236}">
                <a16:creationId xmlns:a16="http://schemas.microsoft.com/office/drawing/2014/main" id="{CB79E9F0-A3A9-FD25-7AE6-4EA4FC47D00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7684" r="46985" b="-1"/>
          <a:stretch/>
        </p:blipFill>
        <p:spPr>
          <a:xfrm>
            <a:off x="1" y="10"/>
            <a:ext cx="4657344" cy="6857990"/>
          </a:xfrm>
          <a:custGeom>
            <a:avLst/>
            <a:gdLst/>
            <a:ahLst/>
            <a:cxnLst/>
            <a:rect l="l" t="t" r="r" b="b"/>
            <a:pathLst>
              <a:path w="4657344" h="6858000">
                <a:moveTo>
                  <a:pt x="0" y="0"/>
                </a:moveTo>
                <a:lnTo>
                  <a:pt x="3429755" y="0"/>
                </a:lnTo>
                <a:lnTo>
                  <a:pt x="3526016" y="148742"/>
                </a:lnTo>
                <a:cubicBezTo>
                  <a:pt x="3657740" y="365513"/>
                  <a:pt x="3777402" y="589569"/>
                  <a:pt x="3886489" y="819975"/>
                </a:cubicBezTo>
                <a:cubicBezTo>
                  <a:pt x="3891856" y="833492"/>
                  <a:pt x="3900663" y="845393"/>
                  <a:pt x="3912049" y="854514"/>
                </a:cubicBezTo>
                <a:cubicBezTo>
                  <a:pt x="3897352" y="819849"/>
                  <a:pt x="3883037" y="784928"/>
                  <a:pt x="3868083" y="750263"/>
                </a:cubicBezTo>
                <a:cubicBezTo>
                  <a:pt x="3806989" y="608712"/>
                  <a:pt x="3742478" y="469145"/>
                  <a:pt x="3674155" y="331786"/>
                </a:cubicBezTo>
                <a:lnTo>
                  <a:pt x="3496656" y="0"/>
                </a:lnTo>
                <a:lnTo>
                  <a:pt x="3554371" y="0"/>
                </a:lnTo>
                <a:lnTo>
                  <a:pt x="3661621" y="196614"/>
                </a:lnTo>
                <a:cubicBezTo>
                  <a:pt x="3856899" y="573253"/>
                  <a:pt x="4021071" y="966066"/>
                  <a:pt x="4161279" y="1371196"/>
                </a:cubicBezTo>
                <a:cubicBezTo>
                  <a:pt x="4379525" y="2007265"/>
                  <a:pt x="4530141" y="2664286"/>
                  <a:pt x="4610660" y="3331516"/>
                </a:cubicBezTo>
                <a:cubicBezTo>
                  <a:pt x="4652837" y="3672965"/>
                  <a:pt x="4671625" y="4013908"/>
                  <a:pt x="4645040" y="4357388"/>
                </a:cubicBezTo>
                <a:cubicBezTo>
                  <a:pt x="4613599" y="4758899"/>
                  <a:pt x="4566181" y="5157998"/>
                  <a:pt x="4485789" y="5552906"/>
                </a:cubicBezTo>
                <a:cubicBezTo>
                  <a:pt x="4397121" y="5988893"/>
                  <a:pt x="4276748" y="6414594"/>
                  <a:pt x="4117769" y="6828295"/>
                </a:cubicBezTo>
                <a:lnTo>
                  <a:pt x="4105288" y="6858000"/>
                </a:lnTo>
                <a:lnTo>
                  <a:pt x="4052520" y="6858000"/>
                </a:lnTo>
                <a:lnTo>
                  <a:pt x="4059369" y="6841549"/>
                </a:lnTo>
                <a:cubicBezTo>
                  <a:pt x="4147276" y="6614016"/>
                  <a:pt x="4224193" y="6380817"/>
                  <a:pt x="4291518" y="6142729"/>
                </a:cubicBezTo>
                <a:cubicBezTo>
                  <a:pt x="4350055" y="5935370"/>
                  <a:pt x="4393256" y="5723695"/>
                  <a:pt x="4443357" y="5513923"/>
                </a:cubicBezTo>
                <a:cubicBezTo>
                  <a:pt x="4444541" y="5502788"/>
                  <a:pt x="4445137" y="5491601"/>
                  <a:pt x="4445146" y="5480401"/>
                </a:cubicBezTo>
                <a:cubicBezTo>
                  <a:pt x="4408465" y="5607635"/>
                  <a:pt x="4379196" y="5719759"/>
                  <a:pt x="4344559" y="5830359"/>
                </a:cubicBezTo>
                <a:cubicBezTo>
                  <a:pt x="4254261" y="6118381"/>
                  <a:pt x="4150112" y="6398531"/>
                  <a:pt x="4031702" y="6670527"/>
                </a:cubicBezTo>
                <a:lnTo>
                  <a:pt x="3943824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25" name="sketchy line">
            <a:extLst>
              <a:ext uri="{FF2B5EF4-FFF2-40B4-BE49-F238E27FC236}">
                <a16:creationId xmlns:a16="http://schemas.microsoft.com/office/drawing/2014/main" id="{21540236-BFD5-4A9D-8840-4703E7F768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297762" y="2374947"/>
            <a:ext cx="4243589" cy="18288"/>
          </a:xfrm>
          <a:custGeom>
            <a:avLst/>
            <a:gdLst>
              <a:gd name="connsiteX0" fmla="*/ 0 w 4243589"/>
              <a:gd name="connsiteY0" fmla="*/ 0 h 18288"/>
              <a:gd name="connsiteX1" fmla="*/ 478919 w 4243589"/>
              <a:gd name="connsiteY1" fmla="*/ 0 h 18288"/>
              <a:gd name="connsiteX2" fmla="*/ 957839 w 4243589"/>
              <a:gd name="connsiteY2" fmla="*/ 0 h 18288"/>
              <a:gd name="connsiteX3" fmla="*/ 1521630 w 4243589"/>
              <a:gd name="connsiteY3" fmla="*/ 0 h 18288"/>
              <a:gd name="connsiteX4" fmla="*/ 2212729 w 4243589"/>
              <a:gd name="connsiteY4" fmla="*/ 0 h 18288"/>
              <a:gd name="connsiteX5" fmla="*/ 2734084 w 4243589"/>
              <a:gd name="connsiteY5" fmla="*/ 0 h 18288"/>
              <a:gd name="connsiteX6" fmla="*/ 3255439 w 4243589"/>
              <a:gd name="connsiteY6" fmla="*/ 0 h 18288"/>
              <a:gd name="connsiteX7" fmla="*/ 4243589 w 4243589"/>
              <a:gd name="connsiteY7" fmla="*/ 0 h 18288"/>
              <a:gd name="connsiteX8" fmla="*/ 4243589 w 4243589"/>
              <a:gd name="connsiteY8" fmla="*/ 18288 h 18288"/>
              <a:gd name="connsiteX9" fmla="*/ 3594926 w 4243589"/>
              <a:gd name="connsiteY9" fmla="*/ 18288 h 18288"/>
              <a:gd name="connsiteX10" fmla="*/ 3073571 w 4243589"/>
              <a:gd name="connsiteY10" fmla="*/ 18288 h 18288"/>
              <a:gd name="connsiteX11" fmla="*/ 2552216 w 4243589"/>
              <a:gd name="connsiteY11" fmla="*/ 18288 h 18288"/>
              <a:gd name="connsiteX12" fmla="*/ 1903553 w 4243589"/>
              <a:gd name="connsiteY12" fmla="*/ 18288 h 18288"/>
              <a:gd name="connsiteX13" fmla="*/ 1212454 w 4243589"/>
              <a:gd name="connsiteY13" fmla="*/ 18288 h 18288"/>
              <a:gd name="connsiteX14" fmla="*/ 733535 w 4243589"/>
              <a:gd name="connsiteY14" fmla="*/ 18288 h 18288"/>
              <a:gd name="connsiteX15" fmla="*/ 0 w 4243589"/>
              <a:gd name="connsiteY15" fmla="*/ 18288 h 18288"/>
              <a:gd name="connsiteX16" fmla="*/ 0 w 4243589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EAF73D5-4B80-CB57-D59A-14D4D5BD0F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97762" y="2706624"/>
            <a:ext cx="6251110" cy="3483864"/>
          </a:xfrm>
        </p:spPr>
        <p:txBody>
          <a:bodyPr>
            <a:normAutofit/>
          </a:bodyPr>
          <a:lstStyle/>
          <a:p>
            <a:r>
              <a:rPr lang="de-DE" sz="1700" dirty="0"/>
              <a:t>Ablauf </a:t>
            </a:r>
            <a:r>
              <a:rPr lang="de-DE" sz="1700" i="1" dirty="0"/>
              <a:t>Generell</a:t>
            </a:r>
          </a:p>
          <a:p>
            <a:pPr lvl="1"/>
            <a:r>
              <a:rPr lang="de-DE" sz="1700" dirty="0"/>
              <a:t>Die (meisten) Übungsblätter sind für 2 Tutorien konzipiert.</a:t>
            </a:r>
          </a:p>
          <a:p>
            <a:pPr lvl="1"/>
            <a:r>
              <a:rPr lang="de-DE" sz="1700" dirty="0"/>
              <a:t>In den Tutorien besprechen wir die </a:t>
            </a:r>
            <a:r>
              <a:rPr lang="de-DE" sz="1700" b="1" dirty="0"/>
              <a:t>Tafelübungen</a:t>
            </a:r>
          </a:p>
          <a:p>
            <a:pPr lvl="1"/>
            <a:r>
              <a:rPr lang="de-DE" sz="1700" dirty="0"/>
              <a:t>Falls wir Zeit haben, besprechen wir auch </a:t>
            </a:r>
            <a:r>
              <a:rPr lang="de-DE" sz="1700" i="1" dirty="0"/>
              <a:t>teilweise die Selbststudiums-Aufgaben</a:t>
            </a:r>
          </a:p>
          <a:p>
            <a:r>
              <a:rPr lang="de-DE" sz="1700" dirty="0"/>
              <a:t>Ablauf </a:t>
            </a:r>
            <a:r>
              <a:rPr lang="de-DE" sz="1700" b="1" i="1" dirty="0"/>
              <a:t>Heute</a:t>
            </a:r>
          </a:p>
          <a:p>
            <a:pPr lvl="1"/>
            <a:r>
              <a:rPr lang="de-DE" sz="1700" dirty="0"/>
              <a:t>Sehr entspanntes Tutorium; wir haben viel Zeit!</a:t>
            </a:r>
          </a:p>
          <a:p>
            <a:pPr lvl="1"/>
            <a:r>
              <a:rPr lang="de-DE" sz="1700" dirty="0"/>
              <a:t>Nur </a:t>
            </a:r>
            <a:r>
              <a:rPr lang="de-DE" sz="1700" i="1" dirty="0"/>
              <a:t>zwei</a:t>
            </a:r>
            <a:r>
              <a:rPr lang="de-DE" sz="1700" dirty="0"/>
              <a:t> Themen:</a:t>
            </a:r>
          </a:p>
          <a:p>
            <a:pPr lvl="2"/>
            <a:r>
              <a:rPr lang="de-DE" sz="1700" dirty="0"/>
              <a:t>Einrichtung eurer Entwicklungsumgebung</a:t>
            </a:r>
          </a:p>
          <a:p>
            <a:pPr lvl="2"/>
            <a:r>
              <a:rPr lang="de-DE" sz="1700" dirty="0"/>
              <a:t>C-Basics / C Common </a:t>
            </a:r>
            <a:r>
              <a:rPr lang="de-DE" sz="1700" dirty="0" err="1"/>
              <a:t>Pitfalls</a:t>
            </a:r>
            <a:endParaRPr lang="de-DE" sz="1700" dirty="0"/>
          </a:p>
          <a:p>
            <a:endParaRPr lang="de-DE" sz="1700" dirty="0"/>
          </a:p>
        </p:txBody>
      </p:sp>
    </p:spTree>
    <p:extLst>
      <p:ext uri="{BB962C8B-B14F-4D97-AF65-F5344CB8AC3E}">
        <p14:creationId xmlns:p14="http://schemas.microsoft.com/office/powerpoint/2010/main" val="3783392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943CAA20-3569-4189-9E48-239A229A86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C41DB6AC-0082-1B5D-D060-D0B7E33AD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51381"/>
            <a:ext cx="10512552" cy="406654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1. Setup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84DFB2AB-7750-776A-B9AF-6AD7AC383F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199" y="4983276"/>
            <a:ext cx="10512552" cy="1126680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Einrichtung eurer Entwicklungsumgebung</a:t>
            </a:r>
          </a:p>
          <a:p>
            <a:endParaRPr lang="en-US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DA542B6D-E775-4832-91DC-2D20F85781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4718595"/>
            <a:ext cx="5410200" cy="18288"/>
          </a:xfrm>
          <a:custGeom>
            <a:avLst/>
            <a:gdLst>
              <a:gd name="connsiteX0" fmla="*/ 0 w 5410200"/>
              <a:gd name="connsiteY0" fmla="*/ 0 h 18288"/>
              <a:gd name="connsiteX1" fmla="*/ 568071 w 5410200"/>
              <a:gd name="connsiteY1" fmla="*/ 0 h 18288"/>
              <a:gd name="connsiteX2" fmla="*/ 1298448 w 5410200"/>
              <a:gd name="connsiteY2" fmla="*/ 0 h 18288"/>
              <a:gd name="connsiteX3" fmla="*/ 1920621 w 5410200"/>
              <a:gd name="connsiteY3" fmla="*/ 0 h 18288"/>
              <a:gd name="connsiteX4" fmla="*/ 2488692 w 5410200"/>
              <a:gd name="connsiteY4" fmla="*/ 0 h 18288"/>
              <a:gd name="connsiteX5" fmla="*/ 3219069 w 5410200"/>
              <a:gd name="connsiteY5" fmla="*/ 0 h 18288"/>
              <a:gd name="connsiteX6" fmla="*/ 3895344 w 5410200"/>
              <a:gd name="connsiteY6" fmla="*/ 0 h 18288"/>
              <a:gd name="connsiteX7" fmla="*/ 4571619 w 5410200"/>
              <a:gd name="connsiteY7" fmla="*/ 0 h 18288"/>
              <a:gd name="connsiteX8" fmla="*/ 5410200 w 5410200"/>
              <a:gd name="connsiteY8" fmla="*/ 0 h 18288"/>
              <a:gd name="connsiteX9" fmla="*/ 5410200 w 5410200"/>
              <a:gd name="connsiteY9" fmla="*/ 18288 h 18288"/>
              <a:gd name="connsiteX10" fmla="*/ 4842129 w 5410200"/>
              <a:gd name="connsiteY10" fmla="*/ 18288 h 18288"/>
              <a:gd name="connsiteX11" fmla="*/ 4328160 w 5410200"/>
              <a:gd name="connsiteY11" fmla="*/ 18288 h 18288"/>
              <a:gd name="connsiteX12" fmla="*/ 3597783 w 5410200"/>
              <a:gd name="connsiteY12" fmla="*/ 18288 h 18288"/>
              <a:gd name="connsiteX13" fmla="*/ 3029712 w 5410200"/>
              <a:gd name="connsiteY13" fmla="*/ 18288 h 18288"/>
              <a:gd name="connsiteX14" fmla="*/ 2299335 w 5410200"/>
              <a:gd name="connsiteY14" fmla="*/ 18288 h 18288"/>
              <a:gd name="connsiteX15" fmla="*/ 1514856 w 5410200"/>
              <a:gd name="connsiteY15" fmla="*/ 18288 h 18288"/>
              <a:gd name="connsiteX16" fmla="*/ 892683 w 5410200"/>
              <a:gd name="connsiteY16" fmla="*/ 18288 h 18288"/>
              <a:gd name="connsiteX17" fmla="*/ 0 w 5410200"/>
              <a:gd name="connsiteY17" fmla="*/ 18288 h 18288"/>
              <a:gd name="connsiteX18" fmla="*/ 0 w 5410200"/>
              <a:gd name="connsiteY1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79196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3" name="Rectangle 1032">
            <a:extLst>
              <a:ext uri="{FF2B5EF4-FFF2-40B4-BE49-F238E27FC236}">
                <a16:creationId xmlns:a16="http://schemas.microsoft.com/office/drawing/2014/main" id="{2550BE34-C2B8-49B8-8519-67A8CAD51A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35" name="Rectangle 1034">
            <a:extLst>
              <a:ext uri="{FF2B5EF4-FFF2-40B4-BE49-F238E27FC236}">
                <a16:creationId xmlns:a16="http://schemas.microsoft.com/office/drawing/2014/main" id="{A7457DD9-5A45-400A-AB4B-4B4EDECA25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4416" y="365125"/>
            <a:ext cx="11167447" cy="2089317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B2731EA2-BE78-3C5E-B6AA-2A3A3DEF0A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6746" y="586822"/>
            <a:ext cx="3560252" cy="1645920"/>
          </a:xfrm>
        </p:spPr>
        <p:txBody>
          <a:bodyPr>
            <a:normAutofit/>
          </a:bodyPr>
          <a:lstStyle/>
          <a:p>
            <a:r>
              <a:rPr lang="de-DE" sz="3200"/>
              <a:t>Empfehlungen</a:t>
            </a:r>
          </a:p>
        </p:txBody>
      </p:sp>
      <p:sp>
        <p:nvSpPr>
          <p:cNvPr id="1037" name="Rectangle 1036">
            <a:extLst>
              <a:ext uri="{FF2B5EF4-FFF2-40B4-BE49-F238E27FC236}">
                <a16:creationId xmlns:a16="http://schemas.microsoft.com/office/drawing/2014/main" id="{441CF7D6-A660-431A-B0BB-140A0D5556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0408" y="1057739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39" name="Rectangle 1038">
            <a:extLst>
              <a:ext uri="{FF2B5EF4-FFF2-40B4-BE49-F238E27FC236}">
                <a16:creationId xmlns:a16="http://schemas.microsoft.com/office/drawing/2014/main" id="{0570A85B-3810-4F95-97B0-CBF4CCDB38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243541" y="1400638"/>
            <a:ext cx="14630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BC7C1B34-9581-B383-538E-38B938D5A5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51164" y="586822"/>
            <a:ext cx="6002636" cy="1645920"/>
          </a:xfrm>
        </p:spPr>
        <p:txBody>
          <a:bodyPr anchor="ctr">
            <a:normAutofit/>
          </a:bodyPr>
          <a:lstStyle/>
          <a:p>
            <a:r>
              <a:rPr lang="de-DE" sz="1800"/>
              <a:t>Benutzt ein Linux (oder alternativ) MacOS-basierten System</a:t>
            </a:r>
          </a:p>
          <a:p>
            <a:r>
              <a:rPr lang="de-DE" sz="1800"/>
              <a:t>Fall ihr Windows benutzt</a:t>
            </a:r>
          </a:p>
          <a:p>
            <a:pPr lvl="1"/>
            <a:r>
              <a:rPr lang="de-DE" sz="1800"/>
              <a:t>Benutzt WSL um Linux auf eurem Rechner zu nutzen (siehe </a:t>
            </a:r>
            <a:r>
              <a:rPr lang="de-DE" sz="1800">
                <a:hlinkClick r:id="rId2"/>
              </a:rPr>
              <a:t>hier</a:t>
            </a:r>
            <a:r>
              <a:rPr lang="de-DE" sz="1800"/>
              <a:t> und </a:t>
            </a:r>
            <a:r>
              <a:rPr lang="de-DE" sz="1800">
                <a:hlinkClick r:id="rId3"/>
              </a:rPr>
              <a:t>hier</a:t>
            </a:r>
            <a:r>
              <a:rPr lang="de-DE" sz="1800"/>
              <a:t>)</a:t>
            </a:r>
          </a:p>
          <a:p>
            <a:pPr lvl="1"/>
            <a:r>
              <a:rPr lang="de-DE" sz="1800"/>
              <a:t>Richtet euch VSCode für WSL ein (siehe </a:t>
            </a:r>
            <a:r>
              <a:rPr lang="de-DE" sz="1800">
                <a:hlinkClick r:id="rId4"/>
              </a:rPr>
              <a:t>hier</a:t>
            </a:r>
            <a:r>
              <a:rPr lang="de-DE" sz="1800"/>
              <a:t>)</a:t>
            </a:r>
          </a:p>
        </p:txBody>
      </p:sp>
      <p:pic>
        <p:nvPicPr>
          <p:cNvPr id="1028" name="Picture 4" descr="Open WSL project with VS Code remote server">
            <a:extLst>
              <a:ext uri="{FF2B5EF4-FFF2-40B4-BE49-F238E27FC236}">
                <a16:creationId xmlns:a16="http://schemas.microsoft.com/office/drawing/2014/main" id="{AA48E415-3932-6402-D812-8A0D85976D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203034" y="2734056"/>
            <a:ext cx="9874323" cy="34838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985777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7489531-67BB-485D-E5E6-0EA95EAE69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de-DE" sz="3700">
                <a:solidFill>
                  <a:srgbClr val="FFFFFF"/>
                </a:solidFill>
              </a:rPr>
              <a:t>Empfehlungen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0E2AFEA-7164-BD6D-F64A-7FCAF3D95E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anchor="ctr">
            <a:normAutofit/>
          </a:bodyPr>
          <a:lstStyle/>
          <a:p>
            <a:r>
              <a:rPr lang="de-DE" dirty="0"/>
              <a:t>Werdet </a:t>
            </a:r>
            <a:r>
              <a:rPr lang="de-DE" i="1" dirty="0" err="1"/>
              <a:t>comfortable</a:t>
            </a:r>
            <a:r>
              <a:rPr lang="de-DE" i="1" dirty="0"/>
              <a:t> </a:t>
            </a:r>
            <a:r>
              <a:rPr lang="de-DE" dirty="0"/>
              <a:t>mit eurer Shell</a:t>
            </a:r>
          </a:p>
          <a:p>
            <a:pPr lvl="1"/>
            <a:r>
              <a:rPr lang="de-DE" dirty="0"/>
              <a:t>Installiert euch die Shell eurer Wahl (meine Empfehlung: </a:t>
            </a:r>
            <a:r>
              <a:rPr lang="de-DE" i="1" dirty="0" err="1"/>
              <a:t>zsh</a:t>
            </a:r>
            <a:r>
              <a:rPr lang="de-DE" dirty="0"/>
              <a:t>)</a:t>
            </a:r>
          </a:p>
          <a:p>
            <a:pPr lvl="1"/>
            <a:r>
              <a:rPr lang="de-DE" dirty="0"/>
              <a:t>Installiert euch Plugins, für </a:t>
            </a:r>
            <a:r>
              <a:rPr lang="de-DE" dirty="0" err="1"/>
              <a:t>styling</a:t>
            </a:r>
            <a:r>
              <a:rPr lang="de-DE" dirty="0"/>
              <a:t>, </a:t>
            </a:r>
            <a:r>
              <a:rPr lang="de-DE" dirty="0" err="1"/>
              <a:t>sytnax-highlighting</a:t>
            </a:r>
            <a:r>
              <a:rPr lang="de-DE" dirty="0"/>
              <a:t>, auto-</a:t>
            </a:r>
            <a:r>
              <a:rPr lang="de-DE" dirty="0" err="1"/>
              <a:t>complete</a:t>
            </a:r>
            <a:r>
              <a:rPr lang="de-DE" dirty="0"/>
              <a:t>, </a:t>
            </a:r>
            <a:r>
              <a:rPr lang="de-DE" dirty="0" err="1"/>
              <a:t>history</a:t>
            </a:r>
            <a:r>
              <a:rPr lang="de-DE" dirty="0"/>
              <a:t> etc. </a:t>
            </a:r>
            <a:r>
              <a:rPr lang="de-DE" b="0" i="0" dirty="0">
                <a:effectLst/>
                <a:highlight>
                  <a:srgbClr val="FFFFFF"/>
                </a:highlight>
                <a:latin typeface="-apple-system"/>
              </a:rPr>
              <a:t>(wie </a:t>
            </a:r>
            <a:r>
              <a:rPr lang="de-DE" b="0" i="0" dirty="0" err="1">
                <a:effectLst/>
                <a:highlight>
                  <a:srgbClr val="FFFFFF"/>
                </a:highlight>
                <a:latin typeface="-apple-system"/>
              </a:rPr>
              <a:t>z.B</a:t>
            </a:r>
            <a:r>
              <a:rPr lang="de-DE" b="0" i="0" dirty="0">
                <a:effectLst/>
                <a:highlight>
                  <a:srgbClr val="FFFFFF"/>
                </a:highlight>
                <a:latin typeface="-apple-system"/>
              </a:rPr>
              <a:t> </a:t>
            </a:r>
            <a:r>
              <a:rPr lang="de-DE" b="0" i="0" dirty="0">
                <a:effectLst/>
                <a:highlight>
                  <a:srgbClr val="FFFFFF"/>
                </a:highlight>
                <a:latin typeface="-apple-system"/>
                <a:hlinkClick r:id="rId2"/>
              </a:rPr>
              <a:t>hier</a:t>
            </a:r>
            <a:r>
              <a:rPr lang="de-DE" b="0" i="0" dirty="0">
                <a:effectLst/>
                <a:highlight>
                  <a:srgbClr val="FFFFFF"/>
                </a:highlight>
                <a:latin typeface="-apple-system"/>
              </a:rPr>
              <a:t> für die Shell </a:t>
            </a:r>
            <a:r>
              <a:rPr lang="de-DE" b="0" i="1" dirty="0" err="1">
                <a:effectLst/>
                <a:highlight>
                  <a:srgbClr val="FFFFFF"/>
                </a:highlight>
                <a:latin typeface="-apple-system"/>
              </a:rPr>
              <a:t>zsh</a:t>
            </a:r>
            <a:r>
              <a:rPr lang="de-DE" b="0" i="0" dirty="0">
                <a:effectLst/>
                <a:highlight>
                  <a:srgbClr val="FFFFFF"/>
                </a:highlight>
                <a:latin typeface="-apple-system"/>
              </a:rPr>
              <a:t> beschrieben ist)</a:t>
            </a:r>
            <a:endParaRPr lang="de-DE" dirty="0"/>
          </a:p>
          <a:p>
            <a:pPr lvl="1"/>
            <a:r>
              <a:rPr lang="de-DE" dirty="0"/>
              <a:t>Lernt die wichtigsten Shell Befehle </a:t>
            </a:r>
          </a:p>
          <a:p>
            <a:pPr lvl="2"/>
            <a:r>
              <a:rPr lang="de-DE" dirty="0"/>
              <a:t>Alles, was ihr mit grafischen Oberflächen macht, könnt ihr auch mit der Shell</a:t>
            </a:r>
          </a:p>
          <a:p>
            <a:pPr lvl="2"/>
            <a:r>
              <a:rPr lang="de-DE" dirty="0"/>
              <a:t>Grafische Oberflächen sind einfach nur Wrapper für Befehle, die im Terminal ausgeführt werden</a:t>
            </a:r>
          </a:p>
          <a:p>
            <a:pPr lvl="2"/>
            <a:r>
              <a:rPr lang="de-DE" dirty="0"/>
              <a:t>Supergutes Video für Shell 101 </a:t>
            </a:r>
            <a:r>
              <a:rPr lang="de-DE" dirty="0">
                <a:hlinkClick r:id="rId3"/>
              </a:rPr>
              <a:t>hier</a:t>
            </a:r>
            <a:r>
              <a:rPr lang="de-DE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31516445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943CAA20-3569-4189-9E48-239A229A86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53EC9CA2-D595-FE61-9525-EB6A18E85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51381"/>
            <a:ext cx="10512552" cy="406654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2. C - Refresher</a:t>
            </a:r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5FF77D0B-01BA-4EBB-8314-027376056F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199" y="4983276"/>
            <a:ext cx="10512552" cy="1126680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C-Basics / C Common Pitfalls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DA542B6D-E775-4832-91DC-2D20F85781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4718595"/>
            <a:ext cx="5410200" cy="18288"/>
          </a:xfrm>
          <a:custGeom>
            <a:avLst/>
            <a:gdLst>
              <a:gd name="connsiteX0" fmla="*/ 0 w 5410200"/>
              <a:gd name="connsiteY0" fmla="*/ 0 h 18288"/>
              <a:gd name="connsiteX1" fmla="*/ 568071 w 5410200"/>
              <a:gd name="connsiteY1" fmla="*/ 0 h 18288"/>
              <a:gd name="connsiteX2" fmla="*/ 1298448 w 5410200"/>
              <a:gd name="connsiteY2" fmla="*/ 0 h 18288"/>
              <a:gd name="connsiteX3" fmla="*/ 1920621 w 5410200"/>
              <a:gd name="connsiteY3" fmla="*/ 0 h 18288"/>
              <a:gd name="connsiteX4" fmla="*/ 2488692 w 5410200"/>
              <a:gd name="connsiteY4" fmla="*/ 0 h 18288"/>
              <a:gd name="connsiteX5" fmla="*/ 3219069 w 5410200"/>
              <a:gd name="connsiteY5" fmla="*/ 0 h 18288"/>
              <a:gd name="connsiteX6" fmla="*/ 3895344 w 5410200"/>
              <a:gd name="connsiteY6" fmla="*/ 0 h 18288"/>
              <a:gd name="connsiteX7" fmla="*/ 4571619 w 5410200"/>
              <a:gd name="connsiteY7" fmla="*/ 0 h 18288"/>
              <a:gd name="connsiteX8" fmla="*/ 5410200 w 5410200"/>
              <a:gd name="connsiteY8" fmla="*/ 0 h 18288"/>
              <a:gd name="connsiteX9" fmla="*/ 5410200 w 5410200"/>
              <a:gd name="connsiteY9" fmla="*/ 18288 h 18288"/>
              <a:gd name="connsiteX10" fmla="*/ 4842129 w 5410200"/>
              <a:gd name="connsiteY10" fmla="*/ 18288 h 18288"/>
              <a:gd name="connsiteX11" fmla="*/ 4328160 w 5410200"/>
              <a:gd name="connsiteY11" fmla="*/ 18288 h 18288"/>
              <a:gd name="connsiteX12" fmla="*/ 3597783 w 5410200"/>
              <a:gd name="connsiteY12" fmla="*/ 18288 h 18288"/>
              <a:gd name="connsiteX13" fmla="*/ 3029712 w 5410200"/>
              <a:gd name="connsiteY13" fmla="*/ 18288 h 18288"/>
              <a:gd name="connsiteX14" fmla="*/ 2299335 w 5410200"/>
              <a:gd name="connsiteY14" fmla="*/ 18288 h 18288"/>
              <a:gd name="connsiteX15" fmla="*/ 1514856 w 5410200"/>
              <a:gd name="connsiteY15" fmla="*/ 18288 h 18288"/>
              <a:gd name="connsiteX16" fmla="*/ 892683 w 5410200"/>
              <a:gd name="connsiteY16" fmla="*/ 18288 h 18288"/>
              <a:gd name="connsiteX17" fmla="*/ 0 w 5410200"/>
              <a:gd name="connsiteY17" fmla="*/ 18288 h 18288"/>
              <a:gd name="connsiteX18" fmla="*/ 0 w 5410200"/>
              <a:gd name="connsiteY1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25786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061ED093-15E3-C4FB-6C12-E63A471BFB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/>
              <a:t>Warum C?</a:t>
            </a:r>
          </a:p>
        </p:txBody>
      </p:sp>
      <p:sp>
        <p:nvSpPr>
          <p:cNvPr id="17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onnsiteX0" fmla="*/ 0 w 3474720"/>
              <a:gd name="connsiteY0" fmla="*/ 0 h 18288"/>
              <a:gd name="connsiteX1" fmla="*/ 694944 w 3474720"/>
              <a:gd name="connsiteY1" fmla="*/ 0 h 18288"/>
              <a:gd name="connsiteX2" fmla="*/ 1355141 w 3474720"/>
              <a:gd name="connsiteY2" fmla="*/ 0 h 18288"/>
              <a:gd name="connsiteX3" fmla="*/ 2015338 w 3474720"/>
              <a:gd name="connsiteY3" fmla="*/ 0 h 18288"/>
              <a:gd name="connsiteX4" fmla="*/ 2779776 w 3474720"/>
              <a:gd name="connsiteY4" fmla="*/ 0 h 18288"/>
              <a:gd name="connsiteX5" fmla="*/ 3474720 w 3474720"/>
              <a:gd name="connsiteY5" fmla="*/ 0 h 18288"/>
              <a:gd name="connsiteX6" fmla="*/ 3474720 w 3474720"/>
              <a:gd name="connsiteY6" fmla="*/ 18288 h 18288"/>
              <a:gd name="connsiteX7" fmla="*/ 2779776 w 3474720"/>
              <a:gd name="connsiteY7" fmla="*/ 18288 h 18288"/>
              <a:gd name="connsiteX8" fmla="*/ 2189074 w 3474720"/>
              <a:gd name="connsiteY8" fmla="*/ 18288 h 18288"/>
              <a:gd name="connsiteX9" fmla="*/ 1528877 w 3474720"/>
              <a:gd name="connsiteY9" fmla="*/ 18288 h 18288"/>
              <a:gd name="connsiteX10" fmla="*/ 868680 w 3474720"/>
              <a:gd name="connsiteY10" fmla="*/ 18288 h 18288"/>
              <a:gd name="connsiteX11" fmla="*/ 0 w 3474720"/>
              <a:gd name="connsiteY11" fmla="*/ 18288 h 18288"/>
              <a:gd name="connsiteX12" fmla="*/ 0 w 347472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0E15834B-38DE-5115-7481-5D755ACF8AF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0080" y="2872899"/>
            <a:ext cx="4243589" cy="3320668"/>
          </a:xfrm>
        </p:spPr>
        <p:txBody>
          <a:bodyPr vert="horz" lIns="91440" tIns="45720" rIns="91440" bIns="45720" rtlCol="0">
            <a:normAutofit fontScale="92500" lnSpcReduction="10000"/>
          </a:bodyPr>
          <a:lstStyle/>
          <a:p>
            <a:r>
              <a:rPr lang="en-US" sz="2200" dirty="0"/>
              <a:t>Der CPU </a:t>
            </a:r>
            <a:r>
              <a:rPr lang="en-US" sz="2200" dirty="0" err="1"/>
              <a:t>versteht</a:t>
            </a:r>
            <a:r>
              <a:rPr lang="en-US" sz="2200" dirty="0"/>
              <a:t> </a:t>
            </a:r>
            <a:r>
              <a:rPr lang="en-US" sz="2200" dirty="0" err="1"/>
              <a:t>nur</a:t>
            </a:r>
            <a:r>
              <a:rPr lang="en-US" sz="2200" dirty="0"/>
              <a:t> </a:t>
            </a:r>
            <a:r>
              <a:rPr lang="en-US" sz="2200" dirty="0" err="1"/>
              <a:t>Abfolgen</a:t>
            </a:r>
            <a:r>
              <a:rPr lang="en-US" sz="2200" dirty="0"/>
              <a:t> von </a:t>
            </a:r>
            <a:r>
              <a:rPr lang="en-US" sz="2200" dirty="0" err="1"/>
              <a:t>Nullen</a:t>
            </a:r>
            <a:r>
              <a:rPr lang="en-US" sz="2200" dirty="0"/>
              <a:t> und </a:t>
            </a:r>
            <a:r>
              <a:rPr lang="en-US" sz="2200" dirty="0" err="1"/>
              <a:t>Einsen</a:t>
            </a:r>
            <a:r>
              <a:rPr lang="en-US" sz="2200" dirty="0"/>
              <a:t> </a:t>
            </a:r>
            <a:r>
              <a:rPr lang="en-US" sz="2200" dirty="0" err="1"/>
              <a:t>einer</a:t>
            </a:r>
            <a:r>
              <a:rPr lang="en-US" sz="2200" dirty="0"/>
              <a:t> </a:t>
            </a:r>
            <a:r>
              <a:rPr lang="en-US" sz="2200" dirty="0" err="1"/>
              <a:t>bestimmen</a:t>
            </a:r>
            <a:r>
              <a:rPr lang="en-US" sz="2200" dirty="0"/>
              <a:t> </a:t>
            </a:r>
            <a:r>
              <a:rPr lang="en-US" sz="2200" dirty="0" err="1"/>
              <a:t>Länge</a:t>
            </a:r>
            <a:r>
              <a:rPr lang="en-US" sz="2200" dirty="0"/>
              <a:t> </a:t>
            </a:r>
          </a:p>
          <a:p>
            <a:pPr lvl="1"/>
            <a:r>
              <a:rPr lang="en-US" sz="2200" dirty="0" err="1"/>
              <a:t>Sogenannte</a:t>
            </a:r>
            <a:r>
              <a:rPr lang="en-US" sz="2200" dirty="0"/>
              <a:t> 32- </a:t>
            </a:r>
            <a:r>
              <a:rPr lang="en-US" sz="2200" dirty="0" err="1"/>
              <a:t>bzw</a:t>
            </a:r>
            <a:r>
              <a:rPr lang="en-US" sz="2200" dirty="0"/>
              <a:t>. 64-bit </a:t>
            </a:r>
            <a:r>
              <a:rPr lang="en-US" sz="2200" dirty="0" err="1"/>
              <a:t>lange</a:t>
            </a:r>
            <a:r>
              <a:rPr lang="en-US" sz="2200" dirty="0"/>
              <a:t> </a:t>
            </a:r>
            <a:r>
              <a:rPr lang="en-US" sz="2200" dirty="0" err="1"/>
              <a:t>Wörter</a:t>
            </a:r>
            <a:endParaRPr lang="en-US" sz="2200" dirty="0"/>
          </a:p>
          <a:p>
            <a:pPr lvl="1"/>
            <a:r>
              <a:rPr lang="en-US" sz="2200" dirty="0" err="1"/>
              <a:t>Jedes</a:t>
            </a:r>
            <a:r>
              <a:rPr lang="en-US" sz="2200" dirty="0"/>
              <a:t> Wort </a:t>
            </a:r>
            <a:r>
              <a:rPr lang="en-US" sz="2200" dirty="0" err="1"/>
              <a:t>entspricht</a:t>
            </a:r>
            <a:r>
              <a:rPr lang="en-US" sz="2200" dirty="0"/>
              <a:t> </a:t>
            </a:r>
            <a:r>
              <a:rPr lang="en-US" sz="2200" dirty="0" err="1"/>
              <a:t>einem</a:t>
            </a:r>
            <a:r>
              <a:rPr lang="en-US" sz="2200" dirty="0"/>
              <a:t> </a:t>
            </a:r>
            <a:r>
              <a:rPr lang="en-US" sz="2200" dirty="0" err="1"/>
              <a:t>Befehl</a:t>
            </a:r>
            <a:endParaRPr lang="en-US" sz="2200" dirty="0"/>
          </a:p>
          <a:p>
            <a:r>
              <a:rPr lang="en-US" sz="2200" b="1" dirty="0"/>
              <a:t>Problem:</a:t>
            </a:r>
            <a:r>
              <a:rPr lang="en-US" sz="2200" dirty="0"/>
              <a:t> </a:t>
            </a:r>
            <a:r>
              <a:rPr lang="en-US" sz="2200" dirty="0" err="1"/>
              <a:t>Äußerst</a:t>
            </a:r>
            <a:r>
              <a:rPr lang="en-US" sz="2200" dirty="0"/>
              <a:t> </a:t>
            </a:r>
            <a:r>
              <a:rPr lang="en-US" sz="2200" dirty="0" err="1"/>
              <a:t>schwer</a:t>
            </a:r>
            <a:r>
              <a:rPr lang="en-US" sz="2200" dirty="0"/>
              <a:t> </a:t>
            </a:r>
            <a:r>
              <a:rPr lang="en-US" sz="2200" dirty="0" err="1"/>
              <a:t>zu</a:t>
            </a:r>
            <a:r>
              <a:rPr lang="en-US" sz="2200" dirty="0"/>
              <a:t> </a:t>
            </a:r>
            <a:r>
              <a:rPr lang="en-US" sz="2200" dirty="0" err="1"/>
              <a:t>lesen</a:t>
            </a:r>
            <a:r>
              <a:rPr lang="en-US" sz="2200" dirty="0"/>
              <a:t>, </a:t>
            </a:r>
            <a:r>
              <a:rPr lang="en-US" sz="2200" dirty="0" err="1"/>
              <a:t>geschweige</a:t>
            </a:r>
            <a:r>
              <a:rPr lang="en-US" sz="2200" dirty="0"/>
              <a:t> </a:t>
            </a:r>
            <a:r>
              <a:rPr lang="en-US" sz="2200" dirty="0" err="1"/>
              <a:t>denn</a:t>
            </a:r>
            <a:r>
              <a:rPr lang="en-US" sz="2200" dirty="0"/>
              <a:t> </a:t>
            </a:r>
            <a:r>
              <a:rPr lang="en-US" sz="2200" dirty="0" err="1"/>
              <a:t>zu</a:t>
            </a:r>
            <a:r>
              <a:rPr lang="en-US" sz="2200" dirty="0"/>
              <a:t> </a:t>
            </a:r>
            <a:r>
              <a:rPr lang="en-US" sz="2200" dirty="0" err="1"/>
              <a:t>schreiben</a:t>
            </a:r>
            <a:r>
              <a:rPr lang="en-US" sz="2200" dirty="0"/>
              <a:t>!</a:t>
            </a:r>
          </a:p>
          <a:p>
            <a:r>
              <a:rPr lang="en-US" sz="2200" dirty="0"/>
              <a:t>+ </a:t>
            </a:r>
            <a:r>
              <a:rPr lang="en-US" sz="2200" dirty="0" err="1"/>
              <a:t>wir</a:t>
            </a:r>
            <a:r>
              <a:rPr lang="en-US" sz="2200" dirty="0"/>
              <a:t> </a:t>
            </a:r>
            <a:r>
              <a:rPr lang="en-US" sz="2200" dirty="0" err="1"/>
              <a:t>müssten</a:t>
            </a:r>
            <a:r>
              <a:rPr lang="en-US" sz="2200" dirty="0"/>
              <a:t> für </a:t>
            </a:r>
            <a:r>
              <a:rPr lang="en-US" sz="2200" dirty="0" err="1"/>
              <a:t>jeden</a:t>
            </a:r>
            <a:r>
              <a:rPr lang="en-US" sz="2200" dirty="0"/>
              <a:t> CPU, den CPU-</a:t>
            </a:r>
            <a:r>
              <a:rPr lang="en-US" sz="2200" dirty="0" err="1"/>
              <a:t>eigenen</a:t>
            </a:r>
            <a:r>
              <a:rPr lang="en-US" sz="2200" dirty="0"/>
              <a:t> </a:t>
            </a:r>
            <a:r>
              <a:rPr lang="en-US" sz="2200" dirty="0" err="1"/>
              <a:t>Befehlssatz</a:t>
            </a:r>
            <a:r>
              <a:rPr lang="en-US" sz="2200" dirty="0"/>
              <a:t> </a:t>
            </a:r>
            <a:r>
              <a:rPr lang="en-US" sz="2200" dirty="0" err="1"/>
              <a:t>lernen</a:t>
            </a:r>
            <a:r>
              <a:rPr lang="en-US" sz="2200" dirty="0"/>
              <a:t>…</a:t>
            </a:r>
          </a:p>
          <a:p>
            <a:endParaRPr lang="en-US" sz="2200" dirty="0"/>
          </a:p>
        </p:txBody>
      </p:sp>
      <p:pic>
        <p:nvPicPr>
          <p:cNvPr id="10" name="Inhaltsplatzhalter 9" descr="Ein Bild, das Text, monochrom, Muster, Screenshot enthält.&#10;&#10;Automatisch generierte Beschreibung">
            <a:extLst>
              <a:ext uri="{FF2B5EF4-FFF2-40B4-BE49-F238E27FC236}">
                <a16:creationId xmlns:a16="http://schemas.microsoft.com/office/drawing/2014/main" id="{DBAAACEB-99C2-36B2-1F2B-035A8E1D4A5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/>
          <a:srcRect l="15961" r="3796" b="-1"/>
          <a:stretch/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7133456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0288C6B4-AFC3-407F-A595-EFFD38D4CC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1" name="Freeform: Shape 20">
            <a:extLst>
              <a:ext uri="{FF2B5EF4-FFF2-40B4-BE49-F238E27FC236}">
                <a16:creationId xmlns:a16="http://schemas.microsoft.com/office/drawing/2014/main" id="{CF236821-17FE-429B-8D2C-08E13A64EA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455673" cy="6858000"/>
          </a:xfrm>
          <a:custGeom>
            <a:avLst/>
            <a:gdLst>
              <a:gd name="connsiteX0" fmla="*/ 0 w 4455673"/>
              <a:gd name="connsiteY0" fmla="*/ 0 h 6858000"/>
              <a:gd name="connsiteX1" fmla="*/ 3242695 w 4455673"/>
              <a:gd name="connsiteY1" fmla="*/ 0 h 6858000"/>
              <a:gd name="connsiteX2" fmla="*/ 3305678 w 4455673"/>
              <a:gd name="connsiteY2" fmla="*/ 69271 h 6858000"/>
              <a:gd name="connsiteX3" fmla="*/ 4455673 w 4455673"/>
              <a:gd name="connsiteY3" fmla="*/ 3429000 h 6858000"/>
              <a:gd name="connsiteX4" fmla="*/ 3305678 w 4455673"/>
              <a:gd name="connsiteY4" fmla="*/ 6788730 h 6858000"/>
              <a:gd name="connsiteX5" fmla="*/ 3242695 w 4455673"/>
              <a:gd name="connsiteY5" fmla="*/ 6858000 h 6858000"/>
              <a:gd name="connsiteX6" fmla="*/ 0 w 4455673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55673" h="6858000">
                <a:moveTo>
                  <a:pt x="0" y="0"/>
                </a:moveTo>
                <a:lnTo>
                  <a:pt x="3242695" y="0"/>
                </a:lnTo>
                <a:lnTo>
                  <a:pt x="3305678" y="69271"/>
                </a:lnTo>
                <a:cubicBezTo>
                  <a:pt x="4016204" y="929100"/>
                  <a:pt x="4455673" y="2116944"/>
                  <a:pt x="4455673" y="3429000"/>
                </a:cubicBezTo>
                <a:cubicBezTo>
                  <a:pt x="4455673" y="4741056"/>
                  <a:pt x="4016204" y="5928900"/>
                  <a:pt x="3305678" y="6788730"/>
                </a:cubicBezTo>
                <a:lnTo>
                  <a:pt x="3242695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23" name="Freeform: Shape 22">
            <a:extLst>
              <a:ext uri="{FF2B5EF4-FFF2-40B4-BE49-F238E27FC236}">
                <a16:creationId xmlns:a16="http://schemas.microsoft.com/office/drawing/2014/main" id="{C0BDBCD2-E081-43AB-9119-C55465E59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446529" cy="6858000"/>
          </a:xfrm>
          <a:custGeom>
            <a:avLst/>
            <a:gdLst>
              <a:gd name="connsiteX0" fmla="*/ 0 w 4446529"/>
              <a:gd name="connsiteY0" fmla="*/ 0 h 6858000"/>
              <a:gd name="connsiteX1" fmla="*/ 3233551 w 4446529"/>
              <a:gd name="connsiteY1" fmla="*/ 0 h 6858000"/>
              <a:gd name="connsiteX2" fmla="*/ 3296534 w 4446529"/>
              <a:gd name="connsiteY2" fmla="*/ 69271 h 6858000"/>
              <a:gd name="connsiteX3" fmla="*/ 4446529 w 4446529"/>
              <a:gd name="connsiteY3" fmla="*/ 3429000 h 6858000"/>
              <a:gd name="connsiteX4" fmla="*/ 3296534 w 4446529"/>
              <a:gd name="connsiteY4" fmla="*/ 6788730 h 6858000"/>
              <a:gd name="connsiteX5" fmla="*/ 3233551 w 4446529"/>
              <a:gd name="connsiteY5" fmla="*/ 6858000 h 6858000"/>
              <a:gd name="connsiteX6" fmla="*/ 0 w 444652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6529" h="6858000">
                <a:moveTo>
                  <a:pt x="0" y="0"/>
                </a:moveTo>
                <a:lnTo>
                  <a:pt x="3233551" y="0"/>
                </a:lnTo>
                <a:lnTo>
                  <a:pt x="3296534" y="69271"/>
                </a:lnTo>
                <a:cubicBezTo>
                  <a:pt x="4007060" y="929100"/>
                  <a:pt x="4446529" y="2116944"/>
                  <a:pt x="4446529" y="3429000"/>
                </a:cubicBezTo>
                <a:cubicBezTo>
                  <a:pt x="4446529" y="4741056"/>
                  <a:pt x="4007060" y="5928900"/>
                  <a:pt x="3296534" y="6788730"/>
                </a:cubicBezTo>
                <a:lnTo>
                  <a:pt x="3233551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3831654-59A0-5C5E-08F7-22A6A293B2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094" y="1161288"/>
            <a:ext cx="3438144" cy="123901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Warum C?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8E79BE4-34FE-485A-98A5-92CE8F7C47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426546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A5F0580-5EE9-419F-96EE-B6529EF6E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5893" y="2443480"/>
            <a:ext cx="338328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80EB8265-6467-729C-4EE1-FD328A9BE8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71094" y="2718054"/>
            <a:ext cx="3622172" cy="320725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1700" b="1" dirty="0"/>
              <a:t>„</a:t>
            </a:r>
            <a:r>
              <a:rPr lang="en-US" sz="1700" b="1" dirty="0" err="1"/>
              <a:t>Lösung</a:t>
            </a:r>
            <a:r>
              <a:rPr lang="en-US" sz="1700" b="1" dirty="0"/>
              <a:t>“: Assembly</a:t>
            </a:r>
          </a:p>
          <a:p>
            <a:pPr lvl="1"/>
            <a:r>
              <a:rPr lang="en-US" sz="1700" dirty="0" err="1"/>
              <a:t>Befehle</a:t>
            </a:r>
            <a:r>
              <a:rPr lang="en-US" sz="1700" dirty="0"/>
              <a:t> </a:t>
            </a:r>
            <a:r>
              <a:rPr lang="en-US" sz="1700" dirty="0" err="1"/>
              <a:t>werden</a:t>
            </a:r>
            <a:r>
              <a:rPr lang="en-US" sz="1700" dirty="0"/>
              <a:t> </a:t>
            </a:r>
            <a:r>
              <a:rPr lang="en-US" sz="1700" dirty="0" err="1"/>
              <a:t>nicht</a:t>
            </a:r>
            <a:r>
              <a:rPr lang="en-US" sz="1700" dirty="0"/>
              <a:t> </a:t>
            </a:r>
            <a:r>
              <a:rPr lang="en-US" sz="1700" dirty="0" err="1"/>
              <a:t>mehr</a:t>
            </a:r>
            <a:r>
              <a:rPr lang="en-US" sz="1700" dirty="0"/>
              <a:t> </a:t>
            </a:r>
            <a:r>
              <a:rPr lang="en-US" sz="1700" dirty="0" err="1"/>
              <a:t>als</a:t>
            </a:r>
            <a:r>
              <a:rPr lang="en-US" sz="1700" dirty="0"/>
              <a:t> 32 (</a:t>
            </a:r>
            <a:r>
              <a:rPr lang="en-US" sz="1700" dirty="0" err="1"/>
              <a:t>bzw</a:t>
            </a:r>
            <a:r>
              <a:rPr lang="en-US" sz="1700" dirty="0"/>
              <a:t>. 64) </a:t>
            </a:r>
            <a:r>
              <a:rPr lang="en-US" sz="1700" dirty="0" err="1"/>
              <a:t>Nullen</a:t>
            </a:r>
            <a:r>
              <a:rPr lang="en-US" sz="1700" dirty="0"/>
              <a:t> und </a:t>
            </a:r>
            <a:r>
              <a:rPr lang="en-US" sz="1700" dirty="0" err="1"/>
              <a:t>Einsen</a:t>
            </a:r>
            <a:r>
              <a:rPr lang="en-US" sz="1700" dirty="0"/>
              <a:t> </a:t>
            </a:r>
            <a:r>
              <a:rPr lang="en-US" sz="1700" dirty="0" err="1"/>
              <a:t>geschrieben</a:t>
            </a:r>
            <a:endParaRPr lang="en-US" sz="1700" dirty="0"/>
          </a:p>
          <a:p>
            <a:pPr lvl="1"/>
            <a:r>
              <a:rPr lang="en-US" sz="1700" dirty="0"/>
              <a:t>für </a:t>
            </a:r>
            <a:r>
              <a:rPr lang="en-US" sz="1700" dirty="0" err="1"/>
              <a:t>jeden</a:t>
            </a:r>
            <a:r>
              <a:rPr lang="en-US" sz="1700" dirty="0"/>
              <a:t> </a:t>
            </a:r>
            <a:r>
              <a:rPr lang="en-US" sz="1700" dirty="0" err="1"/>
              <a:t>Befehl</a:t>
            </a:r>
            <a:r>
              <a:rPr lang="en-US" sz="1700" dirty="0"/>
              <a:t> </a:t>
            </a:r>
            <a:r>
              <a:rPr lang="en-US" sz="1700" dirty="0" err="1"/>
              <a:t>existiert</a:t>
            </a:r>
            <a:r>
              <a:rPr lang="en-US" sz="1700" dirty="0"/>
              <a:t> nun </a:t>
            </a:r>
            <a:r>
              <a:rPr lang="en-US" sz="1700" dirty="0" err="1"/>
              <a:t>eine</a:t>
            </a:r>
            <a:r>
              <a:rPr lang="en-US" sz="1700" dirty="0"/>
              <a:t> </a:t>
            </a:r>
            <a:r>
              <a:rPr lang="en-US" sz="1700" dirty="0" err="1"/>
              <a:t>Abkürzung</a:t>
            </a:r>
            <a:r>
              <a:rPr lang="en-US" sz="1700" dirty="0"/>
              <a:t> (=Assembly) </a:t>
            </a:r>
          </a:p>
          <a:p>
            <a:pPr lvl="1"/>
            <a:r>
              <a:rPr lang="en-US" sz="1700" dirty="0"/>
              <a:t>Assembly </a:t>
            </a:r>
            <a:r>
              <a:rPr lang="en-US" sz="1700" dirty="0" err="1"/>
              <a:t>wird</a:t>
            </a:r>
            <a:r>
              <a:rPr lang="en-US" sz="1700" dirty="0"/>
              <a:t> von </a:t>
            </a:r>
            <a:r>
              <a:rPr lang="en-US" sz="1700" dirty="0" err="1"/>
              <a:t>einem</a:t>
            </a:r>
            <a:r>
              <a:rPr lang="en-US" sz="1700" dirty="0"/>
              <a:t> </a:t>
            </a:r>
            <a:r>
              <a:rPr lang="en-US" sz="1700" b="1" dirty="0"/>
              <a:t>Assembler</a:t>
            </a:r>
            <a:r>
              <a:rPr lang="en-US" sz="1700" dirty="0"/>
              <a:t> </a:t>
            </a:r>
            <a:r>
              <a:rPr lang="en-US" sz="1700" dirty="0" err="1"/>
              <a:t>zu</a:t>
            </a:r>
            <a:r>
              <a:rPr lang="en-US" sz="1700" dirty="0"/>
              <a:t> </a:t>
            </a:r>
            <a:r>
              <a:rPr lang="en-US" sz="1700" dirty="0" err="1"/>
              <a:t>Maschinencode</a:t>
            </a:r>
            <a:r>
              <a:rPr lang="en-US" sz="1700" dirty="0"/>
              <a:t> </a:t>
            </a:r>
            <a:r>
              <a:rPr lang="en-US" sz="1700" i="1" dirty="0"/>
              <a:t>„</a:t>
            </a:r>
            <a:r>
              <a:rPr lang="en-US" sz="1700" i="1" dirty="0" err="1"/>
              <a:t>assembliert</a:t>
            </a:r>
            <a:r>
              <a:rPr lang="en-US" sz="1700" i="1" dirty="0"/>
              <a:t>“</a:t>
            </a:r>
          </a:p>
          <a:p>
            <a:r>
              <a:rPr lang="en-US" sz="1700" dirty="0"/>
              <a:t>Gut, </a:t>
            </a:r>
            <a:r>
              <a:rPr lang="en-US" sz="1700" dirty="0" err="1"/>
              <a:t>aber</a:t>
            </a:r>
            <a:r>
              <a:rPr lang="en-US" sz="1700" dirty="0"/>
              <a:t> es </a:t>
            </a:r>
            <a:r>
              <a:rPr lang="en-US" sz="1700" dirty="0" err="1"/>
              <a:t>geht</a:t>
            </a:r>
            <a:r>
              <a:rPr lang="en-US" sz="1700" dirty="0"/>
              <a:t> </a:t>
            </a:r>
            <a:r>
              <a:rPr lang="en-US" sz="1700" dirty="0" err="1"/>
              <a:t>noch</a:t>
            </a:r>
            <a:r>
              <a:rPr lang="en-US" sz="1700" dirty="0"/>
              <a:t> </a:t>
            </a:r>
            <a:r>
              <a:rPr lang="en-US" sz="1700" dirty="0" err="1"/>
              <a:t>besser</a:t>
            </a:r>
            <a:r>
              <a:rPr lang="en-US" sz="1700" dirty="0"/>
              <a:t>?</a:t>
            </a:r>
          </a:p>
          <a:p>
            <a:pPr lvl="1"/>
            <a:endParaRPr lang="en-US" sz="1700" dirty="0"/>
          </a:p>
        </p:txBody>
      </p:sp>
      <p:pic>
        <p:nvPicPr>
          <p:cNvPr id="14" name="Inhaltsplatzhalter 13" descr="Ein Bild, das Text, Entwurf, Diagramm, Schrift enthält.&#10;&#10;Automatisch generierte Beschreibung">
            <a:extLst>
              <a:ext uri="{FF2B5EF4-FFF2-40B4-BE49-F238E27FC236}">
                <a16:creationId xmlns:a16="http://schemas.microsoft.com/office/drawing/2014/main" id="{B6AB7B44-D2BB-4D09-D2B9-35D3DADFD1F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4901184" y="1394037"/>
            <a:ext cx="6922008" cy="4170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00903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092D9D4-0494-7259-9F01-0EDEE42D4C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Warum</a:t>
            </a:r>
            <a: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C?</a:t>
            </a:r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507CD21-3DAF-BBCD-A0FC-ECED77F7ED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0936" y="2660904"/>
            <a:ext cx="4818888" cy="3547872"/>
          </a:xfrm>
        </p:spPr>
        <p:txBody>
          <a:bodyPr vert="horz" lIns="91440" tIns="45720" rIns="91440" bIns="45720" rtlCol="0" anchor="t">
            <a:normAutofit fontScale="85000" lnSpcReduction="20000"/>
          </a:bodyPr>
          <a:lstStyle/>
          <a:p>
            <a:r>
              <a:rPr lang="en-US" sz="2000" dirty="0"/>
              <a:t>Ja, es </a:t>
            </a:r>
            <a:r>
              <a:rPr lang="en-US" sz="2000" dirty="0" err="1"/>
              <a:t>geht</a:t>
            </a:r>
            <a:r>
              <a:rPr lang="en-US" sz="2000" dirty="0"/>
              <a:t> </a:t>
            </a:r>
            <a:r>
              <a:rPr lang="en-US" sz="2000" dirty="0" err="1"/>
              <a:t>besser</a:t>
            </a:r>
            <a:r>
              <a:rPr lang="en-US" sz="2000" dirty="0"/>
              <a:t>!</a:t>
            </a:r>
          </a:p>
          <a:p>
            <a:r>
              <a:rPr lang="en-US" sz="2000" dirty="0" err="1"/>
              <a:t>Mit</a:t>
            </a:r>
            <a:r>
              <a:rPr lang="en-US" sz="2000" dirty="0"/>
              <a:t> </a:t>
            </a:r>
            <a:r>
              <a:rPr lang="en-US" sz="2000" dirty="0" err="1"/>
              <a:t>Hilfe</a:t>
            </a:r>
            <a:r>
              <a:rPr lang="en-US" sz="2000" dirty="0"/>
              <a:t> von C </a:t>
            </a:r>
            <a:r>
              <a:rPr lang="en-US" sz="2000" dirty="0" err="1"/>
              <a:t>können</a:t>
            </a:r>
            <a:r>
              <a:rPr lang="en-US" sz="2000" dirty="0"/>
              <a:t> </a:t>
            </a:r>
            <a:r>
              <a:rPr lang="en-US" sz="2000" dirty="0" err="1"/>
              <a:t>wir</a:t>
            </a:r>
            <a:r>
              <a:rPr lang="en-US" sz="2000" dirty="0"/>
              <a:t> </a:t>
            </a:r>
            <a:r>
              <a:rPr lang="en-US" sz="2000" i="1" dirty="0"/>
              <a:t>„</a:t>
            </a:r>
            <a:r>
              <a:rPr lang="en-US" sz="2000" i="1" dirty="0" err="1"/>
              <a:t>Menschenlesbaren</a:t>
            </a:r>
            <a:r>
              <a:rPr lang="en-US" sz="2000" i="1" dirty="0"/>
              <a:t>“ C</a:t>
            </a:r>
            <a:r>
              <a:rPr lang="en-US" sz="2000" dirty="0"/>
              <a:t>ode </a:t>
            </a:r>
            <a:r>
              <a:rPr lang="en-US" sz="2000" dirty="0" err="1"/>
              <a:t>schreiben</a:t>
            </a:r>
            <a:r>
              <a:rPr lang="en-US" sz="2000" dirty="0"/>
              <a:t>, </a:t>
            </a:r>
            <a:r>
              <a:rPr lang="en-US" sz="2000" dirty="0" err="1"/>
              <a:t>vereinfacht</a:t>
            </a:r>
            <a:r>
              <a:rPr lang="en-US" sz="2000" dirty="0"/>
              <a:t>:</a:t>
            </a:r>
          </a:p>
          <a:p>
            <a:pPr lvl="1"/>
            <a:r>
              <a:rPr lang="en-US" sz="2000" dirty="0"/>
              <a:t>C-</a:t>
            </a:r>
            <a:r>
              <a:rPr lang="en-US" sz="2000" dirty="0" err="1"/>
              <a:t>Datei</a:t>
            </a:r>
            <a:r>
              <a:rPr lang="en-US" sz="2000" dirty="0"/>
              <a:t> </a:t>
            </a:r>
            <a:r>
              <a:rPr lang="en-US" sz="2000" dirty="0" err="1"/>
              <a:t>wird</a:t>
            </a:r>
            <a:r>
              <a:rPr lang="en-US" sz="2000" dirty="0"/>
              <a:t> </a:t>
            </a:r>
            <a:r>
              <a:rPr lang="en-US" sz="2000" dirty="0" err="1"/>
              <a:t>durch</a:t>
            </a:r>
            <a:r>
              <a:rPr lang="en-US" sz="2000" dirty="0"/>
              <a:t> </a:t>
            </a:r>
            <a:r>
              <a:rPr lang="en-US" sz="2000" b="1" dirty="0"/>
              <a:t>Compiler</a:t>
            </a:r>
            <a:r>
              <a:rPr lang="en-US" sz="2000" dirty="0"/>
              <a:t> </a:t>
            </a:r>
            <a:r>
              <a:rPr lang="en-US" sz="2000" dirty="0" err="1"/>
              <a:t>zu</a:t>
            </a:r>
            <a:r>
              <a:rPr lang="en-US" sz="2000" dirty="0"/>
              <a:t> Assembly </a:t>
            </a:r>
            <a:r>
              <a:rPr lang="en-US" sz="2000" dirty="0" err="1"/>
              <a:t>kompiliert</a:t>
            </a:r>
            <a:endParaRPr lang="en-US" sz="2000" dirty="0"/>
          </a:p>
          <a:p>
            <a:pPr lvl="1"/>
            <a:r>
              <a:rPr lang="en-US" sz="2000" dirty="0"/>
              <a:t>Assembly </a:t>
            </a:r>
            <a:r>
              <a:rPr lang="en-US" sz="2000" dirty="0" err="1"/>
              <a:t>wird</a:t>
            </a:r>
            <a:r>
              <a:rPr lang="en-US" sz="2000" dirty="0"/>
              <a:t> </a:t>
            </a:r>
            <a:r>
              <a:rPr lang="en-US" sz="2000" dirty="0" err="1"/>
              <a:t>zu</a:t>
            </a:r>
            <a:r>
              <a:rPr lang="en-US" sz="2000" dirty="0"/>
              <a:t> Object-Code (</a:t>
            </a:r>
            <a:r>
              <a:rPr lang="en-US" sz="2000" dirty="0" err="1"/>
              <a:t>vereinfacht</a:t>
            </a:r>
            <a:r>
              <a:rPr lang="en-US" sz="2000" dirty="0"/>
              <a:t>: </a:t>
            </a:r>
            <a:r>
              <a:rPr lang="en-US" sz="2000" i="1" dirty="0"/>
              <a:t>quasi</a:t>
            </a:r>
            <a:r>
              <a:rPr lang="en-US" sz="2000" dirty="0"/>
              <a:t> </a:t>
            </a:r>
            <a:r>
              <a:rPr lang="en-US" sz="2000" dirty="0" err="1"/>
              <a:t>Maschinencode</a:t>
            </a:r>
            <a:r>
              <a:rPr lang="en-US" sz="2000" dirty="0"/>
              <a:t>)  </a:t>
            </a:r>
            <a:r>
              <a:rPr lang="en-US" sz="2000" dirty="0" err="1"/>
              <a:t>assembliert</a:t>
            </a:r>
            <a:endParaRPr lang="en-US" sz="2000" dirty="0"/>
          </a:p>
          <a:p>
            <a:pPr lvl="1"/>
            <a:r>
              <a:rPr lang="en-US" sz="2000" dirty="0"/>
              <a:t>Falls </a:t>
            </a:r>
            <a:r>
              <a:rPr lang="en-US" sz="2000" dirty="0" err="1"/>
              <a:t>wir</a:t>
            </a:r>
            <a:r>
              <a:rPr lang="en-US" sz="2000" dirty="0"/>
              <a:t> </a:t>
            </a:r>
            <a:r>
              <a:rPr lang="en-US" sz="2000" dirty="0" err="1"/>
              <a:t>mehrere</a:t>
            </a:r>
            <a:r>
              <a:rPr lang="en-US" sz="2000" dirty="0"/>
              <a:t> </a:t>
            </a:r>
            <a:r>
              <a:rPr lang="en-US" sz="2000" dirty="0" err="1"/>
              <a:t>Dateien</a:t>
            </a:r>
            <a:r>
              <a:rPr lang="en-US" sz="2000" dirty="0"/>
              <a:t> </a:t>
            </a:r>
            <a:r>
              <a:rPr lang="en-US" sz="2000" dirty="0" err="1"/>
              <a:t>hatten</a:t>
            </a:r>
            <a:r>
              <a:rPr lang="en-US" sz="2000" dirty="0"/>
              <a:t>: Die </a:t>
            </a:r>
            <a:r>
              <a:rPr lang="en-US" sz="2000" dirty="0" err="1"/>
              <a:t>einzelnen</a:t>
            </a:r>
            <a:r>
              <a:rPr lang="en-US" sz="2000" dirty="0"/>
              <a:t> Object-Code </a:t>
            </a:r>
            <a:r>
              <a:rPr lang="en-US" sz="2000" dirty="0" err="1"/>
              <a:t>Dateien</a:t>
            </a:r>
            <a:r>
              <a:rPr lang="en-US" sz="2000" dirty="0"/>
              <a:t> </a:t>
            </a:r>
            <a:r>
              <a:rPr lang="en-US" sz="2000" dirty="0" err="1"/>
              <a:t>werden</a:t>
            </a:r>
            <a:r>
              <a:rPr lang="en-US" sz="2000" dirty="0"/>
              <a:t> </a:t>
            </a:r>
            <a:r>
              <a:rPr lang="en-US" sz="2000" dirty="0" err="1"/>
              <a:t>zu</a:t>
            </a:r>
            <a:r>
              <a:rPr lang="en-US" sz="2000" dirty="0"/>
              <a:t> </a:t>
            </a:r>
            <a:r>
              <a:rPr lang="en-US" sz="2000" dirty="0" err="1"/>
              <a:t>einem</a:t>
            </a:r>
            <a:r>
              <a:rPr lang="en-US" sz="2000" dirty="0"/>
              <a:t> </a:t>
            </a:r>
            <a:r>
              <a:rPr lang="en-US" sz="2000" dirty="0" err="1"/>
              <a:t>großem</a:t>
            </a:r>
            <a:r>
              <a:rPr lang="en-US" sz="2000" dirty="0"/>
              <a:t> Machine-Code-File, dem </a:t>
            </a:r>
            <a:r>
              <a:rPr lang="en-US" sz="2000" i="1" dirty="0"/>
              <a:t>“Executable” </a:t>
            </a:r>
            <a:r>
              <a:rPr lang="en-US" sz="2000" b="1" dirty="0" err="1"/>
              <a:t>gelinkt</a:t>
            </a:r>
            <a:endParaRPr lang="en-US" sz="2000" b="1" dirty="0"/>
          </a:p>
          <a:p>
            <a:r>
              <a:rPr lang="en-US" sz="2000" b="1" i="1" dirty="0">
                <a:solidFill>
                  <a:schemeClr val="bg2">
                    <a:lumMod val="75000"/>
                  </a:schemeClr>
                </a:solidFill>
              </a:rPr>
              <a:t>Achtung - </a:t>
            </a:r>
            <a:r>
              <a:rPr lang="en-US" sz="2000" i="1" dirty="0" err="1">
                <a:solidFill>
                  <a:schemeClr val="bg2">
                    <a:lumMod val="75000"/>
                  </a:schemeClr>
                </a:solidFill>
              </a:rPr>
              <a:t>Verwirrung</a:t>
            </a:r>
            <a:r>
              <a:rPr lang="en-US" sz="2000" i="1" dirty="0">
                <a:solidFill>
                  <a:schemeClr val="bg2">
                    <a:lumMod val="75000"/>
                  </a:schemeClr>
                </a:solidFill>
              </a:rPr>
              <a:t>: </a:t>
            </a:r>
            <a:r>
              <a:rPr lang="en-US" sz="2000" i="1" dirty="0" err="1">
                <a:solidFill>
                  <a:schemeClr val="bg2">
                    <a:lumMod val="75000"/>
                  </a:schemeClr>
                </a:solidFill>
              </a:rPr>
              <a:t>Heutige</a:t>
            </a:r>
            <a:r>
              <a:rPr lang="en-US" sz="2000" i="1" dirty="0">
                <a:solidFill>
                  <a:schemeClr val="bg2">
                    <a:lumMod val="75000"/>
                  </a:schemeClr>
                </a:solidFill>
              </a:rPr>
              <a:t> „Compiler“ </a:t>
            </a:r>
            <a:r>
              <a:rPr lang="en-US" sz="2000" i="1" dirty="0" err="1">
                <a:solidFill>
                  <a:schemeClr val="bg2">
                    <a:lumMod val="75000"/>
                  </a:schemeClr>
                </a:solidFill>
              </a:rPr>
              <a:t>beinhalten</a:t>
            </a:r>
            <a:r>
              <a:rPr lang="en-US" sz="2000" i="1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en-US" sz="2000" i="1" dirty="0" err="1">
                <a:solidFill>
                  <a:schemeClr val="bg2">
                    <a:lumMod val="75000"/>
                  </a:schemeClr>
                </a:solidFill>
              </a:rPr>
              <a:t>meist</a:t>
            </a:r>
            <a:r>
              <a:rPr lang="en-US" sz="2000" i="1" dirty="0">
                <a:solidFill>
                  <a:schemeClr val="bg2">
                    <a:lumMod val="75000"/>
                  </a:schemeClr>
                </a:solidFill>
              </a:rPr>
              <a:t> den (</a:t>
            </a:r>
            <a:r>
              <a:rPr lang="en-US" sz="2000" i="1" dirty="0" err="1">
                <a:solidFill>
                  <a:schemeClr val="bg2">
                    <a:lumMod val="75000"/>
                  </a:schemeClr>
                </a:solidFill>
              </a:rPr>
              <a:t>eigentlichen</a:t>
            </a:r>
            <a:r>
              <a:rPr lang="en-US" sz="2000" i="1" dirty="0">
                <a:solidFill>
                  <a:schemeClr val="bg2">
                    <a:lumMod val="75000"/>
                  </a:schemeClr>
                </a:solidFill>
              </a:rPr>
              <a:t>) Compiler UND Linker in </a:t>
            </a:r>
            <a:r>
              <a:rPr lang="en-US" sz="2000" i="1" dirty="0" err="1">
                <a:solidFill>
                  <a:schemeClr val="bg2">
                    <a:lumMod val="75000"/>
                  </a:schemeClr>
                </a:solidFill>
              </a:rPr>
              <a:t>Einem</a:t>
            </a:r>
            <a:endParaRPr lang="en-US" sz="2000" i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000" dirty="0"/>
              <a:t>Gut, </a:t>
            </a:r>
            <a:r>
              <a:rPr lang="en-US" sz="2000" dirty="0" err="1"/>
              <a:t>aber</a:t>
            </a:r>
            <a:r>
              <a:rPr lang="en-US" sz="2000" dirty="0"/>
              <a:t> </a:t>
            </a:r>
            <a:r>
              <a:rPr lang="en-US" sz="2000" dirty="0" err="1"/>
              <a:t>geht</a:t>
            </a:r>
            <a:r>
              <a:rPr lang="en-US" sz="2000" dirty="0"/>
              <a:t> es </a:t>
            </a:r>
            <a:r>
              <a:rPr lang="en-US" sz="2000" dirty="0" err="1"/>
              <a:t>noch</a:t>
            </a:r>
            <a:r>
              <a:rPr lang="en-US" sz="2000" dirty="0"/>
              <a:t> </a:t>
            </a:r>
            <a:r>
              <a:rPr lang="en-US" sz="2000" dirty="0" err="1"/>
              <a:t>besser</a:t>
            </a:r>
            <a:r>
              <a:rPr lang="en-US" sz="2000" dirty="0"/>
              <a:t>?</a:t>
            </a:r>
          </a:p>
        </p:txBody>
      </p:sp>
      <p:pic>
        <p:nvPicPr>
          <p:cNvPr id="6" name="Inhaltsplatzhalter 5" descr="Ein Bild, das Text, Screenshot, Schrift, Diagramm enthält.&#10;&#10;Automatisch generierte Beschreibung">
            <a:extLst>
              <a:ext uri="{FF2B5EF4-FFF2-40B4-BE49-F238E27FC236}">
                <a16:creationId xmlns:a16="http://schemas.microsoft.com/office/drawing/2014/main" id="{2310D9FA-3DD0-D879-2C18-5AC52E167AA6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6099048" y="1002792"/>
            <a:ext cx="5458968" cy="4852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37405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45D37F4E-DDB4-456B-97E0-9937730A0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316D1D7-BC27-9C56-B346-480BABADF8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493" y="238539"/>
            <a:ext cx="11018520" cy="143441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/>
              <a:t>Warum C?</a:t>
            </a:r>
          </a:p>
        </p:txBody>
      </p:sp>
      <p:sp>
        <p:nvSpPr>
          <p:cNvPr id="12" name="sketchy line">
            <a:extLst>
              <a:ext uri="{FF2B5EF4-FFF2-40B4-BE49-F238E27FC236}">
                <a16:creationId xmlns:a16="http://schemas.microsoft.com/office/drawing/2014/main" id="{B2DD41CD-8F47-4F56-AD12-4E2FF76969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2493" y="1681544"/>
            <a:ext cx="10972800" cy="18288"/>
          </a:xfrm>
          <a:custGeom>
            <a:avLst/>
            <a:gdLst>
              <a:gd name="connsiteX0" fmla="*/ 0 w 10972800"/>
              <a:gd name="connsiteY0" fmla="*/ 0 h 18288"/>
              <a:gd name="connsiteX1" fmla="*/ 356616 w 10972800"/>
              <a:gd name="connsiteY1" fmla="*/ 0 h 18288"/>
              <a:gd name="connsiteX2" fmla="*/ 1042416 w 10972800"/>
              <a:gd name="connsiteY2" fmla="*/ 0 h 18288"/>
              <a:gd name="connsiteX3" fmla="*/ 1947672 w 10972800"/>
              <a:gd name="connsiteY3" fmla="*/ 0 h 18288"/>
              <a:gd name="connsiteX4" fmla="*/ 2633472 w 10972800"/>
              <a:gd name="connsiteY4" fmla="*/ 0 h 18288"/>
              <a:gd name="connsiteX5" fmla="*/ 2990088 w 10972800"/>
              <a:gd name="connsiteY5" fmla="*/ 0 h 18288"/>
              <a:gd name="connsiteX6" fmla="*/ 3456432 w 10972800"/>
              <a:gd name="connsiteY6" fmla="*/ 0 h 18288"/>
              <a:gd name="connsiteX7" fmla="*/ 4361688 w 10972800"/>
              <a:gd name="connsiteY7" fmla="*/ 0 h 18288"/>
              <a:gd name="connsiteX8" fmla="*/ 5266944 w 10972800"/>
              <a:gd name="connsiteY8" fmla="*/ 0 h 18288"/>
              <a:gd name="connsiteX9" fmla="*/ 6172200 w 10972800"/>
              <a:gd name="connsiteY9" fmla="*/ 0 h 18288"/>
              <a:gd name="connsiteX10" fmla="*/ 6528816 w 10972800"/>
              <a:gd name="connsiteY10" fmla="*/ 0 h 18288"/>
              <a:gd name="connsiteX11" fmla="*/ 7214616 w 10972800"/>
              <a:gd name="connsiteY11" fmla="*/ 0 h 18288"/>
              <a:gd name="connsiteX12" fmla="*/ 7790688 w 10972800"/>
              <a:gd name="connsiteY12" fmla="*/ 0 h 18288"/>
              <a:gd name="connsiteX13" fmla="*/ 8147304 w 10972800"/>
              <a:gd name="connsiteY13" fmla="*/ 0 h 18288"/>
              <a:gd name="connsiteX14" fmla="*/ 9052560 w 10972800"/>
              <a:gd name="connsiteY14" fmla="*/ 0 h 18288"/>
              <a:gd name="connsiteX15" fmla="*/ 9409176 w 10972800"/>
              <a:gd name="connsiteY15" fmla="*/ 0 h 18288"/>
              <a:gd name="connsiteX16" fmla="*/ 9765792 w 10972800"/>
              <a:gd name="connsiteY16" fmla="*/ 0 h 18288"/>
              <a:gd name="connsiteX17" fmla="*/ 10341864 w 10972800"/>
              <a:gd name="connsiteY17" fmla="*/ 0 h 18288"/>
              <a:gd name="connsiteX18" fmla="*/ 10972800 w 10972800"/>
              <a:gd name="connsiteY18" fmla="*/ 0 h 18288"/>
              <a:gd name="connsiteX19" fmla="*/ 10972800 w 10972800"/>
              <a:gd name="connsiteY19" fmla="*/ 18288 h 18288"/>
              <a:gd name="connsiteX20" fmla="*/ 10177272 w 10972800"/>
              <a:gd name="connsiteY20" fmla="*/ 18288 h 18288"/>
              <a:gd name="connsiteX21" fmla="*/ 9820656 w 10972800"/>
              <a:gd name="connsiteY21" fmla="*/ 18288 h 18288"/>
              <a:gd name="connsiteX22" fmla="*/ 9464040 w 10972800"/>
              <a:gd name="connsiteY22" fmla="*/ 18288 h 18288"/>
              <a:gd name="connsiteX23" fmla="*/ 8778240 w 10972800"/>
              <a:gd name="connsiteY23" fmla="*/ 18288 h 18288"/>
              <a:gd name="connsiteX24" fmla="*/ 8421624 w 10972800"/>
              <a:gd name="connsiteY24" fmla="*/ 18288 h 18288"/>
              <a:gd name="connsiteX25" fmla="*/ 7735824 w 10972800"/>
              <a:gd name="connsiteY25" fmla="*/ 18288 h 18288"/>
              <a:gd name="connsiteX26" fmla="*/ 6940296 w 10972800"/>
              <a:gd name="connsiteY26" fmla="*/ 18288 h 18288"/>
              <a:gd name="connsiteX27" fmla="*/ 6254496 w 10972800"/>
              <a:gd name="connsiteY27" fmla="*/ 18288 h 18288"/>
              <a:gd name="connsiteX28" fmla="*/ 5458968 w 10972800"/>
              <a:gd name="connsiteY28" fmla="*/ 18288 h 18288"/>
              <a:gd name="connsiteX29" fmla="*/ 4663440 w 10972800"/>
              <a:gd name="connsiteY29" fmla="*/ 18288 h 18288"/>
              <a:gd name="connsiteX30" fmla="*/ 4306824 w 10972800"/>
              <a:gd name="connsiteY30" fmla="*/ 18288 h 18288"/>
              <a:gd name="connsiteX31" fmla="*/ 3840480 w 10972800"/>
              <a:gd name="connsiteY31" fmla="*/ 18288 h 18288"/>
              <a:gd name="connsiteX32" fmla="*/ 3264408 w 10972800"/>
              <a:gd name="connsiteY32" fmla="*/ 18288 h 18288"/>
              <a:gd name="connsiteX33" fmla="*/ 2578608 w 10972800"/>
              <a:gd name="connsiteY33" fmla="*/ 18288 h 18288"/>
              <a:gd name="connsiteX34" fmla="*/ 1673352 w 10972800"/>
              <a:gd name="connsiteY34" fmla="*/ 18288 h 18288"/>
              <a:gd name="connsiteX35" fmla="*/ 877824 w 10972800"/>
              <a:gd name="connsiteY35" fmla="*/ 18288 h 18288"/>
              <a:gd name="connsiteX36" fmla="*/ 0 w 10972800"/>
              <a:gd name="connsiteY36" fmla="*/ 18288 h 18288"/>
              <a:gd name="connsiteX37" fmla="*/ 0 w 10972800"/>
              <a:gd name="connsiteY37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10972800" h="18288" fill="none" extrusionOk="0">
                <a:moveTo>
                  <a:pt x="0" y="0"/>
                </a:moveTo>
                <a:cubicBezTo>
                  <a:pt x="165916" y="-1866"/>
                  <a:pt x="188720" y="13756"/>
                  <a:pt x="356616" y="0"/>
                </a:cubicBezTo>
                <a:cubicBezTo>
                  <a:pt x="524512" y="-13756"/>
                  <a:pt x="734781" y="8922"/>
                  <a:pt x="1042416" y="0"/>
                </a:cubicBezTo>
                <a:cubicBezTo>
                  <a:pt x="1350051" y="-8922"/>
                  <a:pt x="1595982" y="-26315"/>
                  <a:pt x="1947672" y="0"/>
                </a:cubicBezTo>
                <a:cubicBezTo>
                  <a:pt x="2299362" y="26315"/>
                  <a:pt x="2292691" y="-19526"/>
                  <a:pt x="2633472" y="0"/>
                </a:cubicBezTo>
                <a:cubicBezTo>
                  <a:pt x="2974253" y="19526"/>
                  <a:pt x="2857309" y="10773"/>
                  <a:pt x="2990088" y="0"/>
                </a:cubicBezTo>
                <a:cubicBezTo>
                  <a:pt x="3122867" y="-10773"/>
                  <a:pt x="3359343" y="7194"/>
                  <a:pt x="3456432" y="0"/>
                </a:cubicBezTo>
                <a:cubicBezTo>
                  <a:pt x="3553521" y="-7194"/>
                  <a:pt x="4136258" y="5108"/>
                  <a:pt x="4361688" y="0"/>
                </a:cubicBezTo>
                <a:cubicBezTo>
                  <a:pt x="4587118" y="-5108"/>
                  <a:pt x="4992424" y="-42958"/>
                  <a:pt x="5266944" y="0"/>
                </a:cubicBezTo>
                <a:cubicBezTo>
                  <a:pt x="5541464" y="42958"/>
                  <a:pt x="5882966" y="-3430"/>
                  <a:pt x="6172200" y="0"/>
                </a:cubicBezTo>
                <a:cubicBezTo>
                  <a:pt x="6461434" y="3430"/>
                  <a:pt x="6432127" y="6688"/>
                  <a:pt x="6528816" y="0"/>
                </a:cubicBezTo>
                <a:cubicBezTo>
                  <a:pt x="6625505" y="-6688"/>
                  <a:pt x="6916805" y="-436"/>
                  <a:pt x="7214616" y="0"/>
                </a:cubicBezTo>
                <a:cubicBezTo>
                  <a:pt x="7512427" y="436"/>
                  <a:pt x="7626159" y="-6909"/>
                  <a:pt x="7790688" y="0"/>
                </a:cubicBezTo>
                <a:cubicBezTo>
                  <a:pt x="7955217" y="6909"/>
                  <a:pt x="8048891" y="15307"/>
                  <a:pt x="8147304" y="0"/>
                </a:cubicBezTo>
                <a:cubicBezTo>
                  <a:pt x="8245717" y="-15307"/>
                  <a:pt x="8645618" y="-11734"/>
                  <a:pt x="9052560" y="0"/>
                </a:cubicBezTo>
                <a:cubicBezTo>
                  <a:pt x="9459502" y="11734"/>
                  <a:pt x="9320584" y="8388"/>
                  <a:pt x="9409176" y="0"/>
                </a:cubicBezTo>
                <a:cubicBezTo>
                  <a:pt x="9497768" y="-8388"/>
                  <a:pt x="9644192" y="8379"/>
                  <a:pt x="9765792" y="0"/>
                </a:cubicBezTo>
                <a:cubicBezTo>
                  <a:pt x="9887392" y="-8379"/>
                  <a:pt x="10105220" y="-12663"/>
                  <a:pt x="10341864" y="0"/>
                </a:cubicBezTo>
                <a:cubicBezTo>
                  <a:pt x="10578508" y="12663"/>
                  <a:pt x="10773103" y="-5786"/>
                  <a:pt x="10972800" y="0"/>
                </a:cubicBezTo>
                <a:cubicBezTo>
                  <a:pt x="10972146" y="8818"/>
                  <a:pt x="10972240" y="13823"/>
                  <a:pt x="10972800" y="18288"/>
                </a:cubicBezTo>
                <a:cubicBezTo>
                  <a:pt x="10588778" y="31598"/>
                  <a:pt x="10543381" y="-12698"/>
                  <a:pt x="10177272" y="18288"/>
                </a:cubicBezTo>
                <a:cubicBezTo>
                  <a:pt x="9811163" y="49274"/>
                  <a:pt x="9996817" y="25662"/>
                  <a:pt x="9820656" y="18288"/>
                </a:cubicBezTo>
                <a:cubicBezTo>
                  <a:pt x="9644495" y="10914"/>
                  <a:pt x="9607007" y="31631"/>
                  <a:pt x="9464040" y="18288"/>
                </a:cubicBezTo>
                <a:cubicBezTo>
                  <a:pt x="9321073" y="4945"/>
                  <a:pt x="9114189" y="28940"/>
                  <a:pt x="8778240" y="18288"/>
                </a:cubicBezTo>
                <a:cubicBezTo>
                  <a:pt x="8442291" y="7636"/>
                  <a:pt x="8594763" y="987"/>
                  <a:pt x="8421624" y="18288"/>
                </a:cubicBezTo>
                <a:cubicBezTo>
                  <a:pt x="8248485" y="35589"/>
                  <a:pt x="7929515" y="37573"/>
                  <a:pt x="7735824" y="18288"/>
                </a:cubicBezTo>
                <a:cubicBezTo>
                  <a:pt x="7542133" y="-997"/>
                  <a:pt x="7252504" y="33858"/>
                  <a:pt x="6940296" y="18288"/>
                </a:cubicBezTo>
                <a:cubicBezTo>
                  <a:pt x="6628088" y="2718"/>
                  <a:pt x="6528503" y="48389"/>
                  <a:pt x="6254496" y="18288"/>
                </a:cubicBezTo>
                <a:cubicBezTo>
                  <a:pt x="5980489" y="-11813"/>
                  <a:pt x="5695784" y="-3740"/>
                  <a:pt x="5458968" y="18288"/>
                </a:cubicBezTo>
                <a:cubicBezTo>
                  <a:pt x="5222152" y="40316"/>
                  <a:pt x="5010751" y="19095"/>
                  <a:pt x="4663440" y="18288"/>
                </a:cubicBezTo>
                <a:cubicBezTo>
                  <a:pt x="4316129" y="17481"/>
                  <a:pt x="4425552" y="1606"/>
                  <a:pt x="4306824" y="18288"/>
                </a:cubicBezTo>
                <a:cubicBezTo>
                  <a:pt x="4188096" y="34970"/>
                  <a:pt x="3941535" y="7481"/>
                  <a:pt x="3840480" y="18288"/>
                </a:cubicBezTo>
                <a:cubicBezTo>
                  <a:pt x="3739425" y="29095"/>
                  <a:pt x="3402388" y="17641"/>
                  <a:pt x="3264408" y="18288"/>
                </a:cubicBezTo>
                <a:cubicBezTo>
                  <a:pt x="3126428" y="18935"/>
                  <a:pt x="2776779" y="9983"/>
                  <a:pt x="2578608" y="18288"/>
                </a:cubicBezTo>
                <a:cubicBezTo>
                  <a:pt x="2380437" y="26593"/>
                  <a:pt x="1909468" y="25818"/>
                  <a:pt x="1673352" y="18288"/>
                </a:cubicBezTo>
                <a:cubicBezTo>
                  <a:pt x="1437236" y="10758"/>
                  <a:pt x="1131180" y="49884"/>
                  <a:pt x="877824" y="18288"/>
                </a:cubicBezTo>
                <a:cubicBezTo>
                  <a:pt x="624468" y="-13308"/>
                  <a:pt x="206753" y="2195"/>
                  <a:pt x="0" y="18288"/>
                </a:cubicBezTo>
                <a:cubicBezTo>
                  <a:pt x="313" y="10654"/>
                  <a:pt x="-263" y="4056"/>
                  <a:pt x="0" y="0"/>
                </a:cubicBezTo>
                <a:close/>
              </a:path>
              <a:path w="10972800" h="18288" stroke="0" extrusionOk="0">
                <a:moveTo>
                  <a:pt x="0" y="0"/>
                </a:moveTo>
                <a:cubicBezTo>
                  <a:pt x="164017" y="-17675"/>
                  <a:pt x="309425" y="9913"/>
                  <a:pt x="466344" y="0"/>
                </a:cubicBezTo>
                <a:cubicBezTo>
                  <a:pt x="623263" y="-9913"/>
                  <a:pt x="659300" y="-14524"/>
                  <a:pt x="822960" y="0"/>
                </a:cubicBezTo>
                <a:cubicBezTo>
                  <a:pt x="986620" y="14524"/>
                  <a:pt x="1105222" y="-16481"/>
                  <a:pt x="1289304" y="0"/>
                </a:cubicBezTo>
                <a:cubicBezTo>
                  <a:pt x="1473386" y="16481"/>
                  <a:pt x="1693223" y="26161"/>
                  <a:pt x="1975104" y="0"/>
                </a:cubicBezTo>
                <a:cubicBezTo>
                  <a:pt x="2256985" y="-26161"/>
                  <a:pt x="2435781" y="23061"/>
                  <a:pt x="2770632" y="0"/>
                </a:cubicBezTo>
                <a:cubicBezTo>
                  <a:pt x="3105483" y="-23061"/>
                  <a:pt x="3247479" y="-44011"/>
                  <a:pt x="3675888" y="0"/>
                </a:cubicBezTo>
                <a:cubicBezTo>
                  <a:pt x="4104297" y="44011"/>
                  <a:pt x="4280918" y="4017"/>
                  <a:pt x="4581144" y="0"/>
                </a:cubicBezTo>
                <a:cubicBezTo>
                  <a:pt x="4881370" y="-4017"/>
                  <a:pt x="5021699" y="-11889"/>
                  <a:pt x="5157216" y="0"/>
                </a:cubicBezTo>
                <a:cubicBezTo>
                  <a:pt x="5292733" y="11889"/>
                  <a:pt x="5603398" y="-17698"/>
                  <a:pt x="5952744" y="0"/>
                </a:cubicBezTo>
                <a:cubicBezTo>
                  <a:pt x="6302090" y="17698"/>
                  <a:pt x="6353093" y="-11909"/>
                  <a:pt x="6638544" y="0"/>
                </a:cubicBezTo>
                <a:cubicBezTo>
                  <a:pt x="6923995" y="11909"/>
                  <a:pt x="7053404" y="21630"/>
                  <a:pt x="7214616" y="0"/>
                </a:cubicBezTo>
                <a:cubicBezTo>
                  <a:pt x="7375828" y="-21630"/>
                  <a:pt x="7837963" y="3886"/>
                  <a:pt x="8010144" y="0"/>
                </a:cubicBezTo>
                <a:cubicBezTo>
                  <a:pt x="8182325" y="-3886"/>
                  <a:pt x="8224183" y="16009"/>
                  <a:pt x="8366760" y="0"/>
                </a:cubicBezTo>
                <a:cubicBezTo>
                  <a:pt x="8509337" y="-16009"/>
                  <a:pt x="8687920" y="-5720"/>
                  <a:pt x="8942832" y="0"/>
                </a:cubicBezTo>
                <a:cubicBezTo>
                  <a:pt x="9197744" y="5720"/>
                  <a:pt x="9368437" y="20479"/>
                  <a:pt x="9628632" y="0"/>
                </a:cubicBezTo>
                <a:cubicBezTo>
                  <a:pt x="9888827" y="-20479"/>
                  <a:pt x="10560858" y="-20746"/>
                  <a:pt x="10972800" y="0"/>
                </a:cubicBezTo>
                <a:cubicBezTo>
                  <a:pt x="10972186" y="5722"/>
                  <a:pt x="10972980" y="12495"/>
                  <a:pt x="10972800" y="18288"/>
                </a:cubicBezTo>
                <a:cubicBezTo>
                  <a:pt x="10786146" y="12536"/>
                  <a:pt x="10623717" y="14033"/>
                  <a:pt x="10506456" y="18288"/>
                </a:cubicBezTo>
                <a:cubicBezTo>
                  <a:pt x="10389195" y="22543"/>
                  <a:pt x="10296178" y="20107"/>
                  <a:pt x="10149840" y="18288"/>
                </a:cubicBezTo>
                <a:cubicBezTo>
                  <a:pt x="10003502" y="16469"/>
                  <a:pt x="9767530" y="28891"/>
                  <a:pt x="9464040" y="18288"/>
                </a:cubicBezTo>
                <a:cubicBezTo>
                  <a:pt x="9160550" y="7685"/>
                  <a:pt x="9229050" y="2659"/>
                  <a:pt x="8997696" y="18288"/>
                </a:cubicBezTo>
                <a:cubicBezTo>
                  <a:pt x="8766342" y="33917"/>
                  <a:pt x="8340136" y="34864"/>
                  <a:pt x="8092440" y="18288"/>
                </a:cubicBezTo>
                <a:cubicBezTo>
                  <a:pt x="7844744" y="1712"/>
                  <a:pt x="7863720" y="27405"/>
                  <a:pt x="7735824" y="18288"/>
                </a:cubicBezTo>
                <a:cubicBezTo>
                  <a:pt x="7607928" y="9171"/>
                  <a:pt x="7323619" y="461"/>
                  <a:pt x="7050024" y="18288"/>
                </a:cubicBezTo>
                <a:cubicBezTo>
                  <a:pt x="6776429" y="36115"/>
                  <a:pt x="6787899" y="28206"/>
                  <a:pt x="6693408" y="18288"/>
                </a:cubicBezTo>
                <a:cubicBezTo>
                  <a:pt x="6598917" y="8370"/>
                  <a:pt x="6395231" y="19114"/>
                  <a:pt x="6227064" y="18288"/>
                </a:cubicBezTo>
                <a:cubicBezTo>
                  <a:pt x="6058897" y="17462"/>
                  <a:pt x="5618582" y="1091"/>
                  <a:pt x="5431536" y="18288"/>
                </a:cubicBezTo>
                <a:cubicBezTo>
                  <a:pt x="5244490" y="35485"/>
                  <a:pt x="4729797" y="-9650"/>
                  <a:pt x="4526280" y="18288"/>
                </a:cubicBezTo>
                <a:cubicBezTo>
                  <a:pt x="4322763" y="46226"/>
                  <a:pt x="4216797" y="756"/>
                  <a:pt x="4059936" y="18288"/>
                </a:cubicBezTo>
                <a:cubicBezTo>
                  <a:pt x="3903075" y="35820"/>
                  <a:pt x="3537912" y="42098"/>
                  <a:pt x="3374136" y="18288"/>
                </a:cubicBezTo>
                <a:cubicBezTo>
                  <a:pt x="3210360" y="-5522"/>
                  <a:pt x="3126842" y="39135"/>
                  <a:pt x="2907792" y="18288"/>
                </a:cubicBezTo>
                <a:cubicBezTo>
                  <a:pt x="2688742" y="-2559"/>
                  <a:pt x="2490436" y="34100"/>
                  <a:pt x="2112264" y="18288"/>
                </a:cubicBezTo>
                <a:cubicBezTo>
                  <a:pt x="1734092" y="2476"/>
                  <a:pt x="1744622" y="-7274"/>
                  <a:pt x="1536192" y="18288"/>
                </a:cubicBezTo>
                <a:cubicBezTo>
                  <a:pt x="1327762" y="43850"/>
                  <a:pt x="1189025" y="6435"/>
                  <a:pt x="1069848" y="18288"/>
                </a:cubicBezTo>
                <a:cubicBezTo>
                  <a:pt x="950671" y="30141"/>
                  <a:pt x="858345" y="33684"/>
                  <a:pt x="713232" y="18288"/>
                </a:cubicBezTo>
                <a:cubicBezTo>
                  <a:pt x="568119" y="2892"/>
                  <a:pt x="250292" y="5410"/>
                  <a:pt x="0" y="18288"/>
                </a:cubicBezTo>
                <a:cubicBezTo>
                  <a:pt x="465" y="13062"/>
                  <a:pt x="-894" y="9029"/>
                  <a:pt x="0" y="0"/>
                </a:cubicBezTo>
                <a:close/>
              </a:path>
            </a:pathLst>
          </a:custGeom>
          <a:solidFill>
            <a:schemeClr val="accent2">
              <a:alpha val="75000"/>
            </a:schemeClr>
          </a:solidFill>
          <a:ln w="44450" cap="rnd">
            <a:solidFill>
              <a:schemeClr val="accent2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E254650-C24E-4898-3326-BC7626ABCED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72493" y="2071316"/>
            <a:ext cx="6713552" cy="411917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000" dirty="0" err="1"/>
              <a:t>Geht</a:t>
            </a:r>
            <a:r>
              <a:rPr lang="en-US" sz="2000" dirty="0"/>
              <a:t> es </a:t>
            </a:r>
            <a:r>
              <a:rPr lang="en-US" sz="2000" dirty="0" err="1"/>
              <a:t>besser</a:t>
            </a:r>
            <a:r>
              <a:rPr lang="en-US" sz="2000" dirty="0"/>
              <a:t> </a:t>
            </a:r>
            <a:r>
              <a:rPr lang="en-US" sz="2000" dirty="0" err="1"/>
              <a:t>als</a:t>
            </a:r>
            <a:r>
              <a:rPr lang="en-US" sz="2000" dirty="0"/>
              <a:t> C? </a:t>
            </a:r>
            <a:r>
              <a:rPr lang="en-US" sz="2000" dirty="0" err="1"/>
              <a:t>Jein</a:t>
            </a:r>
            <a:r>
              <a:rPr lang="en-US" sz="2000" dirty="0"/>
              <a:t>!  </a:t>
            </a:r>
          </a:p>
          <a:p>
            <a:r>
              <a:rPr lang="en-US" sz="2000" dirty="0"/>
              <a:t>In </a:t>
            </a:r>
            <a:r>
              <a:rPr lang="en-US" sz="2000" dirty="0" err="1"/>
              <a:t>Systemprogrammierung</a:t>
            </a:r>
            <a:r>
              <a:rPr lang="en-US" sz="2000" dirty="0"/>
              <a:t> </a:t>
            </a:r>
            <a:r>
              <a:rPr lang="en-US" sz="2000" dirty="0" err="1"/>
              <a:t>beschäftigen</a:t>
            </a:r>
            <a:r>
              <a:rPr lang="en-US" sz="2000" dirty="0"/>
              <a:t> </a:t>
            </a:r>
            <a:r>
              <a:rPr lang="en-US" sz="2000" dirty="0" err="1"/>
              <a:t>wir</a:t>
            </a:r>
            <a:r>
              <a:rPr lang="en-US" sz="2000" dirty="0"/>
              <a:t> </a:t>
            </a:r>
            <a:r>
              <a:rPr lang="en-US" sz="2000" dirty="0" err="1"/>
              <a:t>uns</a:t>
            </a:r>
            <a:r>
              <a:rPr lang="en-US" sz="2000" dirty="0"/>
              <a:t> </a:t>
            </a:r>
            <a:r>
              <a:rPr lang="en-US" sz="2000" dirty="0" err="1"/>
              <a:t>mit</a:t>
            </a:r>
            <a:r>
              <a:rPr lang="en-US" sz="2000" dirty="0"/>
              <a:t> </a:t>
            </a:r>
            <a:r>
              <a:rPr lang="en-US" sz="2000" dirty="0" err="1"/>
              <a:t>Betriebssystemen</a:t>
            </a:r>
            <a:endParaRPr lang="en-US" sz="2000" dirty="0"/>
          </a:p>
          <a:p>
            <a:pPr lvl="1"/>
            <a:r>
              <a:rPr lang="en-US" sz="2000" dirty="0" err="1"/>
              <a:t>Betriebssysteme</a:t>
            </a:r>
            <a:r>
              <a:rPr lang="en-US" sz="2000" dirty="0"/>
              <a:t> </a:t>
            </a:r>
            <a:r>
              <a:rPr lang="en-US" sz="2000" dirty="0" err="1"/>
              <a:t>sind</a:t>
            </a:r>
            <a:r>
              <a:rPr lang="en-US" sz="2000" dirty="0"/>
              <a:t> </a:t>
            </a:r>
            <a:r>
              <a:rPr lang="en-US" sz="2000" dirty="0" err="1"/>
              <a:t>im</a:t>
            </a:r>
            <a:r>
              <a:rPr lang="en-US" sz="2000" dirty="0"/>
              <a:t> Kern </a:t>
            </a:r>
            <a:r>
              <a:rPr lang="en-US" sz="2000" i="1" dirty="0"/>
              <a:t>„</a:t>
            </a:r>
            <a:r>
              <a:rPr lang="en-US" sz="2000" i="1" dirty="0" err="1"/>
              <a:t>einfach</a:t>
            </a:r>
            <a:r>
              <a:rPr lang="en-US" sz="2000" i="1" dirty="0"/>
              <a:t> </a:t>
            </a:r>
            <a:r>
              <a:rPr lang="en-US" sz="2000" i="1" dirty="0" err="1"/>
              <a:t>nur</a:t>
            </a:r>
            <a:r>
              <a:rPr lang="en-US" sz="2000" i="1" dirty="0"/>
              <a:t>“ </a:t>
            </a:r>
            <a:r>
              <a:rPr lang="en-US" sz="2000" b="1" dirty="0" err="1"/>
              <a:t>komplexe</a:t>
            </a:r>
            <a:r>
              <a:rPr lang="en-US" sz="2000" b="1" dirty="0"/>
              <a:t> </a:t>
            </a:r>
            <a:r>
              <a:rPr lang="en-US" sz="2000" b="1" dirty="0" err="1"/>
              <a:t>Speichermanipulation</a:t>
            </a:r>
            <a:endParaRPr lang="en-US" sz="2000" b="1" dirty="0"/>
          </a:p>
          <a:p>
            <a:r>
              <a:rPr lang="en-US" sz="2000" dirty="0"/>
              <a:t>C </a:t>
            </a:r>
            <a:r>
              <a:rPr lang="en-US" sz="2000" dirty="0" err="1"/>
              <a:t>ist</a:t>
            </a:r>
            <a:r>
              <a:rPr lang="en-US" sz="2000" dirty="0"/>
              <a:t> </a:t>
            </a:r>
            <a:r>
              <a:rPr lang="en-US" sz="2000" dirty="0" err="1"/>
              <a:t>eine</a:t>
            </a:r>
            <a:r>
              <a:rPr lang="en-US" sz="2000" dirty="0"/>
              <a:t> </a:t>
            </a:r>
            <a:r>
              <a:rPr lang="en-US" sz="2000" b="1" dirty="0" err="1"/>
              <a:t>maschinennahe</a:t>
            </a:r>
            <a:r>
              <a:rPr lang="en-US" sz="2000" dirty="0"/>
              <a:t> </a:t>
            </a:r>
            <a:r>
              <a:rPr lang="en-US" sz="2000" dirty="0" err="1"/>
              <a:t>Sprache</a:t>
            </a:r>
            <a:r>
              <a:rPr lang="en-US" sz="2000" dirty="0"/>
              <a:t>, </a:t>
            </a:r>
            <a:r>
              <a:rPr lang="en-US" sz="2000" dirty="0" err="1"/>
              <a:t>d.h.</a:t>
            </a:r>
            <a:endParaRPr lang="en-US" sz="2000" dirty="0"/>
          </a:p>
          <a:p>
            <a:pPr lvl="1"/>
            <a:r>
              <a:rPr lang="en-US" sz="2000" dirty="0" err="1"/>
              <a:t>Relativ</a:t>
            </a:r>
            <a:r>
              <a:rPr lang="en-US" sz="2000" dirty="0"/>
              <a:t> </a:t>
            </a:r>
            <a:r>
              <a:rPr lang="en-US" sz="2000" dirty="0" err="1"/>
              <a:t>geringe</a:t>
            </a:r>
            <a:r>
              <a:rPr lang="en-US" sz="2000" dirty="0"/>
              <a:t> </a:t>
            </a:r>
            <a:r>
              <a:rPr lang="en-US" sz="2000" dirty="0" err="1"/>
              <a:t>Abstraktion</a:t>
            </a:r>
            <a:r>
              <a:rPr lang="en-US" sz="2000" dirty="0"/>
              <a:t> von was/</a:t>
            </a:r>
            <a:r>
              <a:rPr lang="en-US" sz="2000" dirty="0" err="1"/>
              <a:t>wie</a:t>
            </a:r>
            <a:r>
              <a:rPr lang="en-US" sz="2000" dirty="0"/>
              <a:t> der </a:t>
            </a:r>
            <a:r>
              <a:rPr lang="en-US" sz="2000" dirty="0" err="1"/>
              <a:t>Rechner</a:t>
            </a:r>
            <a:r>
              <a:rPr lang="en-US" sz="2000" dirty="0"/>
              <a:t> </a:t>
            </a:r>
            <a:r>
              <a:rPr lang="en-US" sz="2000" dirty="0" err="1"/>
              <a:t>arbeitet</a:t>
            </a:r>
            <a:r>
              <a:rPr lang="en-US" sz="2000" dirty="0"/>
              <a:t>, und </a:t>
            </a:r>
            <a:r>
              <a:rPr lang="en-US" sz="2000" dirty="0" err="1"/>
              <a:t>wie</a:t>
            </a:r>
            <a:r>
              <a:rPr lang="en-US" sz="2000" dirty="0"/>
              <a:t> </a:t>
            </a:r>
            <a:r>
              <a:rPr lang="en-US" sz="2000" dirty="0" err="1"/>
              <a:t>wir</a:t>
            </a:r>
            <a:r>
              <a:rPr lang="en-US" sz="2000" dirty="0"/>
              <a:t> Code </a:t>
            </a:r>
            <a:r>
              <a:rPr lang="en-US" sz="2000" dirty="0" err="1"/>
              <a:t>schreiben</a:t>
            </a:r>
            <a:endParaRPr lang="en-US" sz="2000" dirty="0"/>
          </a:p>
          <a:p>
            <a:pPr lvl="1"/>
            <a:r>
              <a:rPr lang="en-US" sz="2000" dirty="0" err="1"/>
              <a:t>Kontrolle</a:t>
            </a:r>
            <a:r>
              <a:rPr lang="en-US" sz="2000" dirty="0"/>
              <a:t> </a:t>
            </a:r>
            <a:r>
              <a:rPr lang="en-US" sz="2000" dirty="0" err="1"/>
              <a:t>über</a:t>
            </a:r>
            <a:r>
              <a:rPr lang="en-US" sz="2000" dirty="0"/>
              <a:t> Speicher </a:t>
            </a:r>
            <a:r>
              <a:rPr lang="en-US" sz="2000" dirty="0" err="1"/>
              <a:t>aufs</a:t>
            </a:r>
            <a:r>
              <a:rPr lang="en-US" sz="2000" dirty="0"/>
              <a:t> Bit </a:t>
            </a:r>
            <a:r>
              <a:rPr lang="en-US" sz="2000" dirty="0" err="1"/>
              <a:t>genau</a:t>
            </a:r>
            <a:r>
              <a:rPr lang="en-US" sz="2000" dirty="0"/>
              <a:t> </a:t>
            </a:r>
            <a:r>
              <a:rPr lang="en-US" sz="2000" dirty="0" err="1"/>
              <a:t>möglich</a:t>
            </a:r>
            <a:endParaRPr lang="en-US" sz="2000" dirty="0"/>
          </a:p>
          <a:p>
            <a:pPr lvl="1"/>
            <a:r>
              <a:rPr lang="en-US" sz="2000" dirty="0"/>
              <a:t>Daher, </a:t>
            </a:r>
            <a:r>
              <a:rPr lang="en-US" sz="2000" b="1" dirty="0"/>
              <a:t>de-facto Standard </a:t>
            </a:r>
            <a:r>
              <a:rPr lang="en-US" sz="2000" dirty="0"/>
              <a:t>für die BS-</a:t>
            </a:r>
            <a:r>
              <a:rPr lang="en-US" sz="2000" dirty="0" err="1"/>
              <a:t>Entwicklung</a:t>
            </a:r>
            <a:endParaRPr lang="en-US" sz="2000" dirty="0"/>
          </a:p>
          <a:p>
            <a:r>
              <a:rPr lang="en-US" sz="2000" dirty="0" err="1"/>
              <a:t>Sprachen</a:t>
            </a:r>
            <a:r>
              <a:rPr lang="en-US" sz="2000" dirty="0"/>
              <a:t> </a:t>
            </a:r>
            <a:r>
              <a:rPr lang="en-US" sz="2000" dirty="0" err="1"/>
              <a:t>wie</a:t>
            </a:r>
            <a:r>
              <a:rPr lang="en-US" sz="2000" dirty="0"/>
              <a:t> Python </a:t>
            </a:r>
            <a:r>
              <a:rPr lang="en-US" sz="2000" dirty="0" err="1"/>
              <a:t>oder</a:t>
            </a:r>
            <a:r>
              <a:rPr lang="en-US" sz="2000" dirty="0"/>
              <a:t> JavaScript </a:t>
            </a:r>
            <a:r>
              <a:rPr lang="en-US" sz="2000" dirty="0" err="1"/>
              <a:t>weisen</a:t>
            </a:r>
            <a:r>
              <a:rPr lang="en-US" sz="2000" dirty="0"/>
              <a:t> “</a:t>
            </a:r>
            <a:r>
              <a:rPr lang="en-US" sz="2000" dirty="0" err="1"/>
              <a:t>zu</a:t>
            </a:r>
            <a:r>
              <a:rPr lang="en-US" sz="2000" dirty="0"/>
              <a:t> </a:t>
            </a:r>
            <a:r>
              <a:rPr lang="en-US" sz="2000" dirty="0" err="1"/>
              <a:t>hohe</a:t>
            </a:r>
            <a:r>
              <a:rPr lang="en-US" sz="2000" dirty="0"/>
              <a:t>” </a:t>
            </a:r>
            <a:r>
              <a:rPr lang="en-US" sz="2000" dirty="0" err="1"/>
              <a:t>Abstraktion</a:t>
            </a:r>
            <a:r>
              <a:rPr lang="en-US" sz="2000" dirty="0"/>
              <a:t> auf </a:t>
            </a:r>
          </a:p>
          <a:p>
            <a:endParaRPr lang="en-US" sz="2000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D2F620A-F6CC-AC28-77E6-C98B153288C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5394" r="19539" b="-1"/>
          <a:stretch/>
        </p:blipFill>
        <p:spPr>
          <a:xfrm>
            <a:off x="7675658" y="2093976"/>
            <a:ext cx="3941064" cy="4096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49328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8772F90-184B-AC8D-2609-382E268620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Warum C?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98237D4-3153-FF1F-5C39-21D7673693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30936" y="2660904"/>
            <a:ext cx="4818888" cy="3547872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l">
              <a:buFontTx/>
              <a:buChar char="-"/>
            </a:pPr>
            <a:r>
              <a:rPr lang="de-DE" sz="2200" b="1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Calibri" panose="020F0502020204030204" pitchFamily="34" charset="0"/>
                <a:cs typeface="Calibri" panose="020F0502020204030204" pitchFamily="34" charset="0"/>
              </a:rPr>
              <a:t>Motivation außerhalb des Kurses:</a:t>
            </a:r>
            <a:endParaRPr lang="de-DE" sz="2200" dirty="0">
              <a:solidFill>
                <a:srgbClr val="0D0D0D"/>
              </a:solidFill>
              <a:highlight>
                <a:srgbClr val="FFFFFF"/>
              </a:highlight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>
              <a:buFontTx/>
              <a:buChar char="-"/>
            </a:pPr>
            <a:r>
              <a:rPr lang="de-DE" sz="19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Calibri" panose="020F0502020204030204" pitchFamily="34" charset="0"/>
                <a:cs typeface="Calibri" panose="020F0502020204030204" pitchFamily="34" charset="0"/>
              </a:rPr>
              <a:t>C zu lernen, </a:t>
            </a:r>
            <a:r>
              <a:rPr lang="de-DE" sz="1900" b="1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Calibri" panose="020F0502020204030204" pitchFamily="34" charset="0"/>
                <a:cs typeface="Calibri" panose="020F0502020204030204" pitchFamily="34" charset="0"/>
              </a:rPr>
              <a:t>beschleunigt</a:t>
            </a:r>
            <a:r>
              <a:rPr lang="de-DE" sz="19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Calibri" panose="020F0502020204030204" pitchFamily="34" charset="0"/>
                <a:cs typeface="Calibri" panose="020F0502020204030204" pitchFamily="34" charset="0"/>
              </a:rPr>
              <a:t> das Erlernen jeder anderen Programmiersprache</a:t>
            </a:r>
          </a:p>
          <a:p>
            <a:pPr lvl="1">
              <a:buFontTx/>
              <a:buChar char="-"/>
            </a:pPr>
            <a:r>
              <a:rPr lang="de-DE" sz="19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Calibri" panose="020F0502020204030204" pitchFamily="34" charset="0"/>
                <a:cs typeface="Calibri" panose="020F0502020204030204" pitchFamily="34" charset="0"/>
              </a:rPr>
              <a:t>Durch das Erlernen von C erhält man Einblicke, </a:t>
            </a:r>
            <a:r>
              <a:rPr lang="de-DE" sz="1900" b="1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Calibri" panose="020F0502020204030204" pitchFamily="34" charset="0"/>
                <a:cs typeface="Calibri" panose="020F0502020204030204" pitchFamily="34" charset="0"/>
              </a:rPr>
              <a:t>welche Vorteile andere Sprachen bieten </a:t>
            </a:r>
            <a:r>
              <a:rPr lang="de-DE" sz="19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Calibri" panose="020F0502020204030204" pitchFamily="34" charset="0"/>
                <a:cs typeface="Calibri" panose="020F0502020204030204" pitchFamily="34" charset="0"/>
              </a:rPr>
              <a:t>und welche Laufzeitkosten damit einhergehen</a:t>
            </a:r>
          </a:p>
          <a:p>
            <a:pPr lvl="1">
              <a:buFontTx/>
              <a:buChar char="-"/>
            </a:pPr>
            <a:r>
              <a:rPr lang="de-DE" sz="19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Calibri" panose="020F0502020204030204" pitchFamily="34" charset="0"/>
                <a:cs typeface="Calibri" panose="020F0502020204030204" pitchFamily="34" charset="0"/>
              </a:rPr>
              <a:t>Das Verständnis von C ermöglicht ein </a:t>
            </a:r>
            <a:r>
              <a:rPr lang="de-DE" sz="1900" b="1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Calibri" panose="020F0502020204030204" pitchFamily="34" charset="0"/>
                <a:cs typeface="Calibri" panose="020F0502020204030204" pitchFamily="34" charset="0"/>
              </a:rPr>
              <a:t>tieferes Verständnis </a:t>
            </a:r>
            <a:r>
              <a:rPr lang="de-DE" sz="19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Calibri" panose="020F0502020204030204" pitchFamily="34" charset="0"/>
                <a:cs typeface="Calibri" panose="020F0502020204030204" pitchFamily="34" charset="0"/>
              </a:rPr>
              <a:t>dafür, wie Computer tatsächlich arbeiten</a:t>
            </a:r>
          </a:p>
          <a:p>
            <a:pPr lvl="1"/>
            <a:endParaRPr lang="en-US" sz="2000" dirty="0"/>
          </a:p>
        </p:txBody>
      </p:sp>
      <p:pic>
        <p:nvPicPr>
          <p:cNvPr id="7" name="Graphic 6" descr="Head with Gears">
            <a:extLst>
              <a:ext uri="{FF2B5EF4-FFF2-40B4-BE49-F238E27FC236}">
                <a16:creationId xmlns:a16="http://schemas.microsoft.com/office/drawing/2014/main" id="{9D0582A5-D0FC-179E-B815-7F6D367873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9048" y="699516"/>
            <a:ext cx="5458968" cy="5458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81898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2EB492CD-616E-47F8-933B-5E2D952A0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59383CF9-23B5-4335-9B21-1791C4CF1C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3967198" flipH="1">
            <a:off x="8631348" y="490493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5A9DB95-A440-3358-1342-51B89F21CD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94962" y="479493"/>
            <a:ext cx="5458838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C-Basics 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0007FE00-9498-4706-B255-6437B0252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486400"/>
            <a:ext cx="2672863" cy="13716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Onlinemedien 4" descr="C-Kurs für Einsteiger [C-Kurs Kapitel 1]">
            <a:hlinkClick r:id="" action="ppaction://media"/>
            <a:extLst>
              <a:ext uri="{FF2B5EF4-FFF2-40B4-BE49-F238E27FC236}">
                <a16:creationId xmlns:a16="http://schemas.microsoft.com/office/drawing/2014/main" id="{8A89FB5C-E002-BE3A-86CC-CF97E1D1DD69}"/>
              </a:ext>
            </a:extLst>
          </p:cNvPr>
          <p:cNvPicPr>
            <a:picLocks noGrp="1" noRot="1" noChangeAspect="1"/>
          </p:cNvPicPr>
          <p:nvPr>
            <p:ph sz="half" idx="1"/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703182" y="1994518"/>
            <a:ext cx="4777381" cy="2699220"/>
          </a:xfrm>
          <a:custGeom>
            <a:avLst/>
            <a:gdLst/>
            <a:ahLst/>
            <a:cxnLst/>
            <a:rect l="l" t="t" r="r" b="b"/>
            <a:pathLst>
              <a:path w="4777381" h="5643794">
                <a:moveTo>
                  <a:pt x="143704" y="0"/>
                </a:moveTo>
                <a:lnTo>
                  <a:pt x="4633677" y="0"/>
                </a:lnTo>
                <a:cubicBezTo>
                  <a:pt x="4713043" y="0"/>
                  <a:pt x="4777381" y="64338"/>
                  <a:pt x="4777381" y="143704"/>
                </a:cubicBezTo>
                <a:lnTo>
                  <a:pt x="4777381" y="5500090"/>
                </a:lnTo>
                <a:cubicBezTo>
                  <a:pt x="4777381" y="5579456"/>
                  <a:pt x="4713043" y="5643794"/>
                  <a:pt x="4633677" y="5643794"/>
                </a:cubicBezTo>
                <a:lnTo>
                  <a:pt x="143704" y="5643794"/>
                </a:lnTo>
                <a:cubicBezTo>
                  <a:pt x="64338" y="5643794"/>
                  <a:pt x="0" y="5579456"/>
                  <a:pt x="0" y="5500090"/>
                </a:cubicBezTo>
                <a:lnTo>
                  <a:pt x="0" y="143704"/>
                </a:lnTo>
                <a:cubicBezTo>
                  <a:pt x="0" y="64338"/>
                  <a:pt x="64338" y="0"/>
                  <a:pt x="143704" y="0"/>
                </a:cubicBezTo>
                <a:close/>
              </a:path>
            </a:pathLst>
          </a:cu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02BB3D15-6DE6-23EE-67FC-4207CB20044E}"/>
              </a:ext>
            </a:extLst>
          </p:cNvPr>
          <p:cNvSpPr txBox="1"/>
          <p:nvPr/>
        </p:nvSpPr>
        <p:spPr>
          <a:xfrm>
            <a:off x="5894962" y="1984443"/>
            <a:ext cx="5458838" cy="41925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 err="1"/>
              <a:t>Wenn</a:t>
            </a:r>
            <a:r>
              <a:rPr lang="en-US" sz="1400" dirty="0"/>
              <a:t> </a:t>
            </a:r>
            <a:r>
              <a:rPr lang="en-US" sz="1400" dirty="0" err="1"/>
              <a:t>ihr</a:t>
            </a:r>
            <a:r>
              <a:rPr lang="en-US" sz="1400" dirty="0"/>
              <a:t> </a:t>
            </a:r>
            <a:r>
              <a:rPr lang="en-US" sz="1400" dirty="0" err="1"/>
              <a:t>noch</a:t>
            </a:r>
            <a:r>
              <a:rPr lang="en-US" sz="1400" dirty="0"/>
              <a:t> NIE </a:t>
            </a:r>
            <a:r>
              <a:rPr lang="en-US" sz="1400" dirty="0" err="1"/>
              <a:t>programmiert</a:t>
            </a:r>
            <a:r>
              <a:rPr lang="en-US" sz="1400" dirty="0"/>
              <a:t> </a:t>
            </a:r>
            <a:r>
              <a:rPr lang="en-US" sz="1400" dirty="0" err="1"/>
              <a:t>habt</a:t>
            </a:r>
            <a:r>
              <a:rPr lang="en-US" sz="1400" dirty="0"/>
              <a:t>, </a:t>
            </a:r>
            <a:r>
              <a:rPr lang="en-US" sz="1400" dirty="0" err="1"/>
              <a:t>dann</a:t>
            </a:r>
            <a:r>
              <a:rPr lang="en-US" sz="1400" dirty="0"/>
              <a:t> </a:t>
            </a:r>
            <a:r>
              <a:rPr lang="en-US" sz="1400" dirty="0" err="1"/>
              <a:t>schaut</a:t>
            </a:r>
            <a:r>
              <a:rPr lang="en-US" sz="1400" dirty="0"/>
              <a:t> in den (von </a:t>
            </a:r>
            <a:r>
              <a:rPr lang="en-US" sz="1400" dirty="0" err="1"/>
              <a:t>unserem</a:t>
            </a:r>
            <a:r>
              <a:rPr lang="en-US" sz="1400" dirty="0"/>
              <a:t> Tutor Timo) </a:t>
            </a:r>
            <a:r>
              <a:rPr lang="en-US" sz="1400" dirty="0" err="1"/>
              <a:t>vorbereiteten</a:t>
            </a:r>
            <a:r>
              <a:rPr lang="en-US" sz="1400" dirty="0"/>
              <a:t> Video-</a:t>
            </a:r>
            <a:r>
              <a:rPr lang="en-US" sz="1400" dirty="0" err="1"/>
              <a:t>Kurs</a:t>
            </a:r>
            <a:r>
              <a:rPr lang="en-US" sz="1400" dirty="0"/>
              <a:t> </a:t>
            </a:r>
            <a:r>
              <a:rPr lang="en-US" sz="1400" dirty="0" err="1"/>
              <a:t>vorbei</a:t>
            </a:r>
            <a:r>
              <a:rPr lang="en-US" sz="1400" dirty="0"/>
              <a:t>!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 err="1"/>
              <a:t>Schaut</a:t>
            </a:r>
            <a:r>
              <a:rPr lang="en-US" sz="1400" dirty="0"/>
              <a:t> in den </a:t>
            </a:r>
            <a:r>
              <a:rPr lang="en-US" sz="1400" dirty="0" err="1"/>
              <a:t>Kurs</a:t>
            </a:r>
            <a:r>
              <a:rPr lang="en-US" sz="1400" dirty="0"/>
              <a:t> rein, </a:t>
            </a:r>
            <a:r>
              <a:rPr lang="en-US" sz="1400" dirty="0" err="1"/>
              <a:t>wenn</a:t>
            </a:r>
            <a:r>
              <a:rPr lang="en-US" sz="1400" dirty="0"/>
              <a:t> </a:t>
            </a:r>
            <a:r>
              <a:rPr lang="en-US" sz="1400" dirty="0" err="1"/>
              <a:t>ihr</a:t>
            </a:r>
            <a:r>
              <a:rPr lang="en-US" sz="1400" dirty="0"/>
              <a:t> </a:t>
            </a:r>
            <a:r>
              <a:rPr lang="en-US" sz="1400" dirty="0" err="1"/>
              <a:t>eines</a:t>
            </a:r>
            <a:r>
              <a:rPr lang="en-US" sz="1400" dirty="0"/>
              <a:t> der </a:t>
            </a:r>
            <a:r>
              <a:rPr lang="en-US" sz="1400" dirty="0" err="1"/>
              <a:t>Folgenden</a:t>
            </a:r>
            <a:r>
              <a:rPr lang="en-US" sz="1400" dirty="0"/>
              <a:t> </a:t>
            </a:r>
            <a:r>
              <a:rPr lang="en-US" sz="1400" dirty="0" err="1"/>
              <a:t>nicht</a:t>
            </a:r>
            <a:r>
              <a:rPr lang="en-US" sz="1400" dirty="0"/>
              <a:t> </a:t>
            </a:r>
            <a:r>
              <a:rPr lang="en-US" sz="1400" dirty="0" err="1"/>
              <a:t>kennt</a:t>
            </a:r>
            <a:r>
              <a:rPr lang="en-US" sz="1400" dirty="0"/>
              <a:t>:</a:t>
            </a:r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 err="1"/>
              <a:t>Variablen</a:t>
            </a:r>
            <a:r>
              <a:rPr lang="en-US" sz="1400" dirty="0"/>
              <a:t> und </a:t>
            </a:r>
            <a:r>
              <a:rPr lang="en-US" sz="1400" dirty="0" err="1"/>
              <a:t>Datentypen</a:t>
            </a:r>
            <a:endParaRPr lang="en-US" sz="1400" dirty="0"/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Structs (</a:t>
            </a:r>
            <a:r>
              <a:rPr lang="en-US" sz="1400" dirty="0" err="1"/>
              <a:t>Zusammengesetzte</a:t>
            </a:r>
            <a:r>
              <a:rPr lang="en-US" sz="1400" dirty="0"/>
              <a:t> </a:t>
            </a:r>
            <a:r>
              <a:rPr lang="en-US" sz="1400" dirty="0" err="1"/>
              <a:t>Datentypen</a:t>
            </a:r>
            <a:r>
              <a:rPr lang="en-US" sz="1400" dirty="0"/>
              <a:t>)</a:t>
            </a:r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Arrays</a:t>
            </a:r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 err="1"/>
              <a:t>Bedingte</a:t>
            </a:r>
            <a:r>
              <a:rPr lang="en-US" sz="1400" dirty="0"/>
              <a:t> </a:t>
            </a:r>
            <a:r>
              <a:rPr lang="en-US" sz="1400" dirty="0" err="1"/>
              <a:t>Codeausführung</a:t>
            </a:r>
            <a:endParaRPr lang="en-US" sz="1400" dirty="0"/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 err="1"/>
              <a:t>Schleifen</a:t>
            </a:r>
            <a:endParaRPr lang="en-US" sz="1400" dirty="0"/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 err="1"/>
              <a:t>Adressen</a:t>
            </a:r>
            <a:r>
              <a:rPr lang="en-US" sz="1400" dirty="0"/>
              <a:t> und Pointer</a:t>
            </a:r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 err="1"/>
              <a:t>Funktionen</a:t>
            </a:r>
            <a:endParaRPr lang="en-US" sz="1400" dirty="0"/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 err="1"/>
              <a:t>Dynamsiche</a:t>
            </a:r>
            <a:r>
              <a:rPr lang="en-US" sz="1400" dirty="0"/>
              <a:t> </a:t>
            </a:r>
            <a:r>
              <a:rPr lang="en-US" sz="1400" dirty="0" err="1"/>
              <a:t>Speicherverwaltung</a:t>
            </a:r>
            <a:endParaRPr lang="en-US" sz="1400" dirty="0"/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Chars und Strings</a:t>
            </a:r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 err="1"/>
              <a:t>Bitweise</a:t>
            </a:r>
            <a:r>
              <a:rPr lang="en-US" sz="1400" dirty="0"/>
              <a:t> </a:t>
            </a:r>
            <a:r>
              <a:rPr lang="en-US" sz="1400" dirty="0" err="1"/>
              <a:t>Operationen</a:t>
            </a:r>
            <a:endParaRPr lang="en-US" sz="1400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 err="1"/>
              <a:t>Ihr</a:t>
            </a:r>
            <a:r>
              <a:rPr lang="en-US" sz="1400" dirty="0"/>
              <a:t> </a:t>
            </a:r>
            <a:r>
              <a:rPr lang="en-US" sz="1400" dirty="0" err="1"/>
              <a:t>findet</a:t>
            </a:r>
            <a:r>
              <a:rPr lang="en-US" sz="1400" dirty="0"/>
              <a:t> den </a:t>
            </a:r>
            <a:r>
              <a:rPr lang="en-US" sz="1400" dirty="0" err="1"/>
              <a:t>Kurs</a:t>
            </a:r>
            <a:r>
              <a:rPr lang="en-US" sz="1400" dirty="0"/>
              <a:t> </a:t>
            </a:r>
            <a:r>
              <a:rPr lang="en-US" sz="1400" dirty="0" err="1"/>
              <a:t>auch</a:t>
            </a:r>
            <a:r>
              <a:rPr lang="en-US" sz="1400" dirty="0"/>
              <a:t> auf ISIS </a:t>
            </a:r>
            <a:r>
              <a:rPr lang="en-US" sz="1400" dirty="0" err="1"/>
              <a:t>verlinkt</a:t>
            </a:r>
            <a:r>
              <a:rPr lang="en-US" sz="1400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25003746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2EB492CD-616E-47F8-933B-5E2D952A0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59383CF9-23B5-4335-9B21-1791C4CF1C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3967198" flipH="1">
            <a:off x="8631348" y="490493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5A9DB95-A440-3358-1342-51B89F21CD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94962" y="479493"/>
            <a:ext cx="5458838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C-Basics 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0007FE00-9498-4706-B255-6437B0252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486400"/>
            <a:ext cx="2672863" cy="13716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Onlinemedien 4" descr="C-Kurs für Einsteiger [C-Kurs Kapitel 1]">
            <a:hlinkClick r:id="" action="ppaction://media"/>
            <a:extLst>
              <a:ext uri="{FF2B5EF4-FFF2-40B4-BE49-F238E27FC236}">
                <a16:creationId xmlns:a16="http://schemas.microsoft.com/office/drawing/2014/main" id="{8A89FB5C-E002-BE3A-86CC-CF97E1D1DD69}"/>
              </a:ext>
            </a:extLst>
          </p:cNvPr>
          <p:cNvPicPr>
            <a:picLocks noGrp="1" noRot="1" noChangeAspect="1"/>
          </p:cNvPicPr>
          <p:nvPr>
            <p:ph sz="half" idx="1"/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703182" y="1994518"/>
            <a:ext cx="4777381" cy="2699220"/>
          </a:xfrm>
          <a:custGeom>
            <a:avLst/>
            <a:gdLst/>
            <a:ahLst/>
            <a:cxnLst/>
            <a:rect l="l" t="t" r="r" b="b"/>
            <a:pathLst>
              <a:path w="4777381" h="5643794">
                <a:moveTo>
                  <a:pt x="143704" y="0"/>
                </a:moveTo>
                <a:lnTo>
                  <a:pt x="4633677" y="0"/>
                </a:lnTo>
                <a:cubicBezTo>
                  <a:pt x="4713043" y="0"/>
                  <a:pt x="4777381" y="64338"/>
                  <a:pt x="4777381" y="143704"/>
                </a:cubicBezTo>
                <a:lnTo>
                  <a:pt x="4777381" y="5500090"/>
                </a:lnTo>
                <a:cubicBezTo>
                  <a:pt x="4777381" y="5579456"/>
                  <a:pt x="4713043" y="5643794"/>
                  <a:pt x="4633677" y="5643794"/>
                </a:cubicBezTo>
                <a:lnTo>
                  <a:pt x="143704" y="5643794"/>
                </a:lnTo>
                <a:cubicBezTo>
                  <a:pt x="64338" y="5643794"/>
                  <a:pt x="0" y="5579456"/>
                  <a:pt x="0" y="5500090"/>
                </a:cubicBezTo>
                <a:lnTo>
                  <a:pt x="0" y="143704"/>
                </a:lnTo>
                <a:cubicBezTo>
                  <a:pt x="0" y="64338"/>
                  <a:pt x="64338" y="0"/>
                  <a:pt x="143704" y="0"/>
                </a:cubicBezTo>
                <a:close/>
              </a:path>
            </a:pathLst>
          </a:cu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02BB3D15-6DE6-23EE-67FC-4207CB20044E}"/>
              </a:ext>
            </a:extLst>
          </p:cNvPr>
          <p:cNvSpPr txBox="1"/>
          <p:nvPr/>
        </p:nvSpPr>
        <p:spPr>
          <a:xfrm>
            <a:off x="5894962" y="1984443"/>
            <a:ext cx="5458838" cy="41925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 err="1"/>
              <a:t>Wenn</a:t>
            </a:r>
            <a:r>
              <a:rPr lang="en-US" sz="1400" dirty="0"/>
              <a:t> </a:t>
            </a:r>
            <a:r>
              <a:rPr lang="en-US" sz="1400" dirty="0" err="1"/>
              <a:t>ihr</a:t>
            </a:r>
            <a:r>
              <a:rPr lang="en-US" sz="1400" dirty="0"/>
              <a:t> </a:t>
            </a:r>
            <a:r>
              <a:rPr lang="en-US" sz="1400" dirty="0" err="1"/>
              <a:t>noch</a:t>
            </a:r>
            <a:r>
              <a:rPr lang="en-US" sz="1400" dirty="0"/>
              <a:t> NIE </a:t>
            </a:r>
            <a:r>
              <a:rPr lang="en-US" sz="1400" dirty="0" err="1"/>
              <a:t>programmiert</a:t>
            </a:r>
            <a:r>
              <a:rPr lang="en-US" sz="1400" dirty="0"/>
              <a:t> </a:t>
            </a:r>
            <a:r>
              <a:rPr lang="en-US" sz="1400" dirty="0" err="1"/>
              <a:t>habt</a:t>
            </a:r>
            <a:r>
              <a:rPr lang="en-US" sz="1400" dirty="0"/>
              <a:t>, </a:t>
            </a:r>
            <a:r>
              <a:rPr lang="en-US" sz="1400" dirty="0" err="1"/>
              <a:t>dann</a:t>
            </a:r>
            <a:r>
              <a:rPr lang="en-US" sz="1400" dirty="0"/>
              <a:t> </a:t>
            </a:r>
            <a:r>
              <a:rPr lang="en-US" sz="1400" dirty="0" err="1"/>
              <a:t>schaut</a:t>
            </a:r>
            <a:r>
              <a:rPr lang="en-US" sz="1400" dirty="0"/>
              <a:t> in den (von </a:t>
            </a:r>
            <a:r>
              <a:rPr lang="en-US" sz="1400" dirty="0" err="1"/>
              <a:t>unserem</a:t>
            </a:r>
            <a:r>
              <a:rPr lang="en-US" sz="1400" dirty="0"/>
              <a:t> Tutor Timo) </a:t>
            </a:r>
            <a:r>
              <a:rPr lang="en-US" sz="1400" dirty="0" err="1"/>
              <a:t>vorbereiteten</a:t>
            </a:r>
            <a:r>
              <a:rPr lang="en-US" sz="1400" dirty="0"/>
              <a:t> Video-</a:t>
            </a:r>
            <a:r>
              <a:rPr lang="en-US" sz="1400" dirty="0" err="1"/>
              <a:t>Kurs</a:t>
            </a:r>
            <a:r>
              <a:rPr lang="en-US" sz="1400" dirty="0"/>
              <a:t> </a:t>
            </a:r>
            <a:r>
              <a:rPr lang="en-US" sz="1400" dirty="0" err="1"/>
              <a:t>vorbei</a:t>
            </a:r>
            <a:r>
              <a:rPr lang="en-US" sz="1400" dirty="0"/>
              <a:t>!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 err="1"/>
              <a:t>Schaut</a:t>
            </a:r>
            <a:r>
              <a:rPr lang="en-US" sz="1400" dirty="0"/>
              <a:t> in den </a:t>
            </a:r>
            <a:r>
              <a:rPr lang="en-US" sz="1400" dirty="0" err="1"/>
              <a:t>Kurs</a:t>
            </a:r>
            <a:r>
              <a:rPr lang="en-US" sz="1400" dirty="0"/>
              <a:t> rein, </a:t>
            </a:r>
            <a:r>
              <a:rPr lang="en-US" sz="1400" dirty="0" err="1"/>
              <a:t>wenn</a:t>
            </a:r>
            <a:r>
              <a:rPr lang="en-US" sz="1400" dirty="0"/>
              <a:t> </a:t>
            </a:r>
            <a:r>
              <a:rPr lang="en-US" sz="1400" dirty="0" err="1"/>
              <a:t>ihr</a:t>
            </a:r>
            <a:r>
              <a:rPr lang="en-US" sz="1400" dirty="0"/>
              <a:t> </a:t>
            </a:r>
            <a:r>
              <a:rPr lang="en-US" sz="1400" dirty="0" err="1"/>
              <a:t>eines</a:t>
            </a:r>
            <a:r>
              <a:rPr lang="en-US" sz="1400" dirty="0"/>
              <a:t> der </a:t>
            </a:r>
            <a:r>
              <a:rPr lang="en-US" sz="1400" dirty="0" err="1"/>
              <a:t>Folgenden</a:t>
            </a:r>
            <a:r>
              <a:rPr lang="en-US" sz="1400" dirty="0"/>
              <a:t> </a:t>
            </a:r>
            <a:r>
              <a:rPr lang="en-US" sz="1400" dirty="0" err="1"/>
              <a:t>nicht</a:t>
            </a:r>
            <a:r>
              <a:rPr lang="en-US" sz="1400" dirty="0"/>
              <a:t> </a:t>
            </a:r>
            <a:r>
              <a:rPr lang="en-US" sz="1400" dirty="0" err="1"/>
              <a:t>kennt</a:t>
            </a:r>
            <a:r>
              <a:rPr lang="en-US" sz="1400" dirty="0"/>
              <a:t>:</a:t>
            </a:r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 err="1"/>
              <a:t>Variablen</a:t>
            </a:r>
            <a:r>
              <a:rPr lang="en-US" sz="1400" dirty="0"/>
              <a:t> und </a:t>
            </a:r>
            <a:r>
              <a:rPr lang="en-US" sz="1400" dirty="0" err="1"/>
              <a:t>Datentypen</a:t>
            </a:r>
            <a:endParaRPr lang="en-US" sz="1400" dirty="0"/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Structs (</a:t>
            </a:r>
            <a:r>
              <a:rPr lang="en-US" sz="1400" dirty="0" err="1"/>
              <a:t>Zusammengesetzte</a:t>
            </a:r>
            <a:r>
              <a:rPr lang="en-US" sz="1400" dirty="0"/>
              <a:t> </a:t>
            </a:r>
            <a:r>
              <a:rPr lang="en-US" sz="1400" dirty="0" err="1"/>
              <a:t>Datentypen</a:t>
            </a:r>
            <a:r>
              <a:rPr lang="en-US" sz="1400" dirty="0"/>
              <a:t>)</a:t>
            </a:r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Arrays</a:t>
            </a:r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 err="1"/>
              <a:t>Bedingte</a:t>
            </a:r>
            <a:r>
              <a:rPr lang="en-US" sz="1400" dirty="0"/>
              <a:t> </a:t>
            </a:r>
            <a:r>
              <a:rPr lang="en-US" sz="1400" dirty="0" err="1"/>
              <a:t>Codeausführung</a:t>
            </a:r>
            <a:endParaRPr lang="en-US" sz="1400" dirty="0"/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 err="1"/>
              <a:t>Schleifen</a:t>
            </a:r>
            <a:endParaRPr lang="en-US" sz="1400" dirty="0"/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1" dirty="0" err="1">
                <a:solidFill>
                  <a:srgbClr val="FF0000"/>
                </a:solidFill>
              </a:rPr>
              <a:t>Adressen</a:t>
            </a:r>
            <a:r>
              <a:rPr lang="en-US" sz="1400" b="1" dirty="0">
                <a:solidFill>
                  <a:srgbClr val="FF0000"/>
                </a:solidFill>
              </a:rPr>
              <a:t> und Pointer</a:t>
            </a:r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1" dirty="0" err="1">
                <a:solidFill>
                  <a:srgbClr val="FF0000"/>
                </a:solidFill>
              </a:rPr>
              <a:t>Funktionen</a:t>
            </a:r>
            <a:endParaRPr lang="en-US" sz="1400" b="1" dirty="0">
              <a:solidFill>
                <a:srgbClr val="FF0000"/>
              </a:solidFill>
            </a:endParaRPr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1" dirty="0" err="1">
                <a:solidFill>
                  <a:srgbClr val="FF0000"/>
                </a:solidFill>
              </a:rPr>
              <a:t>Dynamsiche</a:t>
            </a:r>
            <a:r>
              <a:rPr lang="en-US" sz="1400" b="1" dirty="0">
                <a:solidFill>
                  <a:srgbClr val="FF0000"/>
                </a:solidFill>
              </a:rPr>
              <a:t> </a:t>
            </a:r>
            <a:r>
              <a:rPr lang="en-US" sz="1400" b="1" dirty="0" err="1">
                <a:solidFill>
                  <a:srgbClr val="FF0000"/>
                </a:solidFill>
              </a:rPr>
              <a:t>Speicherverwaltung</a:t>
            </a:r>
            <a:endParaRPr lang="en-US" sz="1400" b="1" dirty="0">
              <a:solidFill>
                <a:srgbClr val="FF0000"/>
              </a:solidFill>
            </a:endParaRPr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Chars und Strings</a:t>
            </a:r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 err="1"/>
              <a:t>Bitweise</a:t>
            </a:r>
            <a:r>
              <a:rPr lang="en-US" sz="1400" dirty="0"/>
              <a:t> </a:t>
            </a:r>
            <a:r>
              <a:rPr lang="en-US" sz="1400" dirty="0" err="1"/>
              <a:t>Operationen</a:t>
            </a:r>
            <a:endParaRPr lang="en-US" sz="1400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 err="1"/>
              <a:t>Ihr</a:t>
            </a:r>
            <a:r>
              <a:rPr lang="en-US" sz="1400" dirty="0"/>
              <a:t> </a:t>
            </a:r>
            <a:r>
              <a:rPr lang="en-US" sz="1400" dirty="0" err="1"/>
              <a:t>findet</a:t>
            </a:r>
            <a:r>
              <a:rPr lang="en-US" sz="1400" dirty="0"/>
              <a:t> den </a:t>
            </a:r>
            <a:r>
              <a:rPr lang="en-US" sz="1400" dirty="0" err="1"/>
              <a:t>Kurs</a:t>
            </a:r>
            <a:r>
              <a:rPr lang="en-US" sz="1400" dirty="0"/>
              <a:t> </a:t>
            </a:r>
            <a:r>
              <a:rPr lang="en-US" sz="1400" dirty="0" err="1"/>
              <a:t>auch</a:t>
            </a:r>
            <a:r>
              <a:rPr lang="en-US" sz="1400" dirty="0"/>
              <a:t> auf ISIS </a:t>
            </a:r>
            <a:r>
              <a:rPr lang="en-US" sz="1400" dirty="0" err="1"/>
              <a:t>verlinkt</a:t>
            </a:r>
            <a:r>
              <a:rPr lang="en-US" sz="1400" dirty="0"/>
              <a:t>!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5E1A2820-3E63-A53D-AEEC-8F6C980AF4B2}"/>
              </a:ext>
            </a:extLst>
          </p:cNvPr>
          <p:cNvSpPr txBox="1"/>
          <p:nvPr/>
        </p:nvSpPr>
        <p:spPr>
          <a:xfrm>
            <a:off x="9386158" y="4324406"/>
            <a:ext cx="15592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&lt;- Focus heute</a:t>
            </a:r>
          </a:p>
        </p:txBody>
      </p:sp>
    </p:spTree>
    <p:extLst>
      <p:ext uri="{BB962C8B-B14F-4D97-AF65-F5344CB8AC3E}">
        <p14:creationId xmlns:p14="http://schemas.microsoft.com/office/powerpoint/2010/main" val="40045318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23DCF9C-47DC-2F37-984C-FC0302E268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de-DE">
                <a:solidFill>
                  <a:srgbClr val="FFFFFF"/>
                </a:solidFill>
              </a:rPr>
              <a:t>C – Aufgabe 1.2 a) </a:t>
            </a:r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52532051-EB05-ED09-2017-7027A4D277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de-DE" dirty="0"/>
              <a:t>Legen Sie mit dynamischem Speicher eine Variable an. Geben Sie die Speicheradresse der Variable sowohl im üblichen Hex-Format, als auch als Dezimalzahl aus.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787290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5">
            <a:extLst>
              <a:ext uri="{FF2B5EF4-FFF2-40B4-BE49-F238E27FC236}">
                <a16:creationId xmlns:a16="http://schemas.microsoft.com/office/drawing/2014/main" id="{F821940F-7A1D-4ACC-85B4-A932898ABB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reeform: Shape 27">
            <a:extLst>
              <a:ext uri="{FF2B5EF4-FFF2-40B4-BE49-F238E27FC236}">
                <a16:creationId xmlns:a16="http://schemas.microsoft.com/office/drawing/2014/main" id="{16674508-81D3-48CF-96BF-7FC60EAA57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741994" cy="6858000"/>
          </a:xfrm>
          <a:custGeom>
            <a:avLst/>
            <a:gdLst>
              <a:gd name="connsiteX0" fmla="*/ 0 w 6568309"/>
              <a:gd name="connsiteY0" fmla="*/ 0 h 6858000"/>
              <a:gd name="connsiteX1" fmla="*/ 362841 w 6568309"/>
              <a:gd name="connsiteY1" fmla="*/ 0 h 6858000"/>
              <a:gd name="connsiteX2" fmla="*/ 523269 w 6568309"/>
              <a:gd name="connsiteY2" fmla="*/ 0 h 6858000"/>
              <a:gd name="connsiteX3" fmla="*/ 1343025 w 6568309"/>
              <a:gd name="connsiteY3" fmla="*/ 0 h 6858000"/>
              <a:gd name="connsiteX4" fmla="*/ 1705866 w 6568309"/>
              <a:gd name="connsiteY4" fmla="*/ 0 h 6858000"/>
              <a:gd name="connsiteX5" fmla="*/ 1866294 w 6568309"/>
              <a:gd name="connsiteY5" fmla="*/ 0 h 6858000"/>
              <a:gd name="connsiteX6" fmla="*/ 5225154 w 6568309"/>
              <a:gd name="connsiteY6" fmla="*/ 0 h 6858000"/>
              <a:gd name="connsiteX7" fmla="*/ 6568179 w 6568309"/>
              <a:gd name="connsiteY7" fmla="*/ 0 h 6858000"/>
              <a:gd name="connsiteX8" fmla="*/ 6568309 w 6568309"/>
              <a:gd name="connsiteY8" fmla="*/ 1 h 6858000"/>
              <a:gd name="connsiteX9" fmla="*/ 6562951 w 6568309"/>
              <a:gd name="connsiteY9" fmla="*/ 30700 h 6858000"/>
              <a:gd name="connsiteX10" fmla="*/ 6547446 w 6568309"/>
              <a:gd name="connsiteY10" fmla="*/ 310025 h 6858000"/>
              <a:gd name="connsiteX11" fmla="*/ 6558316 w 6568309"/>
              <a:gd name="connsiteY11" fmla="*/ 443960 h 6858000"/>
              <a:gd name="connsiteX12" fmla="*/ 6528896 w 6568309"/>
              <a:gd name="connsiteY12" fmla="*/ 642659 h 6858000"/>
              <a:gd name="connsiteX13" fmla="*/ 6523095 w 6568309"/>
              <a:gd name="connsiteY13" fmla="*/ 673307 h 6858000"/>
              <a:gd name="connsiteX14" fmla="*/ 6496169 w 6568309"/>
              <a:gd name="connsiteY14" fmla="*/ 839641 h 6858000"/>
              <a:gd name="connsiteX15" fmla="*/ 6450789 w 6568309"/>
              <a:gd name="connsiteY15" fmla="*/ 958357 h 6858000"/>
              <a:gd name="connsiteX16" fmla="*/ 6453996 w 6568309"/>
              <a:gd name="connsiteY16" fmla="*/ 963398 h 6858000"/>
              <a:gd name="connsiteX17" fmla="*/ 6419467 w 6568309"/>
              <a:gd name="connsiteY17" fmla="*/ 1117169 h 6858000"/>
              <a:gd name="connsiteX18" fmla="*/ 6417348 w 6568309"/>
              <a:gd name="connsiteY18" fmla="*/ 1144352 h 6858000"/>
              <a:gd name="connsiteX19" fmla="*/ 6418473 w 6568309"/>
              <a:gd name="connsiteY19" fmla="*/ 1164484 h 6858000"/>
              <a:gd name="connsiteX20" fmla="*/ 6406979 w 6568309"/>
              <a:gd name="connsiteY20" fmla="*/ 1213829 h 6858000"/>
              <a:gd name="connsiteX21" fmla="*/ 6381928 w 6568309"/>
              <a:gd name="connsiteY21" fmla="*/ 1294823 h 6858000"/>
              <a:gd name="connsiteX22" fmla="*/ 6377948 w 6568309"/>
              <a:gd name="connsiteY22" fmla="*/ 1312193 h 6858000"/>
              <a:gd name="connsiteX23" fmla="*/ 6379894 w 6568309"/>
              <a:gd name="connsiteY23" fmla="*/ 1327626 h 6858000"/>
              <a:gd name="connsiteX24" fmla="*/ 6385024 w 6568309"/>
              <a:gd name="connsiteY24" fmla="*/ 1331644 h 6858000"/>
              <a:gd name="connsiteX25" fmla="*/ 6383696 w 6568309"/>
              <a:gd name="connsiteY25" fmla="*/ 1341276 h 6858000"/>
              <a:gd name="connsiteX26" fmla="*/ 6384464 w 6568309"/>
              <a:gd name="connsiteY26" fmla="*/ 1343945 h 6858000"/>
              <a:gd name="connsiteX27" fmla="*/ 6387748 w 6568309"/>
              <a:gd name="connsiteY27" fmla="*/ 1359134 h 6858000"/>
              <a:gd name="connsiteX28" fmla="*/ 6364157 w 6568309"/>
              <a:gd name="connsiteY28" fmla="*/ 1427803 h 6858000"/>
              <a:gd name="connsiteX29" fmla="*/ 6335874 w 6568309"/>
              <a:gd name="connsiteY29" fmla="*/ 1540278 h 6858000"/>
              <a:gd name="connsiteX30" fmla="*/ 6331892 w 6568309"/>
              <a:gd name="connsiteY30" fmla="*/ 1547262 h 6858000"/>
              <a:gd name="connsiteX31" fmla="*/ 6332744 w 6568309"/>
              <a:gd name="connsiteY31" fmla="*/ 1577056 h 6858000"/>
              <a:gd name="connsiteX32" fmla="*/ 6333604 w 6568309"/>
              <a:gd name="connsiteY32" fmla="*/ 1595898 h 6858000"/>
              <a:gd name="connsiteX33" fmla="*/ 6324749 w 6568309"/>
              <a:gd name="connsiteY33" fmla="*/ 1703726 h 6858000"/>
              <a:gd name="connsiteX34" fmla="*/ 6329594 w 6568309"/>
              <a:gd name="connsiteY34" fmla="*/ 1809535 h 6858000"/>
              <a:gd name="connsiteX35" fmla="*/ 6329062 w 6568309"/>
              <a:gd name="connsiteY35" fmla="*/ 2018310 h 6858000"/>
              <a:gd name="connsiteX36" fmla="*/ 6321735 w 6568309"/>
              <a:gd name="connsiteY36" fmla="*/ 2071355 h 6858000"/>
              <a:gd name="connsiteX37" fmla="*/ 6322678 w 6568309"/>
              <a:gd name="connsiteY37" fmla="*/ 2141166 h 6858000"/>
              <a:gd name="connsiteX38" fmla="*/ 6321340 w 6568309"/>
              <a:gd name="connsiteY38" fmla="*/ 2154548 h 6858000"/>
              <a:gd name="connsiteX39" fmla="*/ 6316582 w 6568309"/>
              <a:gd name="connsiteY39" fmla="*/ 2158153 h 6858000"/>
              <a:gd name="connsiteX40" fmla="*/ 6311428 w 6568309"/>
              <a:gd name="connsiteY40" fmla="*/ 2178174 h 6858000"/>
              <a:gd name="connsiteX41" fmla="*/ 6310192 w 6568309"/>
              <a:gd name="connsiteY41" fmla="*/ 2202858 h 6858000"/>
              <a:gd name="connsiteX42" fmla="*/ 6309211 w 6568309"/>
              <a:gd name="connsiteY42" fmla="*/ 2320214 h 6858000"/>
              <a:gd name="connsiteX43" fmla="*/ 6300151 w 6568309"/>
              <a:gd name="connsiteY43" fmla="*/ 2417011 h 6858000"/>
              <a:gd name="connsiteX44" fmla="*/ 6295176 w 6568309"/>
              <a:gd name="connsiteY44" fmla="*/ 2454207 h 6858000"/>
              <a:gd name="connsiteX45" fmla="*/ 6293727 w 6568309"/>
              <a:gd name="connsiteY45" fmla="*/ 2487203 h 6858000"/>
              <a:gd name="connsiteX46" fmla="*/ 6285477 w 6568309"/>
              <a:gd name="connsiteY46" fmla="*/ 2512282 h 6858000"/>
              <a:gd name="connsiteX47" fmla="*/ 6286205 w 6568309"/>
              <a:gd name="connsiteY47" fmla="*/ 2514318 h 6858000"/>
              <a:gd name="connsiteX48" fmla="*/ 6304629 w 6568309"/>
              <a:gd name="connsiteY48" fmla="*/ 2574334 h 6858000"/>
              <a:gd name="connsiteX49" fmla="*/ 6303842 w 6568309"/>
              <a:gd name="connsiteY49" fmla="*/ 2579877 h 6858000"/>
              <a:gd name="connsiteX50" fmla="*/ 6303953 w 6568309"/>
              <a:gd name="connsiteY50" fmla="*/ 2608928 h 6858000"/>
              <a:gd name="connsiteX51" fmla="*/ 6303530 w 6568309"/>
              <a:gd name="connsiteY51" fmla="*/ 2613111 h 6858000"/>
              <a:gd name="connsiteX52" fmla="*/ 6297474 w 6568309"/>
              <a:gd name="connsiteY52" fmla="*/ 2621996 h 6858000"/>
              <a:gd name="connsiteX53" fmla="*/ 6299263 w 6568309"/>
              <a:gd name="connsiteY53" fmla="*/ 2634265 h 6858000"/>
              <a:gd name="connsiteX54" fmla="*/ 6293065 w 6568309"/>
              <a:gd name="connsiteY54" fmla="*/ 2647237 h 6858000"/>
              <a:gd name="connsiteX55" fmla="*/ 6297496 w 6568309"/>
              <a:gd name="connsiteY55" fmla="*/ 2650786 h 6858000"/>
              <a:gd name="connsiteX56" fmla="*/ 6301708 w 6568309"/>
              <a:gd name="connsiteY56" fmla="*/ 2661993 h 6858000"/>
              <a:gd name="connsiteX57" fmla="*/ 6295884 w 6568309"/>
              <a:gd name="connsiteY57" fmla="*/ 2670949 h 6858000"/>
              <a:gd name="connsiteX58" fmla="*/ 6291714 w 6568309"/>
              <a:gd name="connsiteY58" fmla="*/ 2690255 h 6858000"/>
              <a:gd name="connsiteX59" fmla="*/ 6292327 w 6568309"/>
              <a:gd name="connsiteY59" fmla="*/ 2695683 h 6858000"/>
              <a:gd name="connsiteX60" fmla="*/ 6284410 w 6568309"/>
              <a:gd name="connsiteY60" fmla="*/ 2713964 h 6858000"/>
              <a:gd name="connsiteX61" fmla="*/ 6280410 w 6568309"/>
              <a:gd name="connsiteY61" fmla="*/ 2730175 h 6858000"/>
              <a:gd name="connsiteX62" fmla="*/ 6288082 w 6568309"/>
              <a:gd name="connsiteY62" fmla="*/ 2763497 h 6858000"/>
              <a:gd name="connsiteX63" fmla="*/ 6260924 w 6568309"/>
              <a:gd name="connsiteY63" fmla="*/ 3051539 h 6858000"/>
              <a:gd name="connsiteX64" fmla="*/ 6210151 w 6568309"/>
              <a:gd name="connsiteY64" fmla="*/ 3335396 h 6858000"/>
              <a:gd name="connsiteX65" fmla="*/ 6212034 w 6568309"/>
              <a:gd name="connsiteY65" fmla="*/ 3456509 h 6858000"/>
              <a:gd name="connsiteX66" fmla="*/ 6197490 w 6568309"/>
              <a:gd name="connsiteY66" fmla="*/ 3531827 h 6858000"/>
              <a:gd name="connsiteX67" fmla="*/ 6208018 w 6568309"/>
              <a:gd name="connsiteY67" fmla="*/ 3570877 h 6858000"/>
              <a:gd name="connsiteX68" fmla="*/ 6205920 w 6568309"/>
              <a:gd name="connsiteY68" fmla="*/ 3583849 h 6858000"/>
              <a:gd name="connsiteX69" fmla="*/ 6199616 w 6568309"/>
              <a:gd name="connsiteY69" fmla="*/ 3592763 h 6858000"/>
              <a:gd name="connsiteX70" fmla="*/ 6181288 w 6568309"/>
              <a:gd name="connsiteY70" fmla="*/ 3653485 h 6858000"/>
              <a:gd name="connsiteX71" fmla="*/ 6175963 w 6568309"/>
              <a:gd name="connsiteY71" fmla="*/ 3670528 h 6858000"/>
              <a:gd name="connsiteX72" fmla="*/ 6176722 w 6568309"/>
              <a:gd name="connsiteY72" fmla="*/ 3685990 h 6858000"/>
              <a:gd name="connsiteX73" fmla="*/ 6181549 w 6568309"/>
              <a:gd name="connsiteY73" fmla="*/ 3690283 h 6858000"/>
              <a:gd name="connsiteX74" fmla="*/ 6179476 w 6568309"/>
              <a:gd name="connsiteY74" fmla="*/ 3699787 h 6858000"/>
              <a:gd name="connsiteX75" fmla="*/ 6180040 w 6568309"/>
              <a:gd name="connsiteY75" fmla="*/ 3702486 h 6858000"/>
              <a:gd name="connsiteX76" fmla="*/ 6182155 w 6568309"/>
              <a:gd name="connsiteY76" fmla="*/ 3717784 h 6858000"/>
              <a:gd name="connsiteX77" fmla="*/ 6158980 w 6568309"/>
              <a:gd name="connsiteY77" fmla="*/ 3746229 h 6858000"/>
              <a:gd name="connsiteX78" fmla="*/ 6096049 w 6568309"/>
              <a:gd name="connsiteY78" fmla="*/ 3924910 h 6858000"/>
              <a:gd name="connsiteX79" fmla="*/ 6069712 w 6568309"/>
              <a:gd name="connsiteY79" fmla="*/ 3989353 h 6858000"/>
              <a:gd name="connsiteX80" fmla="*/ 6067330 w 6568309"/>
              <a:gd name="connsiteY80" fmla="*/ 4033899 h 6858000"/>
              <a:gd name="connsiteX81" fmla="*/ 6061081 w 6568309"/>
              <a:gd name="connsiteY81" fmla="*/ 4142250 h 6858000"/>
              <a:gd name="connsiteX82" fmla="*/ 6042858 w 6568309"/>
              <a:gd name="connsiteY82" fmla="*/ 4329442 h 6858000"/>
              <a:gd name="connsiteX83" fmla="*/ 6034182 w 6568309"/>
              <a:gd name="connsiteY83" fmla="*/ 4456184 h 6858000"/>
              <a:gd name="connsiteX84" fmla="*/ 6029178 w 6568309"/>
              <a:gd name="connsiteY84" fmla="*/ 4468478 h 6858000"/>
              <a:gd name="connsiteX85" fmla="*/ 6029974 w 6568309"/>
              <a:gd name="connsiteY85" fmla="*/ 4469862 h 6858000"/>
              <a:gd name="connsiteX86" fmla="*/ 6028340 w 6568309"/>
              <a:gd name="connsiteY86" fmla="*/ 4483797 h 6858000"/>
              <a:gd name="connsiteX87" fmla="*/ 6025168 w 6568309"/>
              <a:gd name="connsiteY87" fmla="*/ 4487091 h 6858000"/>
              <a:gd name="connsiteX88" fmla="*/ 6023164 w 6568309"/>
              <a:gd name="connsiteY88" fmla="*/ 4496728 h 6858000"/>
              <a:gd name="connsiteX89" fmla="*/ 6016839 w 6568309"/>
              <a:gd name="connsiteY89" fmla="*/ 4515918 h 6858000"/>
              <a:gd name="connsiteX90" fmla="*/ 6017886 w 6568309"/>
              <a:gd name="connsiteY90" fmla="*/ 4519316 h 6858000"/>
              <a:gd name="connsiteX91" fmla="*/ 6011819 w 6568309"/>
              <a:gd name="connsiteY91" fmla="*/ 4547957 h 6858000"/>
              <a:gd name="connsiteX92" fmla="*/ 6012791 w 6568309"/>
              <a:gd name="connsiteY92" fmla="*/ 4548262 h 6858000"/>
              <a:gd name="connsiteX93" fmla="*/ 6015703 w 6568309"/>
              <a:gd name="connsiteY93" fmla="*/ 4555939 h 6858000"/>
              <a:gd name="connsiteX94" fmla="*/ 6018854 w 6568309"/>
              <a:gd name="connsiteY94" fmla="*/ 4570815 h 6858000"/>
              <a:gd name="connsiteX95" fmla="*/ 6033000 w 6568309"/>
              <a:gd name="connsiteY95" fmla="*/ 4633846 h 6858000"/>
              <a:gd name="connsiteX96" fmla="*/ 6032325 w 6568309"/>
              <a:gd name="connsiteY96" fmla="*/ 4639816 h 6858000"/>
              <a:gd name="connsiteX97" fmla="*/ 6032549 w 6568309"/>
              <a:gd name="connsiteY97" fmla="*/ 4639923 h 6858000"/>
              <a:gd name="connsiteX98" fmla="*/ 6032309 w 6568309"/>
              <a:gd name="connsiteY98" fmla="*/ 4646192 h 6858000"/>
              <a:gd name="connsiteX99" fmla="*/ 6031095 w 6568309"/>
              <a:gd name="connsiteY99" fmla="*/ 4650706 h 6858000"/>
              <a:gd name="connsiteX100" fmla="*/ 6029786 w 6568309"/>
              <a:gd name="connsiteY100" fmla="*/ 4662290 h 6858000"/>
              <a:gd name="connsiteX101" fmla="*/ 6030911 w 6568309"/>
              <a:gd name="connsiteY101" fmla="*/ 4666180 h 6858000"/>
              <a:gd name="connsiteX102" fmla="*/ 6033630 w 6568309"/>
              <a:gd name="connsiteY102" fmla="*/ 4667585 h 6858000"/>
              <a:gd name="connsiteX103" fmla="*/ 6033189 w 6568309"/>
              <a:gd name="connsiteY103" fmla="*/ 4668660 h 6858000"/>
              <a:gd name="connsiteX104" fmla="*/ 6038764 w 6568309"/>
              <a:gd name="connsiteY104" fmla="*/ 4689807 h 6858000"/>
              <a:gd name="connsiteX105" fmla="*/ 6042217 w 6568309"/>
              <a:gd name="connsiteY105" fmla="*/ 4737890 h 6858000"/>
              <a:gd name="connsiteX106" fmla="*/ 6040543 w 6568309"/>
              <a:gd name="connsiteY106" fmla="*/ 4765657 h 6858000"/>
              <a:gd name="connsiteX107" fmla="*/ 6039956 w 6568309"/>
              <a:gd name="connsiteY107" fmla="*/ 4841463 h 6858000"/>
              <a:gd name="connsiteX108" fmla="*/ 6057123 w 6568309"/>
              <a:gd name="connsiteY108" fmla="*/ 4969863 h 6858000"/>
              <a:gd name="connsiteX109" fmla="*/ 6055039 w 6568309"/>
              <a:gd name="connsiteY109" fmla="*/ 4974028 h 6858000"/>
              <a:gd name="connsiteX110" fmla="*/ 6053462 w 6568309"/>
              <a:gd name="connsiteY110" fmla="*/ 4980318 h 6858000"/>
              <a:gd name="connsiteX111" fmla="*/ 6053643 w 6568309"/>
              <a:gd name="connsiteY111" fmla="*/ 4980501 h 6858000"/>
              <a:gd name="connsiteX112" fmla="*/ 6051733 w 6568309"/>
              <a:gd name="connsiteY112" fmla="*/ 4986338 h 6858000"/>
              <a:gd name="connsiteX113" fmla="*/ 6049602 w 6568309"/>
              <a:gd name="connsiteY113" fmla="*/ 4991296 h 6858000"/>
              <a:gd name="connsiteX114" fmla="*/ 6075165 w 6568309"/>
              <a:gd name="connsiteY114" fmla="*/ 5076895 h 6858000"/>
              <a:gd name="connsiteX115" fmla="*/ 6073751 w 6568309"/>
              <a:gd name="connsiteY115" fmla="*/ 5081568 h 6858000"/>
              <a:gd name="connsiteX116" fmla="*/ 6073150 w 6568309"/>
              <a:gd name="connsiteY116" fmla="*/ 5088173 h 6858000"/>
              <a:gd name="connsiteX117" fmla="*/ 6073355 w 6568309"/>
              <a:gd name="connsiteY117" fmla="*/ 5088300 h 6858000"/>
              <a:gd name="connsiteX118" fmla="*/ 6072362 w 6568309"/>
              <a:gd name="connsiteY118" fmla="*/ 5094558 h 6858000"/>
              <a:gd name="connsiteX119" fmla="*/ 6064726 w 6568309"/>
              <a:gd name="connsiteY119" fmla="*/ 5125620 h 6858000"/>
              <a:gd name="connsiteX120" fmla="*/ 6065415 w 6568309"/>
              <a:gd name="connsiteY120" fmla="*/ 5268004 h 6858000"/>
              <a:gd name="connsiteX121" fmla="*/ 6066081 w 6568309"/>
              <a:gd name="connsiteY121" fmla="*/ 5269530 h 6858000"/>
              <a:gd name="connsiteX122" fmla="*/ 6043407 w 6568309"/>
              <a:gd name="connsiteY122" fmla="*/ 5390941 h 6858000"/>
              <a:gd name="connsiteX123" fmla="*/ 6025377 w 6568309"/>
              <a:gd name="connsiteY123" fmla="*/ 5539927 h 6858000"/>
              <a:gd name="connsiteX124" fmla="*/ 6010052 w 6568309"/>
              <a:gd name="connsiteY124" fmla="*/ 5791594 h 6858000"/>
              <a:gd name="connsiteX125" fmla="*/ 5994220 w 6568309"/>
              <a:gd name="connsiteY125" fmla="*/ 5855206 h 6858000"/>
              <a:gd name="connsiteX126" fmla="*/ 5982580 w 6568309"/>
              <a:gd name="connsiteY126" fmla="*/ 5873582 h 6858000"/>
              <a:gd name="connsiteX127" fmla="*/ 5983608 w 6568309"/>
              <a:gd name="connsiteY127" fmla="*/ 5876037 h 6858000"/>
              <a:gd name="connsiteX128" fmla="*/ 5983535 w 6568309"/>
              <a:gd name="connsiteY128" fmla="*/ 5886534 h 6858000"/>
              <a:gd name="connsiteX129" fmla="*/ 5988737 w 6568309"/>
              <a:gd name="connsiteY129" fmla="*/ 5888644 h 6858000"/>
              <a:gd name="connsiteX130" fmla="*/ 5992371 w 6568309"/>
              <a:gd name="connsiteY130" fmla="*/ 5903832 h 6858000"/>
              <a:gd name="connsiteX131" fmla="*/ 5990780 w 6568309"/>
              <a:gd name="connsiteY131" fmla="*/ 5923391 h 6858000"/>
              <a:gd name="connsiteX132" fmla="*/ 5993870 w 6568309"/>
              <a:gd name="connsiteY132" fmla="*/ 6013205 h 6858000"/>
              <a:gd name="connsiteX133" fmla="*/ 5997673 w 6568309"/>
              <a:gd name="connsiteY133" fmla="*/ 6074018 h 6858000"/>
              <a:gd name="connsiteX134" fmla="*/ 6014840 w 6568309"/>
              <a:gd name="connsiteY134" fmla="*/ 6130837 h 6858000"/>
              <a:gd name="connsiteX135" fmla="*/ 6010704 w 6568309"/>
              <a:gd name="connsiteY135" fmla="*/ 6152982 h 6858000"/>
              <a:gd name="connsiteX136" fmla="*/ 6038294 w 6568309"/>
              <a:gd name="connsiteY136" fmla="*/ 6221100 h 6858000"/>
              <a:gd name="connsiteX137" fmla="*/ 6052331 w 6568309"/>
              <a:gd name="connsiteY137" fmla="*/ 6287550 h 6858000"/>
              <a:gd name="connsiteX138" fmla="*/ 6074143 w 6568309"/>
              <a:gd name="connsiteY138" fmla="*/ 6401595 h 6858000"/>
              <a:gd name="connsiteX139" fmla="*/ 6060199 w 6568309"/>
              <a:gd name="connsiteY139" fmla="*/ 6487110 h 6858000"/>
              <a:gd name="connsiteX140" fmla="*/ 6081156 w 6568309"/>
              <a:gd name="connsiteY140" fmla="*/ 6588589 h 6858000"/>
              <a:gd name="connsiteX141" fmla="*/ 6114944 w 6568309"/>
              <a:gd name="connsiteY141" fmla="*/ 6769963 h 6858000"/>
              <a:gd name="connsiteX142" fmla="*/ 6128950 w 6568309"/>
              <a:gd name="connsiteY142" fmla="*/ 6835814 h 6858000"/>
              <a:gd name="connsiteX143" fmla="*/ 6132536 w 6568309"/>
              <a:gd name="connsiteY143" fmla="*/ 6858000 h 6858000"/>
              <a:gd name="connsiteX144" fmla="*/ 4789511 w 6568309"/>
              <a:gd name="connsiteY144" fmla="*/ 6858000 h 6858000"/>
              <a:gd name="connsiteX145" fmla="*/ 1866294 w 6568309"/>
              <a:gd name="connsiteY145" fmla="*/ 6858000 h 6858000"/>
              <a:gd name="connsiteX146" fmla="*/ 1705866 w 6568309"/>
              <a:gd name="connsiteY146" fmla="*/ 6858000 h 6858000"/>
              <a:gd name="connsiteX147" fmla="*/ 1343025 w 6568309"/>
              <a:gd name="connsiteY147" fmla="*/ 6858000 h 6858000"/>
              <a:gd name="connsiteX148" fmla="*/ 523269 w 6568309"/>
              <a:gd name="connsiteY148" fmla="*/ 6858000 h 6858000"/>
              <a:gd name="connsiteX149" fmla="*/ 362841 w 6568309"/>
              <a:gd name="connsiteY149" fmla="*/ 6858000 h 6858000"/>
              <a:gd name="connsiteX150" fmla="*/ 0 w 6568309"/>
              <a:gd name="connsiteY150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</a:cxnLst>
            <a:rect l="l" t="t" r="r" b="b"/>
            <a:pathLst>
              <a:path w="6568309" h="6858000">
                <a:moveTo>
                  <a:pt x="0" y="0"/>
                </a:moveTo>
                <a:lnTo>
                  <a:pt x="362841" y="0"/>
                </a:lnTo>
                <a:lnTo>
                  <a:pt x="523269" y="0"/>
                </a:lnTo>
                <a:lnTo>
                  <a:pt x="1343025" y="0"/>
                </a:lnTo>
                <a:lnTo>
                  <a:pt x="1705866" y="0"/>
                </a:lnTo>
                <a:lnTo>
                  <a:pt x="1866294" y="0"/>
                </a:lnTo>
                <a:lnTo>
                  <a:pt x="5225154" y="0"/>
                </a:lnTo>
                <a:lnTo>
                  <a:pt x="6568179" y="0"/>
                </a:lnTo>
                <a:lnTo>
                  <a:pt x="6568309" y="1"/>
                </a:lnTo>
                <a:lnTo>
                  <a:pt x="6562951" y="30700"/>
                </a:lnTo>
                <a:cubicBezTo>
                  <a:pt x="6559126" y="84364"/>
                  <a:pt x="6548218" y="241149"/>
                  <a:pt x="6547446" y="310025"/>
                </a:cubicBezTo>
                <a:cubicBezTo>
                  <a:pt x="6550151" y="367544"/>
                  <a:pt x="6557712" y="408251"/>
                  <a:pt x="6558316" y="443960"/>
                </a:cubicBezTo>
                <a:cubicBezTo>
                  <a:pt x="6555224" y="499397"/>
                  <a:pt x="6534767" y="604434"/>
                  <a:pt x="6528896" y="642659"/>
                </a:cubicBezTo>
                <a:cubicBezTo>
                  <a:pt x="6535204" y="657287"/>
                  <a:pt x="6515365" y="658191"/>
                  <a:pt x="6523095" y="673307"/>
                </a:cubicBezTo>
                <a:cubicBezTo>
                  <a:pt x="6523388" y="693769"/>
                  <a:pt x="6506868" y="797295"/>
                  <a:pt x="6496169" y="839641"/>
                </a:cubicBezTo>
                <a:cubicBezTo>
                  <a:pt x="6484119" y="887148"/>
                  <a:pt x="6457817" y="937731"/>
                  <a:pt x="6450789" y="958357"/>
                </a:cubicBezTo>
                <a:cubicBezTo>
                  <a:pt x="6443760" y="978983"/>
                  <a:pt x="6459217" y="936930"/>
                  <a:pt x="6453996" y="963398"/>
                </a:cubicBezTo>
                <a:cubicBezTo>
                  <a:pt x="6448777" y="989867"/>
                  <a:pt x="6425575" y="1087010"/>
                  <a:pt x="6419467" y="1117169"/>
                </a:cubicBezTo>
                <a:cubicBezTo>
                  <a:pt x="6431540" y="1118586"/>
                  <a:pt x="6409651" y="1135372"/>
                  <a:pt x="6417348" y="1144352"/>
                </a:cubicBezTo>
                <a:cubicBezTo>
                  <a:pt x="6424109" y="1150681"/>
                  <a:pt x="6419047" y="1157251"/>
                  <a:pt x="6418473" y="1164484"/>
                </a:cubicBezTo>
                <a:cubicBezTo>
                  <a:pt x="6423767" y="1173524"/>
                  <a:pt x="6413947" y="1205209"/>
                  <a:pt x="6406979" y="1213829"/>
                </a:cubicBezTo>
                <a:cubicBezTo>
                  <a:pt x="6382818" y="1235037"/>
                  <a:pt x="6400452" y="1277327"/>
                  <a:pt x="6381928" y="1294823"/>
                </a:cubicBezTo>
                <a:cubicBezTo>
                  <a:pt x="6379195" y="1300845"/>
                  <a:pt x="6378069" y="1306615"/>
                  <a:pt x="6377948" y="1312193"/>
                </a:cubicBezTo>
                <a:lnTo>
                  <a:pt x="6379894" y="1327626"/>
                </a:lnTo>
                <a:lnTo>
                  <a:pt x="6385024" y="1331644"/>
                </a:lnTo>
                <a:lnTo>
                  <a:pt x="6383696" y="1341276"/>
                </a:lnTo>
                <a:cubicBezTo>
                  <a:pt x="6383952" y="1342166"/>
                  <a:pt x="6384208" y="1343055"/>
                  <a:pt x="6384464" y="1343945"/>
                </a:cubicBezTo>
                <a:cubicBezTo>
                  <a:pt x="6385957" y="1349040"/>
                  <a:pt x="6387253" y="1354080"/>
                  <a:pt x="6387748" y="1359134"/>
                </a:cubicBezTo>
                <a:cubicBezTo>
                  <a:pt x="6384363" y="1373109"/>
                  <a:pt x="6372802" y="1397612"/>
                  <a:pt x="6364157" y="1427803"/>
                </a:cubicBezTo>
                <a:cubicBezTo>
                  <a:pt x="6348141" y="1460349"/>
                  <a:pt x="6348362" y="1505076"/>
                  <a:pt x="6335874" y="1540278"/>
                </a:cubicBezTo>
                <a:lnTo>
                  <a:pt x="6331892" y="1547262"/>
                </a:lnTo>
                <a:lnTo>
                  <a:pt x="6332744" y="1577056"/>
                </a:lnTo>
                <a:cubicBezTo>
                  <a:pt x="6335859" y="1582205"/>
                  <a:pt x="6336674" y="1589568"/>
                  <a:pt x="6333604" y="1595898"/>
                </a:cubicBezTo>
                <a:lnTo>
                  <a:pt x="6324749" y="1703726"/>
                </a:lnTo>
                <a:cubicBezTo>
                  <a:pt x="6324080" y="1739332"/>
                  <a:pt x="6318019" y="1754453"/>
                  <a:pt x="6329594" y="1809535"/>
                </a:cubicBezTo>
                <a:cubicBezTo>
                  <a:pt x="6344930" y="1868036"/>
                  <a:pt x="6323725" y="1952670"/>
                  <a:pt x="6329062" y="2018310"/>
                </a:cubicBezTo>
                <a:cubicBezTo>
                  <a:pt x="6308075" y="2053162"/>
                  <a:pt x="6326925" y="2034561"/>
                  <a:pt x="6321735" y="2071355"/>
                </a:cubicBezTo>
                <a:lnTo>
                  <a:pt x="6322678" y="2141166"/>
                </a:lnTo>
                <a:lnTo>
                  <a:pt x="6321340" y="2154548"/>
                </a:lnTo>
                <a:lnTo>
                  <a:pt x="6316582" y="2158153"/>
                </a:lnTo>
                <a:lnTo>
                  <a:pt x="6311428" y="2178174"/>
                </a:lnTo>
                <a:cubicBezTo>
                  <a:pt x="6310177" y="2185696"/>
                  <a:pt x="6309622" y="2193828"/>
                  <a:pt x="6310192" y="2202858"/>
                </a:cubicBezTo>
                <a:cubicBezTo>
                  <a:pt x="6319667" y="2232772"/>
                  <a:pt x="6296459" y="2283357"/>
                  <a:pt x="6309211" y="2320214"/>
                </a:cubicBezTo>
                <a:cubicBezTo>
                  <a:pt x="6307537" y="2355906"/>
                  <a:pt x="6302490" y="2394678"/>
                  <a:pt x="6300151" y="2417011"/>
                </a:cubicBezTo>
                <a:cubicBezTo>
                  <a:pt x="6292303" y="2426377"/>
                  <a:pt x="6304439" y="2456509"/>
                  <a:pt x="6295176" y="2454207"/>
                </a:cubicBezTo>
                <a:cubicBezTo>
                  <a:pt x="6299335" y="2464947"/>
                  <a:pt x="6297305" y="2476105"/>
                  <a:pt x="6293727" y="2487203"/>
                </a:cubicBezTo>
                <a:lnTo>
                  <a:pt x="6285477" y="2512282"/>
                </a:lnTo>
                <a:cubicBezTo>
                  <a:pt x="6285720" y="2512961"/>
                  <a:pt x="6285962" y="2513640"/>
                  <a:pt x="6286205" y="2514318"/>
                </a:cubicBezTo>
                <a:cubicBezTo>
                  <a:pt x="6292347" y="2534324"/>
                  <a:pt x="6298487" y="2554328"/>
                  <a:pt x="6304629" y="2574334"/>
                </a:cubicBezTo>
                <a:lnTo>
                  <a:pt x="6303842" y="2579877"/>
                </a:lnTo>
                <a:cubicBezTo>
                  <a:pt x="6303729" y="2585644"/>
                  <a:pt x="6304006" y="2603388"/>
                  <a:pt x="6303953" y="2608928"/>
                </a:cubicBezTo>
                <a:lnTo>
                  <a:pt x="6303530" y="2613111"/>
                </a:lnTo>
                <a:lnTo>
                  <a:pt x="6297474" y="2621996"/>
                </a:lnTo>
                <a:lnTo>
                  <a:pt x="6299263" y="2634265"/>
                </a:lnTo>
                <a:lnTo>
                  <a:pt x="6293065" y="2647237"/>
                </a:lnTo>
                <a:cubicBezTo>
                  <a:pt x="6294685" y="2648158"/>
                  <a:pt x="6296180" y="2649356"/>
                  <a:pt x="6297496" y="2650786"/>
                </a:cubicBezTo>
                <a:lnTo>
                  <a:pt x="6301708" y="2661993"/>
                </a:lnTo>
                <a:lnTo>
                  <a:pt x="6295884" y="2670949"/>
                </a:lnTo>
                <a:cubicBezTo>
                  <a:pt x="6304913" y="2672007"/>
                  <a:pt x="6294429" y="2681695"/>
                  <a:pt x="6291714" y="2690255"/>
                </a:cubicBezTo>
                <a:lnTo>
                  <a:pt x="6292327" y="2695683"/>
                </a:lnTo>
                <a:lnTo>
                  <a:pt x="6284410" y="2713964"/>
                </a:lnTo>
                <a:lnTo>
                  <a:pt x="6280410" y="2730175"/>
                </a:lnTo>
                <a:lnTo>
                  <a:pt x="6288082" y="2763497"/>
                </a:lnTo>
                <a:lnTo>
                  <a:pt x="6260924" y="3051539"/>
                </a:lnTo>
                <a:cubicBezTo>
                  <a:pt x="6251455" y="3165645"/>
                  <a:pt x="6222174" y="3216611"/>
                  <a:pt x="6210151" y="3335396"/>
                </a:cubicBezTo>
                <a:lnTo>
                  <a:pt x="6212034" y="3456509"/>
                </a:lnTo>
                <a:lnTo>
                  <a:pt x="6197490" y="3531827"/>
                </a:lnTo>
                <a:lnTo>
                  <a:pt x="6208018" y="3570877"/>
                </a:lnTo>
                <a:lnTo>
                  <a:pt x="6205920" y="3583849"/>
                </a:lnTo>
                <a:lnTo>
                  <a:pt x="6199616" y="3592763"/>
                </a:lnTo>
                <a:cubicBezTo>
                  <a:pt x="6191839" y="3613948"/>
                  <a:pt x="6196204" y="3641245"/>
                  <a:pt x="6181288" y="3653485"/>
                </a:cubicBezTo>
                <a:cubicBezTo>
                  <a:pt x="6178087" y="3659316"/>
                  <a:pt x="6176516" y="3664985"/>
                  <a:pt x="6175963" y="3670528"/>
                </a:cubicBezTo>
                <a:lnTo>
                  <a:pt x="6176722" y="3685990"/>
                </a:lnTo>
                <a:lnTo>
                  <a:pt x="6181549" y="3690283"/>
                </a:lnTo>
                <a:lnTo>
                  <a:pt x="6179476" y="3699787"/>
                </a:lnTo>
                <a:cubicBezTo>
                  <a:pt x="6179664" y="3700686"/>
                  <a:pt x="6179852" y="3701586"/>
                  <a:pt x="6180040" y="3702486"/>
                </a:cubicBezTo>
                <a:cubicBezTo>
                  <a:pt x="6181140" y="3707637"/>
                  <a:pt x="6182047" y="3712728"/>
                  <a:pt x="6182155" y="3717784"/>
                </a:cubicBezTo>
                <a:cubicBezTo>
                  <a:pt x="6156678" y="3711701"/>
                  <a:pt x="6178864" y="3759789"/>
                  <a:pt x="6158980" y="3746229"/>
                </a:cubicBezTo>
                <a:cubicBezTo>
                  <a:pt x="6144630" y="3780750"/>
                  <a:pt x="6117520" y="3867558"/>
                  <a:pt x="6096049" y="3924910"/>
                </a:cubicBezTo>
                <a:lnTo>
                  <a:pt x="6069712" y="3989353"/>
                </a:lnTo>
                <a:lnTo>
                  <a:pt x="6067330" y="4033899"/>
                </a:lnTo>
                <a:cubicBezTo>
                  <a:pt x="6065506" y="4070470"/>
                  <a:pt x="6063599" y="4110146"/>
                  <a:pt x="6061081" y="4142250"/>
                </a:cubicBezTo>
                <a:cubicBezTo>
                  <a:pt x="6055260" y="4200007"/>
                  <a:pt x="6045907" y="4278998"/>
                  <a:pt x="6042858" y="4329442"/>
                </a:cubicBezTo>
                <a:cubicBezTo>
                  <a:pt x="6038376" y="4381764"/>
                  <a:pt x="6036461" y="4433012"/>
                  <a:pt x="6034182" y="4456184"/>
                </a:cubicBezTo>
                <a:lnTo>
                  <a:pt x="6029178" y="4468478"/>
                </a:lnTo>
                <a:lnTo>
                  <a:pt x="6029974" y="4469862"/>
                </a:lnTo>
                <a:cubicBezTo>
                  <a:pt x="6031287" y="4476321"/>
                  <a:pt x="6030316" y="4480555"/>
                  <a:pt x="6028340" y="4483797"/>
                </a:cubicBezTo>
                <a:lnTo>
                  <a:pt x="6025168" y="4487091"/>
                </a:lnTo>
                <a:lnTo>
                  <a:pt x="6023164" y="4496728"/>
                </a:lnTo>
                <a:lnTo>
                  <a:pt x="6016839" y="4515918"/>
                </a:lnTo>
                <a:cubicBezTo>
                  <a:pt x="6017189" y="4517049"/>
                  <a:pt x="6017537" y="4518182"/>
                  <a:pt x="6017886" y="4519316"/>
                </a:cubicBezTo>
                <a:lnTo>
                  <a:pt x="6011819" y="4547957"/>
                </a:lnTo>
                <a:lnTo>
                  <a:pt x="6012791" y="4548262"/>
                </a:lnTo>
                <a:cubicBezTo>
                  <a:pt x="6014837" y="4549595"/>
                  <a:pt x="6016087" y="4551811"/>
                  <a:pt x="6015703" y="4555939"/>
                </a:cubicBezTo>
                <a:cubicBezTo>
                  <a:pt x="6031790" y="4548276"/>
                  <a:pt x="6021405" y="4557977"/>
                  <a:pt x="6018854" y="4570815"/>
                </a:cubicBezTo>
                <a:cubicBezTo>
                  <a:pt x="6021736" y="4583801"/>
                  <a:pt x="6030754" y="4622347"/>
                  <a:pt x="6033000" y="4633846"/>
                </a:cubicBezTo>
                <a:lnTo>
                  <a:pt x="6032325" y="4639816"/>
                </a:lnTo>
                <a:lnTo>
                  <a:pt x="6032549" y="4639923"/>
                </a:lnTo>
                <a:cubicBezTo>
                  <a:pt x="6032911" y="4641190"/>
                  <a:pt x="6032878" y="4643141"/>
                  <a:pt x="6032309" y="4646192"/>
                </a:cubicBezTo>
                <a:lnTo>
                  <a:pt x="6031095" y="4650706"/>
                </a:lnTo>
                <a:lnTo>
                  <a:pt x="6029786" y="4662290"/>
                </a:lnTo>
                <a:cubicBezTo>
                  <a:pt x="6030161" y="4663587"/>
                  <a:pt x="6030536" y="4664883"/>
                  <a:pt x="6030911" y="4666180"/>
                </a:cubicBezTo>
                <a:lnTo>
                  <a:pt x="6033630" y="4667585"/>
                </a:lnTo>
                <a:lnTo>
                  <a:pt x="6033189" y="4668660"/>
                </a:lnTo>
                <a:cubicBezTo>
                  <a:pt x="6027286" y="4676831"/>
                  <a:pt x="6019767" y="4679345"/>
                  <a:pt x="6038764" y="4689807"/>
                </a:cubicBezTo>
                <a:cubicBezTo>
                  <a:pt x="6028616" y="4708535"/>
                  <a:pt x="6040474" y="4712235"/>
                  <a:pt x="6042217" y="4737890"/>
                </a:cubicBezTo>
                <a:cubicBezTo>
                  <a:pt x="6033362" y="4748600"/>
                  <a:pt x="6035273" y="4757223"/>
                  <a:pt x="6040543" y="4765657"/>
                </a:cubicBezTo>
                <a:cubicBezTo>
                  <a:pt x="6034416" y="4790618"/>
                  <a:pt x="6040696" y="4813399"/>
                  <a:pt x="6039956" y="4841463"/>
                </a:cubicBezTo>
                <a:lnTo>
                  <a:pt x="6057123" y="4969863"/>
                </a:lnTo>
                <a:lnTo>
                  <a:pt x="6055039" y="4974028"/>
                </a:lnTo>
                <a:cubicBezTo>
                  <a:pt x="6053860" y="4976933"/>
                  <a:pt x="6053409" y="4978909"/>
                  <a:pt x="6053462" y="4980318"/>
                </a:cubicBezTo>
                <a:lnTo>
                  <a:pt x="6053643" y="4980501"/>
                </a:lnTo>
                <a:lnTo>
                  <a:pt x="6051733" y="4986338"/>
                </a:lnTo>
                <a:lnTo>
                  <a:pt x="6049602" y="4991296"/>
                </a:lnTo>
                <a:cubicBezTo>
                  <a:pt x="6058123" y="5019829"/>
                  <a:pt x="6066643" y="5048361"/>
                  <a:pt x="6075165" y="5076895"/>
                </a:cubicBezTo>
                <a:lnTo>
                  <a:pt x="6073751" y="5081568"/>
                </a:lnTo>
                <a:cubicBezTo>
                  <a:pt x="6073034" y="5084748"/>
                  <a:pt x="6072888" y="5086810"/>
                  <a:pt x="6073150" y="5088173"/>
                </a:cubicBezTo>
                <a:lnTo>
                  <a:pt x="6073355" y="5088300"/>
                </a:lnTo>
                <a:lnTo>
                  <a:pt x="6072362" y="5094558"/>
                </a:lnTo>
                <a:cubicBezTo>
                  <a:pt x="6070184" y="5105196"/>
                  <a:pt x="6067588" y="5115626"/>
                  <a:pt x="6064726" y="5125620"/>
                </a:cubicBezTo>
                <a:cubicBezTo>
                  <a:pt x="6063568" y="5154527"/>
                  <a:pt x="6065189" y="5244020"/>
                  <a:pt x="6065415" y="5268004"/>
                </a:cubicBezTo>
                <a:cubicBezTo>
                  <a:pt x="6065637" y="5268513"/>
                  <a:pt x="6065860" y="5269021"/>
                  <a:pt x="6066081" y="5269530"/>
                </a:cubicBezTo>
                <a:lnTo>
                  <a:pt x="6043407" y="5390941"/>
                </a:lnTo>
                <a:cubicBezTo>
                  <a:pt x="6032545" y="5438194"/>
                  <a:pt x="6020942" y="5465286"/>
                  <a:pt x="6025377" y="5539927"/>
                </a:cubicBezTo>
                <a:cubicBezTo>
                  <a:pt x="6019787" y="5610775"/>
                  <a:pt x="6013913" y="5740573"/>
                  <a:pt x="6010052" y="5791594"/>
                </a:cubicBezTo>
                <a:cubicBezTo>
                  <a:pt x="5989401" y="5787060"/>
                  <a:pt x="6018524" y="5849672"/>
                  <a:pt x="5994220" y="5855206"/>
                </a:cubicBezTo>
                <a:cubicBezTo>
                  <a:pt x="5995282" y="5860240"/>
                  <a:pt x="5980598" y="5868910"/>
                  <a:pt x="5982580" y="5873582"/>
                </a:cubicBezTo>
                <a:cubicBezTo>
                  <a:pt x="5982922" y="5874401"/>
                  <a:pt x="5983265" y="5875218"/>
                  <a:pt x="5983608" y="5876037"/>
                </a:cubicBezTo>
                <a:lnTo>
                  <a:pt x="5983535" y="5886534"/>
                </a:lnTo>
                <a:lnTo>
                  <a:pt x="5988737" y="5888644"/>
                </a:lnTo>
                <a:cubicBezTo>
                  <a:pt x="5989948" y="5893707"/>
                  <a:pt x="5991159" y="5898769"/>
                  <a:pt x="5992371" y="5903832"/>
                </a:cubicBezTo>
                <a:cubicBezTo>
                  <a:pt x="5992924" y="5909651"/>
                  <a:pt x="5992578" y="5916068"/>
                  <a:pt x="5990780" y="5923391"/>
                </a:cubicBezTo>
                <a:cubicBezTo>
                  <a:pt x="5975822" y="5948880"/>
                  <a:pt x="6013580" y="5981626"/>
                  <a:pt x="5993870" y="6013205"/>
                </a:cubicBezTo>
                <a:cubicBezTo>
                  <a:pt x="5988486" y="6024901"/>
                  <a:pt x="5991718" y="6066777"/>
                  <a:pt x="5997673" y="6074018"/>
                </a:cubicBezTo>
                <a:cubicBezTo>
                  <a:pt x="5998007" y="6081731"/>
                  <a:pt x="6007861" y="6126985"/>
                  <a:pt x="6014840" y="6130837"/>
                </a:cubicBezTo>
                <a:cubicBezTo>
                  <a:pt x="6022998" y="6137057"/>
                  <a:pt x="5999420" y="6156330"/>
                  <a:pt x="6010704" y="6152982"/>
                </a:cubicBezTo>
                <a:cubicBezTo>
                  <a:pt x="6008682" y="6186619"/>
                  <a:pt x="6039938" y="6191636"/>
                  <a:pt x="6038294" y="6221100"/>
                </a:cubicBezTo>
                <a:cubicBezTo>
                  <a:pt x="6039643" y="6222126"/>
                  <a:pt x="6046356" y="6257468"/>
                  <a:pt x="6052331" y="6287550"/>
                </a:cubicBezTo>
                <a:cubicBezTo>
                  <a:pt x="6058307" y="6317632"/>
                  <a:pt x="6082079" y="6391312"/>
                  <a:pt x="6074143" y="6401595"/>
                </a:cubicBezTo>
                <a:cubicBezTo>
                  <a:pt x="6074931" y="6423902"/>
                  <a:pt x="6059614" y="6432919"/>
                  <a:pt x="6060199" y="6487110"/>
                </a:cubicBezTo>
                <a:cubicBezTo>
                  <a:pt x="6075583" y="6574474"/>
                  <a:pt x="6076150" y="6553611"/>
                  <a:pt x="6081156" y="6588589"/>
                </a:cubicBezTo>
                <a:cubicBezTo>
                  <a:pt x="6102088" y="6637976"/>
                  <a:pt x="6067660" y="6687723"/>
                  <a:pt x="6114944" y="6769963"/>
                </a:cubicBezTo>
                <a:cubicBezTo>
                  <a:pt x="6130462" y="6819284"/>
                  <a:pt x="6119243" y="6817955"/>
                  <a:pt x="6128950" y="6835814"/>
                </a:cubicBezTo>
                <a:lnTo>
                  <a:pt x="6132536" y="6858000"/>
                </a:lnTo>
                <a:lnTo>
                  <a:pt x="4789511" y="6858000"/>
                </a:lnTo>
                <a:lnTo>
                  <a:pt x="1866294" y="6858000"/>
                </a:lnTo>
                <a:lnTo>
                  <a:pt x="1705866" y="6858000"/>
                </a:lnTo>
                <a:lnTo>
                  <a:pt x="1343025" y="6858000"/>
                </a:lnTo>
                <a:lnTo>
                  <a:pt x="523269" y="6858000"/>
                </a:lnTo>
                <a:lnTo>
                  <a:pt x="362841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23DCF9C-47DC-2F37-984C-FC0302E268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4" y="609600"/>
            <a:ext cx="4784796" cy="133084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dirty="0"/>
              <a:t>C – Aufgabe 1.2 a) </a:t>
            </a:r>
            <a:endParaRPr lang="en-US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52AA7F2-51EB-93DA-B826-A3F0682CEE75}"/>
              </a:ext>
            </a:extLst>
          </p:cNvPr>
          <p:cNvSpPr>
            <a:spLocks/>
          </p:cNvSpPr>
          <p:nvPr/>
        </p:nvSpPr>
        <p:spPr>
          <a:xfrm>
            <a:off x="1137034" y="2194102"/>
            <a:ext cx="4438036" cy="390858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/>
          <a:p>
            <a:pPr marL="1714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900" b="1" dirty="0" err="1"/>
              <a:t>Statischer</a:t>
            </a:r>
            <a:r>
              <a:rPr lang="en-US" sz="1900" b="1" dirty="0"/>
              <a:t> Speicher</a:t>
            </a:r>
          </a:p>
          <a:p>
            <a:pPr marL="44577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900" dirty="0" err="1"/>
              <a:t>Zur</a:t>
            </a:r>
            <a:r>
              <a:rPr lang="en-US" sz="1900" dirty="0"/>
              <a:t> </a:t>
            </a:r>
            <a:r>
              <a:rPr lang="en-US" sz="1900" dirty="0" err="1"/>
              <a:t>Kompilierzeit</a:t>
            </a:r>
            <a:r>
              <a:rPr lang="en-US" sz="1900" dirty="0"/>
              <a:t> </a:t>
            </a:r>
            <a:r>
              <a:rPr lang="en-US" sz="1900" dirty="0" err="1"/>
              <a:t>zugewiesen</a:t>
            </a:r>
            <a:endParaRPr lang="en-US" sz="1900" dirty="0"/>
          </a:p>
          <a:p>
            <a:pPr marL="44577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900" dirty="0"/>
              <a:t>Feste </a:t>
            </a:r>
            <a:r>
              <a:rPr lang="en-US" sz="1900" dirty="0" err="1"/>
              <a:t>Größe</a:t>
            </a:r>
            <a:endParaRPr lang="en-US" sz="1900" dirty="0"/>
          </a:p>
          <a:p>
            <a:pPr marL="44577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900" dirty="0" err="1"/>
              <a:t>Keine</a:t>
            </a:r>
            <a:r>
              <a:rPr lang="en-US" sz="1900" dirty="0"/>
              <a:t> </a:t>
            </a:r>
            <a:r>
              <a:rPr lang="en-US" sz="1900" dirty="0" err="1"/>
              <a:t>explizite</a:t>
            </a:r>
            <a:r>
              <a:rPr lang="en-US" sz="1900" dirty="0"/>
              <a:t> </a:t>
            </a:r>
            <a:r>
              <a:rPr lang="en-US" sz="1900" dirty="0" err="1"/>
              <a:t>Freigabe</a:t>
            </a:r>
            <a:r>
              <a:rPr lang="en-US" sz="1900" dirty="0"/>
              <a:t> </a:t>
            </a:r>
            <a:r>
              <a:rPr lang="en-US" sz="1900" dirty="0" err="1"/>
              <a:t>erforderlich</a:t>
            </a:r>
            <a:endParaRPr lang="en-US" sz="1900" dirty="0"/>
          </a:p>
          <a:p>
            <a:pPr marL="44577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900" dirty="0" err="1"/>
              <a:t>Schnellerer</a:t>
            </a:r>
            <a:r>
              <a:rPr lang="en-US" sz="1900" dirty="0"/>
              <a:t> </a:t>
            </a:r>
            <a:r>
              <a:rPr lang="en-US" sz="1900" dirty="0" err="1"/>
              <a:t>Zugriff</a:t>
            </a:r>
            <a:endParaRPr lang="en-US" sz="1900" dirty="0"/>
          </a:p>
          <a:p>
            <a:pPr marL="44577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900" dirty="0"/>
          </a:p>
          <a:p>
            <a:pPr marL="1714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900" b="1" dirty="0" err="1"/>
              <a:t>Dynamischer</a:t>
            </a:r>
            <a:r>
              <a:rPr lang="en-US" sz="1900" b="1" dirty="0"/>
              <a:t> Speicher:</a:t>
            </a:r>
            <a:endParaRPr lang="en-US" sz="1900" dirty="0"/>
          </a:p>
          <a:p>
            <a:pPr marL="44577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900" dirty="0" err="1"/>
              <a:t>Während</a:t>
            </a:r>
            <a:r>
              <a:rPr lang="en-US" sz="1900" dirty="0"/>
              <a:t> </a:t>
            </a:r>
            <a:r>
              <a:rPr lang="en-US" sz="1900" dirty="0" err="1"/>
              <a:t>Laufzeit</a:t>
            </a:r>
            <a:r>
              <a:rPr lang="en-US" sz="1900" dirty="0"/>
              <a:t> </a:t>
            </a:r>
            <a:r>
              <a:rPr lang="en-US" sz="1900" dirty="0" err="1"/>
              <a:t>zugewiesen</a:t>
            </a:r>
            <a:endParaRPr lang="en-US" sz="1900" dirty="0"/>
          </a:p>
          <a:p>
            <a:pPr marL="44577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900" dirty="0" err="1"/>
              <a:t>Flexibel</a:t>
            </a:r>
            <a:r>
              <a:rPr lang="en-US" sz="1900" dirty="0"/>
              <a:t>, </a:t>
            </a:r>
            <a:r>
              <a:rPr lang="en-US" sz="1900" dirty="0" err="1"/>
              <a:t>kann</a:t>
            </a:r>
            <a:r>
              <a:rPr lang="en-US" sz="1900" dirty="0"/>
              <a:t> </a:t>
            </a:r>
            <a:r>
              <a:rPr lang="en-US" sz="1900" dirty="0" err="1"/>
              <a:t>wachsen</a:t>
            </a:r>
            <a:r>
              <a:rPr lang="en-US" sz="1900" dirty="0"/>
              <a:t>/</a:t>
            </a:r>
            <a:r>
              <a:rPr lang="en-US" sz="1900" dirty="0" err="1"/>
              <a:t>schrumpfen</a:t>
            </a:r>
            <a:endParaRPr lang="en-US" sz="1900" dirty="0"/>
          </a:p>
          <a:p>
            <a:pPr marL="44577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900" dirty="0" err="1"/>
              <a:t>Mögliche</a:t>
            </a:r>
            <a:r>
              <a:rPr lang="en-US" sz="1900" dirty="0"/>
              <a:t> </a:t>
            </a:r>
            <a:r>
              <a:rPr lang="en-US" sz="1900" dirty="0" err="1"/>
              <a:t>Fragmentierung</a:t>
            </a:r>
            <a:endParaRPr lang="en-US" sz="1900" dirty="0"/>
          </a:p>
          <a:p>
            <a:pPr marL="44577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900" dirty="0" err="1"/>
              <a:t>Erfordert</a:t>
            </a:r>
            <a:r>
              <a:rPr lang="en-US" sz="1900" dirty="0"/>
              <a:t> </a:t>
            </a:r>
            <a:r>
              <a:rPr lang="en-US" sz="1900" b="1" dirty="0" err="1"/>
              <a:t>explizite</a:t>
            </a:r>
            <a:r>
              <a:rPr lang="en-US" sz="1900" b="1" dirty="0"/>
              <a:t> </a:t>
            </a:r>
            <a:r>
              <a:rPr lang="en-US" sz="1900" b="1" dirty="0" err="1"/>
              <a:t>Freigabe</a:t>
            </a:r>
            <a:r>
              <a:rPr lang="en-US" sz="1900" dirty="0"/>
              <a:t> und </a:t>
            </a:r>
            <a:r>
              <a:rPr lang="en-US" sz="1900" b="1" dirty="0" err="1"/>
              <a:t>langsamerer</a:t>
            </a:r>
            <a:r>
              <a:rPr lang="en-US" sz="1900" b="1" dirty="0"/>
              <a:t> </a:t>
            </a:r>
            <a:r>
              <a:rPr lang="en-US" sz="1900" b="1" dirty="0" err="1"/>
              <a:t>Zugriff</a:t>
            </a:r>
            <a:endParaRPr lang="en-US" sz="1900" dirty="0"/>
          </a:p>
          <a:p>
            <a:pPr marL="720090" lvl="2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900" dirty="0" err="1"/>
              <a:t>Wenn</a:t>
            </a:r>
            <a:r>
              <a:rPr lang="en-US" sz="1900" dirty="0"/>
              <a:t> </a:t>
            </a:r>
            <a:r>
              <a:rPr lang="en-US" sz="1900" dirty="0" err="1"/>
              <a:t>möglich</a:t>
            </a:r>
            <a:r>
              <a:rPr lang="en-US" sz="1900" dirty="0"/>
              <a:t> </a:t>
            </a:r>
            <a:r>
              <a:rPr lang="en-US" sz="1900" dirty="0" err="1"/>
              <a:t>statischen</a:t>
            </a:r>
            <a:r>
              <a:rPr lang="en-US" sz="1900" dirty="0"/>
              <a:t> Speicher </a:t>
            </a:r>
            <a:r>
              <a:rPr lang="en-US" sz="1900" dirty="0" err="1"/>
              <a:t>benutzen</a:t>
            </a:r>
            <a:r>
              <a:rPr lang="en-US" sz="1900" dirty="0"/>
              <a:t>!</a:t>
            </a:r>
            <a:endParaRPr lang="en-US" sz="1900" b="0" i="0" dirty="0">
              <a:effectLst/>
            </a:endParaRPr>
          </a:p>
          <a:p>
            <a:pPr indent="-228600">
              <a:lnSpc>
                <a:spcPct val="90000"/>
              </a:lnSpc>
              <a:buFont typeface="Arial" panose="020B0604020202020204" pitchFamily="34" charset="0"/>
              <a:buChar char="•"/>
            </a:pPr>
            <a:endParaRPr lang="en-US" sz="1400" dirty="0"/>
          </a:p>
        </p:txBody>
      </p:sp>
      <p:pic>
        <p:nvPicPr>
          <p:cNvPr id="3" name="Grafik 2" descr="Ein Bild, das Text, Screenshot, Diagramm, Reihe enthält.&#10;&#10;Automatisch generierte Beschreibung">
            <a:extLst>
              <a:ext uri="{FF2B5EF4-FFF2-40B4-BE49-F238E27FC236}">
                <a16:creationId xmlns:a16="http://schemas.microsoft.com/office/drawing/2014/main" id="{E667EBD8-017D-0B12-AF07-BB09AAFD1C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0610" y="1527281"/>
            <a:ext cx="4737650" cy="3825652"/>
          </a:xfrm>
          <a:prstGeom prst="rect">
            <a:avLst/>
          </a:prstGeom>
        </p:spPr>
      </p:pic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52532051-EB05-ED09-2017-7027A4D27712}"/>
              </a:ext>
            </a:extLst>
          </p:cNvPr>
          <p:cNvSpPr>
            <a:spLocks/>
          </p:cNvSpPr>
          <p:nvPr/>
        </p:nvSpPr>
        <p:spPr>
          <a:xfrm>
            <a:off x="5207640" y="2127708"/>
            <a:ext cx="3148788" cy="2644249"/>
          </a:xfrm>
          <a:prstGeom prst="rect">
            <a:avLst/>
          </a:prstGeom>
        </p:spPr>
        <p:txBody>
          <a:bodyPr/>
          <a:lstStyle/>
          <a:p>
            <a:pPr marL="274320" lvl="1" defTabSz="548640">
              <a:spcAft>
                <a:spcPts val="600"/>
              </a:spcAft>
            </a:pPr>
            <a:endParaRPr lang="de-DE" sz="1080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>
              <a:spcAft>
                <a:spcPts val="600"/>
              </a:spcAft>
            </a:pP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190969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4750B6E-B7A7-B17C-C8D2-7C12C9C584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 – Aufgabe 1.2 a) 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9B0FE3DD-F29D-CB0B-2963-E5FDC75872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endParaRPr lang="de-DE" sz="22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 marL="0" indent="0">
              <a:buNone/>
            </a:pPr>
            <a:endParaRPr lang="de-DE" sz="2200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b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</a:br>
            <a:r>
              <a:rPr lang="de-DE" sz="2200" b="0" dirty="0" err="1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int</a:t>
            </a:r>
            <a: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de-DE" sz="2200" b="0" dirty="0" err="1">
                <a:solidFill>
                  <a:srgbClr val="74531F"/>
                </a:solidFill>
                <a:effectLst/>
                <a:latin typeface="Menlo" panose="020B0609030804020204" pitchFamily="49" charset="0"/>
              </a:rPr>
              <a:t>main</a:t>
            </a:r>
            <a: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() {</a:t>
            </a:r>
          </a:p>
          <a:p>
            <a:pPr marL="0" indent="0">
              <a:buNone/>
            </a:pPr>
            <a:endParaRPr lang="de-DE" sz="2200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endParaRPr lang="de-DE" sz="22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 marL="0" indent="0">
              <a:buNone/>
            </a:pPr>
            <a:endParaRPr lang="de-DE" sz="2200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endParaRPr lang="de-DE" sz="22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 marL="0" indent="0">
              <a:buNone/>
            </a:pPr>
            <a:endParaRPr lang="de-DE" sz="22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}</a:t>
            </a:r>
            <a:br>
              <a:rPr lang="de-DE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</a:br>
            <a:endParaRPr lang="de-DE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082831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4750B6E-B7A7-B17C-C8D2-7C12C9C584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 – Aufgabe 1.2 a) 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9B0FE3DD-F29D-CB0B-2963-E5FDC75872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endParaRPr lang="de-DE" sz="22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 marL="0" indent="0">
              <a:buNone/>
            </a:pPr>
            <a:endParaRPr lang="de-DE" sz="2200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b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</a:br>
            <a:r>
              <a:rPr lang="de-DE" sz="2200" b="0" dirty="0" err="1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int</a:t>
            </a:r>
            <a: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de-DE" sz="2200" b="0" dirty="0" err="1">
                <a:solidFill>
                  <a:srgbClr val="74531F"/>
                </a:solidFill>
                <a:effectLst/>
                <a:latin typeface="Menlo" panose="020B0609030804020204" pitchFamily="49" charset="0"/>
              </a:rPr>
              <a:t>main</a:t>
            </a:r>
            <a: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() {</a:t>
            </a:r>
          </a:p>
          <a:p>
            <a:pPr marL="0" indent="0">
              <a:buNone/>
            </a:pPr>
            <a:r>
              <a:rPr lang="de-DE" sz="22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	</a:t>
            </a:r>
            <a:r>
              <a:rPr lang="de-DE" sz="2200" b="0" dirty="0" err="1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int</a:t>
            </a:r>
            <a: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*</a:t>
            </a:r>
            <a:r>
              <a:rPr lang="de-DE" sz="2200" b="0" dirty="0" err="1">
                <a:solidFill>
                  <a:srgbClr val="1F377F"/>
                </a:solidFill>
                <a:effectLst/>
                <a:latin typeface="Menlo" panose="020B0609030804020204" pitchFamily="49" charset="0"/>
              </a:rPr>
              <a:t>meinezahl</a:t>
            </a:r>
            <a: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= </a:t>
            </a:r>
            <a:r>
              <a:rPr lang="de-DE" sz="2200" b="0" dirty="0" err="1">
                <a:solidFill>
                  <a:srgbClr val="74531F"/>
                </a:solidFill>
                <a:effectLst/>
                <a:latin typeface="Menlo" panose="020B0609030804020204" pitchFamily="49" charset="0"/>
              </a:rPr>
              <a:t>malloc</a:t>
            </a:r>
            <a: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de-DE" sz="2200" b="0" dirty="0" err="1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sizeof</a:t>
            </a:r>
            <a: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de-DE" sz="2200" b="0" dirty="0" err="1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int</a:t>
            </a:r>
            <a: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));</a:t>
            </a:r>
          </a:p>
          <a:p>
            <a:pPr marL="0" indent="0">
              <a:buNone/>
            </a:pPr>
            <a:r>
              <a:rPr lang="de-DE" sz="2200" b="0" dirty="0">
                <a:solidFill>
                  <a:srgbClr val="74531F"/>
                </a:solidFill>
                <a:effectLst/>
                <a:latin typeface="Menlo" panose="020B0609030804020204" pitchFamily="49" charset="0"/>
              </a:rPr>
              <a:t>	</a:t>
            </a:r>
            <a:endParaRPr lang="de-DE" sz="22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 marL="0" indent="0">
              <a:buNone/>
            </a:pPr>
            <a:endParaRPr lang="de-DE" sz="22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 marL="0" indent="0">
              <a:buNone/>
            </a:pPr>
            <a:endParaRPr lang="de-DE" sz="2200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endParaRPr lang="de-DE" sz="22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}</a:t>
            </a:r>
            <a:br>
              <a:rPr lang="de-DE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</a:br>
            <a:endParaRPr lang="de-DE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394098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4750B6E-B7A7-B17C-C8D2-7C12C9C584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 – Aufgabe 1.2 a) 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9B0FE3DD-F29D-CB0B-2963-E5FDC75872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endParaRPr lang="de-DE" sz="2200" b="0" dirty="0">
              <a:solidFill>
                <a:srgbClr val="808080"/>
              </a:solidFill>
              <a:effectLst/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de-DE" sz="2200" b="0" dirty="0">
                <a:solidFill>
                  <a:srgbClr val="808080"/>
                </a:solidFill>
                <a:effectLst/>
                <a:latin typeface="Menlo" panose="020B0609030804020204" pitchFamily="49" charset="0"/>
              </a:rPr>
              <a:t>#</a:t>
            </a:r>
            <a:r>
              <a:rPr lang="de-DE" sz="2200" b="0" dirty="0" err="1">
                <a:solidFill>
                  <a:srgbClr val="808080"/>
                </a:solidFill>
                <a:effectLst/>
                <a:latin typeface="Menlo" panose="020B0609030804020204" pitchFamily="49" charset="0"/>
              </a:rPr>
              <a:t>include</a:t>
            </a:r>
            <a: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de-DE" sz="2200" b="0" dirty="0">
                <a:solidFill>
                  <a:srgbClr val="E21F1F"/>
                </a:solidFill>
                <a:effectLst/>
                <a:latin typeface="Menlo" panose="020B0609030804020204" pitchFamily="49" charset="0"/>
              </a:rPr>
              <a:t>&lt;</a:t>
            </a:r>
            <a:r>
              <a:rPr lang="de-DE" sz="2200" b="0" dirty="0" err="1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stdlib.h</a:t>
            </a:r>
            <a:r>
              <a:rPr lang="de-DE" sz="2200" b="0" dirty="0">
                <a:solidFill>
                  <a:srgbClr val="E21F1F"/>
                </a:solidFill>
                <a:effectLst/>
                <a:latin typeface="Menlo" panose="020B0609030804020204" pitchFamily="49" charset="0"/>
              </a:rPr>
              <a:t>&gt;</a:t>
            </a:r>
            <a:endParaRPr lang="de-DE" sz="22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 marL="0" indent="0">
              <a:buNone/>
            </a:pPr>
            <a:b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</a:br>
            <a:r>
              <a:rPr lang="de-DE" sz="2200" b="0" dirty="0" err="1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int</a:t>
            </a:r>
            <a: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de-DE" sz="2200" b="0" dirty="0" err="1">
                <a:solidFill>
                  <a:srgbClr val="74531F"/>
                </a:solidFill>
                <a:effectLst/>
                <a:latin typeface="Menlo" panose="020B0609030804020204" pitchFamily="49" charset="0"/>
              </a:rPr>
              <a:t>main</a:t>
            </a:r>
            <a: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() {</a:t>
            </a:r>
          </a:p>
          <a:p>
            <a:pPr marL="0" indent="0">
              <a:buNone/>
            </a:pPr>
            <a:r>
              <a:rPr lang="de-DE" sz="22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	</a:t>
            </a:r>
            <a:r>
              <a:rPr lang="de-DE" sz="2200" b="0" dirty="0" err="1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int</a:t>
            </a:r>
            <a: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*</a:t>
            </a:r>
            <a:r>
              <a:rPr lang="de-DE" sz="2200" b="0" dirty="0" err="1">
                <a:solidFill>
                  <a:srgbClr val="1F377F"/>
                </a:solidFill>
                <a:effectLst/>
                <a:latin typeface="Menlo" panose="020B0609030804020204" pitchFamily="49" charset="0"/>
              </a:rPr>
              <a:t>meinezahl</a:t>
            </a:r>
            <a: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= </a:t>
            </a:r>
            <a:r>
              <a:rPr lang="de-DE" sz="2200" b="0" dirty="0" err="1">
                <a:solidFill>
                  <a:srgbClr val="74531F"/>
                </a:solidFill>
                <a:effectLst/>
                <a:latin typeface="Menlo" panose="020B0609030804020204" pitchFamily="49" charset="0"/>
              </a:rPr>
              <a:t>malloc</a:t>
            </a:r>
            <a: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de-DE" sz="2200" b="0" dirty="0" err="1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sizeof</a:t>
            </a:r>
            <a: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de-DE" sz="2200" b="0" dirty="0" err="1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int</a:t>
            </a:r>
            <a: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));</a:t>
            </a:r>
          </a:p>
          <a:p>
            <a:pPr marL="0" indent="0">
              <a:buNone/>
            </a:pPr>
            <a:endParaRPr lang="de-DE" sz="2200" dirty="0">
              <a:solidFill>
                <a:srgbClr val="74531F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endParaRPr lang="de-DE" sz="2200" dirty="0">
              <a:solidFill>
                <a:srgbClr val="74531F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endParaRPr lang="de-DE" sz="2200" b="0" dirty="0">
              <a:solidFill>
                <a:srgbClr val="74531F"/>
              </a:solidFill>
              <a:effectLst/>
              <a:latin typeface="Menlo" panose="020B0609030804020204" pitchFamily="49" charset="0"/>
            </a:endParaRPr>
          </a:p>
          <a:p>
            <a:pPr marL="0" indent="0">
              <a:buNone/>
            </a:pPr>
            <a:endParaRPr lang="de-DE" sz="2200" dirty="0">
              <a:solidFill>
                <a:srgbClr val="74531F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}</a:t>
            </a:r>
            <a:br>
              <a:rPr lang="de-DE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</a:br>
            <a:endParaRPr lang="de-DE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275087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4750B6E-B7A7-B17C-C8D2-7C12C9C584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 – Aufgabe 1.2 a) 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9B0FE3DD-F29D-CB0B-2963-E5FDC75872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sz="2200" b="0" dirty="0">
                <a:solidFill>
                  <a:srgbClr val="808080"/>
                </a:solidFill>
                <a:effectLst/>
                <a:latin typeface="Menlo" panose="020B0609030804020204" pitchFamily="49" charset="0"/>
              </a:rPr>
              <a:t>#</a:t>
            </a:r>
            <a:r>
              <a:rPr lang="de-DE" sz="2200" b="0" dirty="0" err="1">
                <a:solidFill>
                  <a:srgbClr val="808080"/>
                </a:solidFill>
                <a:effectLst/>
                <a:latin typeface="Menlo" panose="020B0609030804020204" pitchFamily="49" charset="0"/>
              </a:rPr>
              <a:t>include</a:t>
            </a:r>
            <a: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de-DE" sz="2200" b="0" dirty="0">
                <a:solidFill>
                  <a:srgbClr val="E21F1F"/>
                </a:solidFill>
                <a:effectLst/>
                <a:latin typeface="Menlo" panose="020B0609030804020204" pitchFamily="49" charset="0"/>
              </a:rPr>
              <a:t>&lt;</a:t>
            </a:r>
            <a:r>
              <a:rPr lang="de-DE" sz="2200" b="0" dirty="0" err="1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stdio.h</a:t>
            </a:r>
            <a:r>
              <a:rPr lang="de-DE" sz="2200" b="0" dirty="0">
                <a:solidFill>
                  <a:srgbClr val="E21F1F"/>
                </a:solidFill>
                <a:effectLst/>
                <a:latin typeface="Menlo" panose="020B0609030804020204" pitchFamily="49" charset="0"/>
              </a:rPr>
              <a:t>&gt;</a:t>
            </a:r>
            <a:endParaRPr lang="de-DE" sz="22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de-DE" sz="2200" b="0" dirty="0">
                <a:solidFill>
                  <a:srgbClr val="808080"/>
                </a:solidFill>
                <a:effectLst/>
                <a:latin typeface="Menlo" panose="020B0609030804020204" pitchFamily="49" charset="0"/>
              </a:rPr>
              <a:t>#</a:t>
            </a:r>
            <a:r>
              <a:rPr lang="de-DE" sz="2200" b="0" dirty="0" err="1">
                <a:solidFill>
                  <a:srgbClr val="808080"/>
                </a:solidFill>
                <a:effectLst/>
                <a:latin typeface="Menlo" panose="020B0609030804020204" pitchFamily="49" charset="0"/>
              </a:rPr>
              <a:t>include</a:t>
            </a:r>
            <a: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de-DE" sz="2200" b="0" dirty="0">
                <a:solidFill>
                  <a:srgbClr val="E21F1F"/>
                </a:solidFill>
                <a:effectLst/>
                <a:latin typeface="Menlo" panose="020B0609030804020204" pitchFamily="49" charset="0"/>
              </a:rPr>
              <a:t>&lt;</a:t>
            </a:r>
            <a:r>
              <a:rPr lang="de-DE" sz="2200" b="0" dirty="0" err="1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stdlib.h</a:t>
            </a:r>
            <a:r>
              <a:rPr lang="de-DE" sz="2200" b="0" dirty="0">
                <a:solidFill>
                  <a:srgbClr val="E21F1F"/>
                </a:solidFill>
                <a:effectLst/>
                <a:latin typeface="Menlo" panose="020B0609030804020204" pitchFamily="49" charset="0"/>
              </a:rPr>
              <a:t>&gt;</a:t>
            </a:r>
            <a:endParaRPr lang="de-DE" sz="22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 marL="0" indent="0">
              <a:buNone/>
            </a:pPr>
            <a:b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</a:br>
            <a:r>
              <a:rPr lang="de-DE" sz="2200" b="0" dirty="0" err="1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int</a:t>
            </a:r>
            <a: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de-DE" sz="2200" b="0" dirty="0" err="1">
                <a:solidFill>
                  <a:srgbClr val="74531F"/>
                </a:solidFill>
                <a:effectLst/>
                <a:latin typeface="Menlo" panose="020B0609030804020204" pitchFamily="49" charset="0"/>
              </a:rPr>
              <a:t>main</a:t>
            </a:r>
            <a: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() {</a:t>
            </a:r>
          </a:p>
          <a:p>
            <a:pPr marL="0" indent="0">
              <a:buNone/>
            </a:pPr>
            <a:r>
              <a:rPr lang="de-DE" sz="22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	</a:t>
            </a:r>
            <a:r>
              <a:rPr lang="de-DE" sz="2200" b="0" dirty="0" err="1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int</a:t>
            </a:r>
            <a: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*</a:t>
            </a:r>
            <a:r>
              <a:rPr lang="de-DE" sz="2200" b="0" dirty="0" err="1">
                <a:solidFill>
                  <a:srgbClr val="1F377F"/>
                </a:solidFill>
                <a:effectLst/>
                <a:latin typeface="Menlo" panose="020B0609030804020204" pitchFamily="49" charset="0"/>
              </a:rPr>
              <a:t>meinezahl</a:t>
            </a:r>
            <a: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= </a:t>
            </a:r>
            <a:r>
              <a:rPr lang="de-DE" sz="2200" b="0" dirty="0" err="1">
                <a:solidFill>
                  <a:srgbClr val="74531F"/>
                </a:solidFill>
                <a:effectLst/>
                <a:latin typeface="Menlo" panose="020B0609030804020204" pitchFamily="49" charset="0"/>
              </a:rPr>
              <a:t>malloc</a:t>
            </a:r>
            <a: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de-DE" sz="2200" b="0" dirty="0" err="1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sizeof</a:t>
            </a:r>
            <a: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de-DE" sz="2200" b="0" dirty="0" err="1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int</a:t>
            </a:r>
            <a: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));</a:t>
            </a:r>
          </a:p>
          <a:p>
            <a:pPr marL="0" indent="0">
              <a:buNone/>
            </a:pPr>
            <a:r>
              <a:rPr lang="de-DE" sz="2200" b="0" dirty="0">
                <a:solidFill>
                  <a:srgbClr val="74531F"/>
                </a:solidFill>
                <a:effectLst/>
                <a:latin typeface="Menlo" panose="020B0609030804020204" pitchFamily="49" charset="0"/>
              </a:rPr>
              <a:t>	</a:t>
            </a:r>
            <a:r>
              <a:rPr lang="de-DE" sz="2200" b="0" dirty="0" err="1">
                <a:solidFill>
                  <a:srgbClr val="74531F"/>
                </a:solidFill>
                <a:effectLst/>
                <a:latin typeface="Menlo" panose="020B0609030804020204" pitchFamily="49" charset="0"/>
              </a:rPr>
              <a:t>printf</a:t>
            </a:r>
            <a: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de-DE" sz="2200" b="0" dirty="0">
                <a:solidFill>
                  <a:srgbClr val="E21F1F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de-DE" sz="2200" b="0" dirty="0">
                <a:solidFill>
                  <a:srgbClr val="1F377F"/>
                </a:solidFill>
                <a:effectLst/>
                <a:latin typeface="Menlo" panose="020B0609030804020204" pitchFamily="49" charset="0"/>
              </a:rPr>
              <a:t>%p</a:t>
            </a:r>
            <a:r>
              <a:rPr lang="de-DE" sz="2200" b="0" dirty="0">
                <a:solidFill>
                  <a:srgbClr val="B776FB"/>
                </a:solidFill>
                <a:effectLst/>
                <a:latin typeface="Menlo" panose="020B0609030804020204" pitchFamily="49" charset="0"/>
              </a:rPr>
              <a:t>\</a:t>
            </a:r>
            <a:r>
              <a:rPr lang="de-DE" sz="2200" b="0" dirty="0" err="1">
                <a:solidFill>
                  <a:srgbClr val="B776FB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de-DE" sz="2200" b="0" dirty="0">
                <a:solidFill>
                  <a:srgbClr val="E21F1F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de-DE" sz="2200" b="0" dirty="0" err="1">
                <a:solidFill>
                  <a:srgbClr val="1F377F"/>
                </a:solidFill>
                <a:effectLst/>
                <a:latin typeface="Menlo" panose="020B0609030804020204" pitchFamily="49" charset="0"/>
              </a:rPr>
              <a:t>meinezahl</a:t>
            </a:r>
            <a: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);</a:t>
            </a:r>
          </a:p>
          <a:p>
            <a:pPr marL="0" indent="0">
              <a:buNone/>
            </a:pPr>
            <a:endParaRPr lang="de-DE" sz="22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 marL="0" indent="0">
              <a:buNone/>
            </a:pPr>
            <a:endParaRPr lang="de-DE" sz="22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 marL="0" indent="0">
              <a:buNone/>
            </a:pPr>
            <a:endParaRPr lang="de-DE" sz="22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}</a:t>
            </a:r>
            <a:br>
              <a:rPr lang="de-DE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</a:br>
            <a:endParaRPr lang="de-DE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1243258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4750B6E-B7A7-B17C-C8D2-7C12C9C584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 – Aufgabe 1.2 a) 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9B0FE3DD-F29D-CB0B-2963-E5FDC75872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sz="2200" b="0" dirty="0">
                <a:solidFill>
                  <a:srgbClr val="808080"/>
                </a:solidFill>
                <a:effectLst/>
                <a:latin typeface="Menlo" panose="020B0609030804020204" pitchFamily="49" charset="0"/>
              </a:rPr>
              <a:t>#</a:t>
            </a:r>
            <a:r>
              <a:rPr lang="de-DE" sz="2200" b="0" dirty="0" err="1">
                <a:solidFill>
                  <a:srgbClr val="808080"/>
                </a:solidFill>
                <a:effectLst/>
                <a:latin typeface="Menlo" panose="020B0609030804020204" pitchFamily="49" charset="0"/>
              </a:rPr>
              <a:t>include</a:t>
            </a:r>
            <a: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de-DE" sz="2200" b="0" dirty="0">
                <a:solidFill>
                  <a:srgbClr val="E21F1F"/>
                </a:solidFill>
                <a:effectLst/>
                <a:latin typeface="Menlo" panose="020B0609030804020204" pitchFamily="49" charset="0"/>
              </a:rPr>
              <a:t>&lt;</a:t>
            </a:r>
            <a:r>
              <a:rPr lang="de-DE" sz="2200" b="0" dirty="0" err="1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stdio.h</a:t>
            </a:r>
            <a:r>
              <a:rPr lang="de-DE" sz="2200" b="0" dirty="0">
                <a:solidFill>
                  <a:srgbClr val="E21F1F"/>
                </a:solidFill>
                <a:effectLst/>
                <a:latin typeface="Menlo" panose="020B0609030804020204" pitchFamily="49" charset="0"/>
              </a:rPr>
              <a:t>&gt;</a:t>
            </a:r>
            <a:endParaRPr lang="de-DE" sz="22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de-DE" sz="2200" b="0" dirty="0">
                <a:solidFill>
                  <a:srgbClr val="808080"/>
                </a:solidFill>
                <a:effectLst/>
                <a:latin typeface="Menlo" panose="020B0609030804020204" pitchFamily="49" charset="0"/>
              </a:rPr>
              <a:t>#</a:t>
            </a:r>
            <a:r>
              <a:rPr lang="de-DE" sz="2200" b="0" dirty="0" err="1">
                <a:solidFill>
                  <a:srgbClr val="808080"/>
                </a:solidFill>
                <a:effectLst/>
                <a:latin typeface="Menlo" panose="020B0609030804020204" pitchFamily="49" charset="0"/>
              </a:rPr>
              <a:t>include</a:t>
            </a:r>
            <a: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de-DE" sz="2200" b="0" dirty="0">
                <a:solidFill>
                  <a:srgbClr val="E21F1F"/>
                </a:solidFill>
                <a:effectLst/>
                <a:latin typeface="Menlo" panose="020B0609030804020204" pitchFamily="49" charset="0"/>
              </a:rPr>
              <a:t>&lt;</a:t>
            </a:r>
            <a:r>
              <a:rPr lang="de-DE" sz="2200" b="0" dirty="0" err="1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stdlib.h</a:t>
            </a:r>
            <a:r>
              <a:rPr lang="de-DE" sz="2200" b="0" dirty="0">
                <a:solidFill>
                  <a:srgbClr val="E21F1F"/>
                </a:solidFill>
                <a:effectLst/>
                <a:latin typeface="Menlo" panose="020B0609030804020204" pitchFamily="49" charset="0"/>
              </a:rPr>
              <a:t>&gt;</a:t>
            </a:r>
            <a:endParaRPr lang="de-DE" sz="22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 marL="0" indent="0">
              <a:buNone/>
            </a:pPr>
            <a:b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</a:br>
            <a:r>
              <a:rPr lang="de-DE" sz="2200" b="0" dirty="0" err="1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int</a:t>
            </a:r>
            <a: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de-DE" sz="2200" b="0" dirty="0" err="1">
                <a:solidFill>
                  <a:srgbClr val="74531F"/>
                </a:solidFill>
                <a:effectLst/>
                <a:latin typeface="Menlo" panose="020B0609030804020204" pitchFamily="49" charset="0"/>
              </a:rPr>
              <a:t>main</a:t>
            </a:r>
            <a: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() {</a:t>
            </a:r>
          </a:p>
          <a:p>
            <a:pPr marL="0" indent="0">
              <a:buNone/>
            </a:pPr>
            <a:r>
              <a:rPr lang="de-DE" sz="22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	</a:t>
            </a:r>
            <a:r>
              <a:rPr lang="de-DE" sz="2200" b="0" dirty="0" err="1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int</a:t>
            </a:r>
            <a: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*</a:t>
            </a:r>
            <a:r>
              <a:rPr lang="de-DE" sz="2200" b="0" dirty="0" err="1">
                <a:solidFill>
                  <a:srgbClr val="1F377F"/>
                </a:solidFill>
                <a:effectLst/>
                <a:latin typeface="Menlo" panose="020B0609030804020204" pitchFamily="49" charset="0"/>
              </a:rPr>
              <a:t>meinezahl</a:t>
            </a:r>
            <a: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= </a:t>
            </a:r>
            <a:r>
              <a:rPr lang="de-DE" sz="2200" b="0" dirty="0" err="1">
                <a:solidFill>
                  <a:srgbClr val="74531F"/>
                </a:solidFill>
                <a:effectLst/>
                <a:latin typeface="Menlo" panose="020B0609030804020204" pitchFamily="49" charset="0"/>
              </a:rPr>
              <a:t>malloc</a:t>
            </a:r>
            <a: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de-DE" sz="2200" b="0" dirty="0" err="1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sizeof</a:t>
            </a:r>
            <a: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de-DE" sz="2200" b="0" dirty="0" err="1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int</a:t>
            </a:r>
            <a: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));</a:t>
            </a:r>
          </a:p>
          <a:p>
            <a:pPr marL="0" indent="0">
              <a:buNone/>
            </a:pPr>
            <a:r>
              <a:rPr lang="de-DE" sz="2200" b="0" dirty="0">
                <a:solidFill>
                  <a:srgbClr val="74531F"/>
                </a:solidFill>
                <a:effectLst/>
                <a:latin typeface="Menlo" panose="020B0609030804020204" pitchFamily="49" charset="0"/>
              </a:rPr>
              <a:t>	</a:t>
            </a:r>
            <a:r>
              <a:rPr lang="de-DE" sz="2200" b="0" dirty="0" err="1">
                <a:solidFill>
                  <a:srgbClr val="74531F"/>
                </a:solidFill>
                <a:effectLst/>
                <a:latin typeface="Menlo" panose="020B0609030804020204" pitchFamily="49" charset="0"/>
              </a:rPr>
              <a:t>printf</a:t>
            </a:r>
            <a: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de-DE" sz="2200" b="0" dirty="0">
                <a:solidFill>
                  <a:srgbClr val="E21F1F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de-DE" sz="2200" b="0" dirty="0">
                <a:solidFill>
                  <a:srgbClr val="1F377F"/>
                </a:solidFill>
                <a:effectLst/>
                <a:latin typeface="Menlo" panose="020B0609030804020204" pitchFamily="49" charset="0"/>
              </a:rPr>
              <a:t>%p</a:t>
            </a:r>
            <a:r>
              <a:rPr lang="de-DE" sz="2200" b="0" dirty="0">
                <a:solidFill>
                  <a:srgbClr val="B776FB"/>
                </a:solidFill>
                <a:effectLst/>
                <a:latin typeface="Menlo" panose="020B0609030804020204" pitchFamily="49" charset="0"/>
              </a:rPr>
              <a:t>\</a:t>
            </a:r>
            <a:r>
              <a:rPr lang="de-DE" sz="2200" b="0" dirty="0" err="1">
                <a:solidFill>
                  <a:srgbClr val="B776FB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de-DE" sz="2200" b="0" dirty="0">
                <a:solidFill>
                  <a:srgbClr val="E21F1F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de-DE" sz="2200" b="0" dirty="0" err="1">
                <a:solidFill>
                  <a:srgbClr val="1F377F"/>
                </a:solidFill>
                <a:effectLst/>
                <a:latin typeface="Menlo" panose="020B0609030804020204" pitchFamily="49" charset="0"/>
              </a:rPr>
              <a:t>meinezahl</a:t>
            </a:r>
            <a: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);</a:t>
            </a:r>
          </a:p>
          <a:p>
            <a:pPr marL="0" indent="0">
              <a:buNone/>
            </a:pPr>
            <a:endParaRPr lang="de-DE" sz="22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de-DE" sz="22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	</a:t>
            </a:r>
            <a:r>
              <a:rPr lang="de-DE" sz="2200" b="0" dirty="0" err="1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unsigned</a:t>
            </a:r>
            <a: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de-DE" sz="2200" b="0" dirty="0" err="1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long</a:t>
            </a:r>
            <a: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de-DE" sz="2200" b="0" dirty="0" err="1">
                <a:solidFill>
                  <a:srgbClr val="1F377F"/>
                </a:solidFill>
                <a:effectLst/>
                <a:latin typeface="Menlo" panose="020B0609030804020204" pitchFamily="49" charset="0"/>
              </a:rPr>
              <a:t>adresse</a:t>
            </a:r>
            <a: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= (</a:t>
            </a:r>
            <a:r>
              <a:rPr lang="de-DE" sz="2200" b="0" dirty="0" err="1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unsigned</a:t>
            </a:r>
            <a: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de-DE" sz="2200" b="0" dirty="0" err="1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long</a:t>
            </a:r>
            <a: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 </a:t>
            </a:r>
            <a:r>
              <a:rPr lang="de-DE" sz="2200" b="0" dirty="0" err="1">
                <a:solidFill>
                  <a:srgbClr val="1F377F"/>
                </a:solidFill>
                <a:effectLst/>
                <a:latin typeface="Menlo" panose="020B0609030804020204" pitchFamily="49" charset="0"/>
              </a:rPr>
              <a:t>meinezahl</a:t>
            </a:r>
            <a: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;</a:t>
            </a:r>
          </a:p>
          <a:p>
            <a:pPr marL="0" indent="0">
              <a:buNone/>
            </a:pPr>
            <a:r>
              <a:rPr lang="de-DE" sz="2200" b="0" dirty="0">
                <a:solidFill>
                  <a:srgbClr val="74531F"/>
                </a:solidFill>
                <a:effectLst/>
                <a:latin typeface="Menlo" panose="020B0609030804020204" pitchFamily="49" charset="0"/>
              </a:rPr>
              <a:t>	</a:t>
            </a:r>
            <a:r>
              <a:rPr lang="de-DE" sz="2200" b="0" dirty="0" err="1">
                <a:solidFill>
                  <a:srgbClr val="74531F"/>
                </a:solidFill>
                <a:effectLst/>
                <a:latin typeface="Menlo" panose="020B0609030804020204" pitchFamily="49" charset="0"/>
              </a:rPr>
              <a:t>printf</a:t>
            </a:r>
            <a: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de-DE" sz="2200" b="0" dirty="0">
                <a:solidFill>
                  <a:srgbClr val="E21F1F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de-DE" sz="2200" b="0" dirty="0">
                <a:solidFill>
                  <a:srgbClr val="1F377F"/>
                </a:solidFill>
                <a:effectLst/>
                <a:latin typeface="Menlo" panose="020B0609030804020204" pitchFamily="49" charset="0"/>
              </a:rPr>
              <a:t>%</a:t>
            </a:r>
            <a:r>
              <a:rPr lang="de-DE" sz="2200" b="0" dirty="0" err="1">
                <a:solidFill>
                  <a:srgbClr val="1F377F"/>
                </a:solidFill>
                <a:effectLst/>
                <a:latin typeface="Menlo" panose="020B0609030804020204" pitchFamily="49" charset="0"/>
              </a:rPr>
              <a:t>lu</a:t>
            </a:r>
            <a:r>
              <a:rPr lang="de-DE" sz="2200" b="0" dirty="0">
                <a:solidFill>
                  <a:srgbClr val="B776FB"/>
                </a:solidFill>
                <a:effectLst/>
                <a:latin typeface="Menlo" panose="020B0609030804020204" pitchFamily="49" charset="0"/>
              </a:rPr>
              <a:t>\</a:t>
            </a:r>
            <a:r>
              <a:rPr lang="de-DE" sz="2200" b="0" dirty="0" err="1">
                <a:solidFill>
                  <a:srgbClr val="B776FB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de-DE" sz="2200" b="0" dirty="0">
                <a:solidFill>
                  <a:srgbClr val="E21F1F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de-DE" sz="2200" b="0" dirty="0" err="1">
                <a:solidFill>
                  <a:srgbClr val="1F377F"/>
                </a:solidFill>
                <a:effectLst/>
                <a:latin typeface="Menlo" panose="020B0609030804020204" pitchFamily="49" charset="0"/>
              </a:rPr>
              <a:t>adresse</a:t>
            </a:r>
            <a: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);</a:t>
            </a:r>
          </a:p>
          <a:p>
            <a:pPr marL="0" indent="0">
              <a:buNone/>
            </a:pPr>
            <a: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}</a:t>
            </a:r>
            <a:br>
              <a:rPr lang="de-DE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</a:br>
            <a:endParaRPr lang="de-DE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017858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23DCF9C-47DC-2F37-984C-FC0302E268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de-DE" dirty="0">
                <a:solidFill>
                  <a:srgbClr val="FFFFFF"/>
                </a:solidFill>
              </a:rPr>
              <a:t>C – Aufgabe 1.2 b) </a:t>
            </a:r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52532051-EB05-ED09-2017-7027A4D277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de-DE" dirty="0"/>
              <a:t>Deklarieren Sie auf normalem (statischem) Weg eine Variable. Geben Sie wieder die Speicheradresse im Hex-Format und als Dezimalzahl aus.</a:t>
            </a:r>
          </a:p>
        </p:txBody>
      </p:sp>
    </p:spTree>
    <p:extLst>
      <p:ext uri="{BB962C8B-B14F-4D97-AF65-F5344CB8AC3E}">
        <p14:creationId xmlns:p14="http://schemas.microsoft.com/office/powerpoint/2010/main" val="35068001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4750B6E-B7A7-B17C-C8D2-7C12C9C584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 – Aufgabe 1.2 b) 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9B0FE3DD-F29D-CB0B-2963-E5FDC75872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sz="2200" b="0" dirty="0">
                <a:solidFill>
                  <a:srgbClr val="808080"/>
                </a:solidFill>
                <a:effectLst/>
                <a:latin typeface="Menlo" panose="020B0609030804020204" pitchFamily="49" charset="0"/>
              </a:rPr>
              <a:t>#</a:t>
            </a:r>
            <a:r>
              <a:rPr lang="de-DE" sz="2200" b="0" dirty="0" err="1">
                <a:solidFill>
                  <a:srgbClr val="808080"/>
                </a:solidFill>
                <a:effectLst/>
                <a:latin typeface="Menlo" panose="020B0609030804020204" pitchFamily="49" charset="0"/>
              </a:rPr>
              <a:t>include</a:t>
            </a:r>
            <a: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de-DE" sz="2200" b="0" dirty="0">
                <a:solidFill>
                  <a:srgbClr val="E21F1F"/>
                </a:solidFill>
                <a:effectLst/>
                <a:latin typeface="Menlo" panose="020B0609030804020204" pitchFamily="49" charset="0"/>
              </a:rPr>
              <a:t>&lt;</a:t>
            </a:r>
            <a:r>
              <a:rPr lang="de-DE" sz="2200" b="0" dirty="0" err="1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stdio.h</a:t>
            </a:r>
            <a:r>
              <a:rPr lang="de-DE" sz="2200" b="0" dirty="0">
                <a:solidFill>
                  <a:srgbClr val="E21F1F"/>
                </a:solidFill>
                <a:effectLst/>
                <a:latin typeface="Menlo" panose="020B0609030804020204" pitchFamily="49" charset="0"/>
              </a:rPr>
              <a:t>&gt;</a:t>
            </a:r>
            <a:endParaRPr lang="de-DE" sz="22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 marL="0" indent="0">
              <a:buNone/>
            </a:pPr>
            <a:b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</a:br>
            <a:r>
              <a:rPr lang="de-DE" sz="2200" b="0" dirty="0" err="1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int</a:t>
            </a:r>
            <a: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de-DE" sz="2200" b="0" dirty="0" err="1">
                <a:solidFill>
                  <a:srgbClr val="74531F"/>
                </a:solidFill>
                <a:effectLst/>
                <a:latin typeface="Menlo" panose="020B0609030804020204" pitchFamily="49" charset="0"/>
              </a:rPr>
              <a:t>main</a:t>
            </a:r>
            <a: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() {</a:t>
            </a:r>
          </a:p>
          <a:p>
            <a:pPr marL="0" indent="0">
              <a:buNone/>
            </a:pPr>
            <a:r>
              <a:rPr lang="de-DE" sz="22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	</a:t>
            </a:r>
            <a:endParaRPr lang="de-DE" sz="22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de-DE" sz="2200" b="0" dirty="0">
                <a:solidFill>
                  <a:srgbClr val="74531F"/>
                </a:solidFill>
                <a:effectLst/>
                <a:latin typeface="Menlo" panose="020B0609030804020204" pitchFamily="49" charset="0"/>
              </a:rPr>
              <a:t>	</a:t>
            </a:r>
            <a:r>
              <a:rPr lang="de-DE" sz="2200" b="0" dirty="0" err="1">
                <a:solidFill>
                  <a:srgbClr val="74531F"/>
                </a:solidFill>
                <a:effectLst/>
                <a:latin typeface="Menlo" panose="020B0609030804020204" pitchFamily="49" charset="0"/>
              </a:rPr>
              <a:t>printf</a:t>
            </a:r>
            <a: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de-DE" sz="2200" b="0" dirty="0">
                <a:solidFill>
                  <a:srgbClr val="E21F1F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de-DE" sz="2200" b="0" dirty="0">
                <a:solidFill>
                  <a:srgbClr val="1F377F"/>
                </a:solidFill>
                <a:effectLst/>
                <a:latin typeface="Menlo" panose="020B0609030804020204" pitchFamily="49" charset="0"/>
              </a:rPr>
              <a:t>%p</a:t>
            </a:r>
            <a:r>
              <a:rPr lang="de-DE" sz="2200" b="0" dirty="0">
                <a:solidFill>
                  <a:srgbClr val="B776FB"/>
                </a:solidFill>
                <a:effectLst/>
                <a:latin typeface="Menlo" panose="020B0609030804020204" pitchFamily="49" charset="0"/>
              </a:rPr>
              <a:t>\</a:t>
            </a:r>
            <a:r>
              <a:rPr lang="de-DE" sz="2200" b="0" dirty="0" err="1">
                <a:solidFill>
                  <a:srgbClr val="B776FB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de-DE" sz="2200" b="0" dirty="0">
                <a:solidFill>
                  <a:srgbClr val="E21F1F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 ...</a:t>
            </a:r>
          </a:p>
          <a:p>
            <a:pPr marL="0" indent="0">
              <a:buNone/>
            </a:pPr>
            <a:endParaRPr lang="de-DE" sz="22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de-DE" sz="22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	</a:t>
            </a:r>
            <a:endParaRPr lang="de-DE" sz="22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de-DE" sz="2200" b="0" dirty="0">
                <a:solidFill>
                  <a:srgbClr val="74531F"/>
                </a:solidFill>
                <a:effectLst/>
                <a:latin typeface="Menlo" panose="020B0609030804020204" pitchFamily="49" charset="0"/>
              </a:rPr>
              <a:t>	</a:t>
            </a:r>
            <a:r>
              <a:rPr lang="de-DE" sz="2200" b="0" dirty="0" err="1">
                <a:solidFill>
                  <a:srgbClr val="74531F"/>
                </a:solidFill>
                <a:effectLst/>
                <a:latin typeface="Menlo" panose="020B0609030804020204" pitchFamily="49" charset="0"/>
              </a:rPr>
              <a:t>printf</a:t>
            </a:r>
            <a: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de-DE" sz="2200" b="0" dirty="0">
                <a:solidFill>
                  <a:srgbClr val="E21F1F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de-DE" sz="2200" b="0" dirty="0">
                <a:solidFill>
                  <a:srgbClr val="1F377F"/>
                </a:solidFill>
                <a:effectLst/>
                <a:latin typeface="Menlo" panose="020B0609030804020204" pitchFamily="49" charset="0"/>
              </a:rPr>
              <a:t>%</a:t>
            </a:r>
            <a:r>
              <a:rPr lang="de-DE" sz="2200" b="0" dirty="0" err="1">
                <a:solidFill>
                  <a:srgbClr val="1F377F"/>
                </a:solidFill>
                <a:effectLst/>
                <a:latin typeface="Menlo" panose="020B0609030804020204" pitchFamily="49" charset="0"/>
              </a:rPr>
              <a:t>lu</a:t>
            </a:r>
            <a:r>
              <a:rPr lang="de-DE" sz="2200" b="0" dirty="0">
                <a:solidFill>
                  <a:srgbClr val="B776FB"/>
                </a:solidFill>
                <a:effectLst/>
                <a:latin typeface="Menlo" panose="020B0609030804020204" pitchFamily="49" charset="0"/>
              </a:rPr>
              <a:t>\</a:t>
            </a:r>
            <a:r>
              <a:rPr lang="de-DE" sz="2200" b="0" dirty="0" err="1">
                <a:solidFill>
                  <a:srgbClr val="B776FB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de-DE" sz="2200" b="0" dirty="0">
                <a:solidFill>
                  <a:srgbClr val="E21F1F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 ...</a:t>
            </a:r>
          </a:p>
          <a:p>
            <a:pPr marL="0" indent="0">
              <a:buNone/>
            </a:pPr>
            <a: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}</a:t>
            </a:r>
            <a:br>
              <a:rPr lang="de-DE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</a:br>
            <a:endParaRPr lang="de-DE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9954480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4750B6E-B7A7-B17C-C8D2-7C12C9C584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 – Aufgabe 1.2 b) 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9B0FE3DD-F29D-CB0B-2963-E5FDC75872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sz="2200" b="0" dirty="0">
                <a:solidFill>
                  <a:srgbClr val="808080"/>
                </a:solidFill>
                <a:effectLst/>
                <a:latin typeface="Menlo" panose="020B0609030804020204" pitchFamily="49" charset="0"/>
              </a:rPr>
              <a:t>#</a:t>
            </a:r>
            <a:r>
              <a:rPr lang="de-DE" sz="2200" b="0" dirty="0" err="1">
                <a:solidFill>
                  <a:srgbClr val="808080"/>
                </a:solidFill>
                <a:effectLst/>
                <a:latin typeface="Menlo" panose="020B0609030804020204" pitchFamily="49" charset="0"/>
              </a:rPr>
              <a:t>include</a:t>
            </a:r>
            <a: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de-DE" sz="2200" b="0" dirty="0">
                <a:solidFill>
                  <a:srgbClr val="E21F1F"/>
                </a:solidFill>
                <a:effectLst/>
                <a:latin typeface="Menlo" panose="020B0609030804020204" pitchFamily="49" charset="0"/>
              </a:rPr>
              <a:t>&lt;</a:t>
            </a:r>
            <a:r>
              <a:rPr lang="de-DE" sz="2200" b="0" dirty="0" err="1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stdio.h</a:t>
            </a:r>
            <a:r>
              <a:rPr lang="de-DE" sz="2200" b="0" dirty="0">
                <a:solidFill>
                  <a:srgbClr val="E21F1F"/>
                </a:solidFill>
                <a:effectLst/>
                <a:latin typeface="Menlo" panose="020B0609030804020204" pitchFamily="49" charset="0"/>
              </a:rPr>
              <a:t>&gt;</a:t>
            </a:r>
            <a:endParaRPr lang="de-DE" sz="22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 marL="0" indent="0">
              <a:buNone/>
            </a:pPr>
            <a:b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</a:br>
            <a:r>
              <a:rPr lang="de-DE" sz="2200" b="0" dirty="0" err="1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int</a:t>
            </a:r>
            <a: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de-DE" sz="2200" b="0" dirty="0" err="1">
                <a:solidFill>
                  <a:srgbClr val="74531F"/>
                </a:solidFill>
                <a:effectLst/>
                <a:latin typeface="Menlo" panose="020B0609030804020204" pitchFamily="49" charset="0"/>
              </a:rPr>
              <a:t>main</a:t>
            </a:r>
            <a: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() {</a:t>
            </a:r>
          </a:p>
          <a:p>
            <a:pPr marL="0" indent="0">
              <a:buNone/>
            </a:pPr>
            <a:r>
              <a:rPr lang="de-DE" sz="22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	</a:t>
            </a:r>
            <a:r>
              <a:rPr lang="de-DE" sz="2200" b="0" dirty="0" err="1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int</a:t>
            </a:r>
            <a: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de-DE" sz="2200" b="0" dirty="0" err="1">
                <a:solidFill>
                  <a:srgbClr val="1F377F"/>
                </a:solidFill>
                <a:effectLst/>
                <a:latin typeface="Menlo" panose="020B0609030804020204" pitchFamily="49" charset="0"/>
              </a:rPr>
              <a:t>meinezahl</a:t>
            </a:r>
            <a: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;</a:t>
            </a:r>
          </a:p>
          <a:p>
            <a:pPr marL="0" indent="0">
              <a:buNone/>
            </a:pPr>
            <a:r>
              <a:rPr lang="de-DE" sz="2200" b="0" dirty="0">
                <a:solidFill>
                  <a:srgbClr val="74531F"/>
                </a:solidFill>
                <a:effectLst/>
                <a:latin typeface="Menlo" panose="020B0609030804020204" pitchFamily="49" charset="0"/>
              </a:rPr>
              <a:t>	</a:t>
            </a:r>
            <a:r>
              <a:rPr lang="de-DE" sz="2200" b="0" dirty="0" err="1">
                <a:solidFill>
                  <a:srgbClr val="74531F"/>
                </a:solidFill>
                <a:effectLst/>
                <a:latin typeface="Menlo" panose="020B0609030804020204" pitchFamily="49" charset="0"/>
              </a:rPr>
              <a:t>printf</a:t>
            </a:r>
            <a: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de-DE" sz="2200" b="0" dirty="0">
                <a:solidFill>
                  <a:srgbClr val="E21F1F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de-DE" sz="2200" b="0" dirty="0">
                <a:solidFill>
                  <a:srgbClr val="1F377F"/>
                </a:solidFill>
                <a:effectLst/>
                <a:latin typeface="Menlo" panose="020B0609030804020204" pitchFamily="49" charset="0"/>
              </a:rPr>
              <a:t>%p</a:t>
            </a:r>
            <a:r>
              <a:rPr lang="de-DE" sz="2200" b="0" dirty="0">
                <a:solidFill>
                  <a:srgbClr val="B776FB"/>
                </a:solidFill>
                <a:effectLst/>
                <a:latin typeface="Menlo" panose="020B0609030804020204" pitchFamily="49" charset="0"/>
              </a:rPr>
              <a:t>\</a:t>
            </a:r>
            <a:r>
              <a:rPr lang="de-DE" sz="2200" b="0" dirty="0" err="1">
                <a:solidFill>
                  <a:srgbClr val="B776FB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de-DE" sz="2200" b="0" dirty="0">
                <a:solidFill>
                  <a:srgbClr val="E21F1F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 &amp;</a:t>
            </a:r>
            <a:r>
              <a:rPr lang="de-DE" sz="2200" b="0" dirty="0" err="1">
                <a:solidFill>
                  <a:srgbClr val="1F377F"/>
                </a:solidFill>
                <a:effectLst/>
                <a:latin typeface="Menlo" panose="020B0609030804020204" pitchFamily="49" charset="0"/>
              </a:rPr>
              <a:t>meinezahl</a:t>
            </a:r>
            <a: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);</a:t>
            </a:r>
          </a:p>
          <a:p>
            <a:pPr marL="0" indent="0">
              <a:buNone/>
            </a:pPr>
            <a:endParaRPr lang="de-DE" sz="22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de-DE" sz="22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	</a:t>
            </a:r>
            <a:r>
              <a:rPr lang="de-DE" sz="2200" b="0" dirty="0" err="1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unsigned</a:t>
            </a:r>
            <a: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de-DE" sz="2200" b="0" dirty="0" err="1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long</a:t>
            </a:r>
            <a: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de-DE" sz="2200" b="0" dirty="0" err="1">
                <a:solidFill>
                  <a:srgbClr val="1F377F"/>
                </a:solidFill>
                <a:effectLst/>
                <a:latin typeface="Menlo" panose="020B0609030804020204" pitchFamily="49" charset="0"/>
              </a:rPr>
              <a:t>adresse</a:t>
            </a:r>
            <a: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= (</a:t>
            </a:r>
            <a:r>
              <a:rPr lang="de-DE" sz="2200" b="0" dirty="0" err="1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unsigned</a:t>
            </a:r>
            <a: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de-DE" sz="2200" b="0" dirty="0" err="1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long</a:t>
            </a:r>
            <a: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 &amp;</a:t>
            </a:r>
            <a:r>
              <a:rPr lang="de-DE" sz="2200" b="0" dirty="0" err="1">
                <a:solidFill>
                  <a:srgbClr val="1F377F"/>
                </a:solidFill>
                <a:effectLst/>
                <a:latin typeface="Menlo" panose="020B0609030804020204" pitchFamily="49" charset="0"/>
              </a:rPr>
              <a:t>meinezahl</a:t>
            </a:r>
            <a: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;</a:t>
            </a:r>
          </a:p>
          <a:p>
            <a:pPr marL="0" indent="0">
              <a:buNone/>
            </a:pPr>
            <a:r>
              <a:rPr lang="de-DE" sz="2200" b="0" dirty="0">
                <a:solidFill>
                  <a:srgbClr val="74531F"/>
                </a:solidFill>
                <a:effectLst/>
                <a:latin typeface="Menlo" panose="020B0609030804020204" pitchFamily="49" charset="0"/>
              </a:rPr>
              <a:t>	</a:t>
            </a:r>
            <a:r>
              <a:rPr lang="de-DE" sz="2200" b="0" dirty="0" err="1">
                <a:solidFill>
                  <a:srgbClr val="74531F"/>
                </a:solidFill>
                <a:effectLst/>
                <a:latin typeface="Menlo" panose="020B0609030804020204" pitchFamily="49" charset="0"/>
              </a:rPr>
              <a:t>printf</a:t>
            </a:r>
            <a: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de-DE" sz="2200" b="0" dirty="0">
                <a:solidFill>
                  <a:srgbClr val="E21F1F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de-DE" sz="2200" b="0" dirty="0">
                <a:solidFill>
                  <a:srgbClr val="1F377F"/>
                </a:solidFill>
                <a:effectLst/>
                <a:latin typeface="Menlo" panose="020B0609030804020204" pitchFamily="49" charset="0"/>
              </a:rPr>
              <a:t>%</a:t>
            </a:r>
            <a:r>
              <a:rPr lang="de-DE" sz="2200" b="0" dirty="0" err="1">
                <a:solidFill>
                  <a:srgbClr val="1F377F"/>
                </a:solidFill>
                <a:effectLst/>
                <a:latin typeface="Menlo" panose="020B0609030804020204" pitchFamily="49" charset="0"/>
              </a:rPr>
              <a:t>lu</a:t>
            </a:r>
            <a:r>
              <a:rPr lang="de-DE" sz="2200" b="0" dirty="0">
                <a:solidFill>
                  <a:srgbClr val="B776FB"/>
                </a:solidFill>
                <a:effectLst/>
                <a:latin typeface="Menlo" panose="020B0609030804020204" pitchFamily="49" charset="0"/>
              </a:rPr>
              <a:t>\</a:t>
            </a:r>
            <a:r>
              <a:rPr lang="de-DE" sz="2200" b="0" dirty="0" err="1">
                <a:solidFill>
                  <a:srgbClr val="B776FB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de-DE" sz="2200" b="0" dirty="0">
                <a:solidFill>
                  <a:srgbClr val="E21F1F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de-DE" sz="2200" b="0" dirty="0" err="1">
                <a:solidFill>
                  <a:srgbClr val="1F377F"/>
                </a:solidFill>
                <a:effectLst/>
                <a:latin typeface="Menlo" panose="020B0609030804020204" pitchFamily="49" charset="0"/>
              </a:rPr>
              <a:t>adresse</a:t>
            </a:r>
            <a: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);</a:t>
            </a:r>
          </a:p>
          <a:p>
            <a:pPr marL="0" indent="0">
              <a:buNone/>
            </a:pPr>
            <a:r>
              <a:rPr lang="de-DE" sz="2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}</a:t>
            </a:r>
            <a:br>
              <a:rPr lang="de-DE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</a:br>
            <a:endParaRPr lang="de-DE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4139682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23DCF9C-47DC-2F37-984C-FC0302E268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de-DE" dirty="0">
                <a:solidFill>
                  <a:srgbClr val="FFFFFF"/>
                </a:solidFill>
              </a:rPr>
              <a:t>C – Aufgabe 1.2 c) </a:t>
            </a:r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52532051-EB05-ED09-2017-7027A4D277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de-DE" dirty="0"/>
              <a:t>Erklären Sie, inwiefern und warum sich die Adressen unterscheiden. Sind die Adressen bei jeder Programmausführung gleich?</a:t>
            </a:r>
          </a:p>
        </p:txBody>
      </p:sp>
    </p:spTree>
    <p:extLst>
      <p:ext uri="{BB962C8B-B14F-4D97-AF65-F5344CB8AC3E}">
        <p14:creationId xmlns:p14="http://schemas.microsoft.com/office/powerpoint/2010/main" val="306355650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C4879EFC-8E62-4E00-973C-C45EE9EC67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88D7C2B-7D25-C246-9D43-949A89D557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7200"/>
            <a:ext cx="10909640" cy="136861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/>
              <a:t>C – Aufgabe 1.2 c) </a:t>
            </a:r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1850683"/>
            <a:ext cx="3291840" cy="18288"/>
          </a:xfrm>
          <a:custGeom>
            <a:avLst/>
            <a:gdLst>
              <a:gd name="connsiteX0" fmla="*/ 0 w 3291840"/>
              <a:gd name="connsiteY0" fmla="*/ 0 h 18288"/>
              <a:gd name="connsiteX1" fmla="*/ 658368 w 3291840"/>
              <a:gd name="connsiteY1" fmla="*/ 0 h 18288"/>
              <a:gd name="connsiteX2" fmla="*/ 1283818 w 3291840"/>
              <a:gd name="connsiteY2" fmla="*/ 0 h 18288"/>
              <a:gd name="connsiteX3" fmla="*/ 1909267 w 3291840"/>
              <a:gd name="connsiteY3" fmla="*/ 0 h 18288"/>
              <a:gd name="connsiteX4" fmla="*/ 2633472 w 3291840"/>
              <a:gd name="connsiteY4" fmla="*/ 0 h 18288"/>
              <a:gd name="connsiteX5" fmla="*/ 3291840 w 3291840"/>
              <a:gd name="connsiteY5" fmla="*/ 0 h 18288"/>
              <a:gd name="connsiteX6" fmla="*/ 3291840 w 3291840"/>
              <a:gd name="connsiteY6" fmla="*/ 18288 h 18288"/>
              <a:gd name="connsiteX7" fmla="*/ 2633472 w 3291840"/>
              <a:gd name="connsiteY7" fmla="*/ 18288 h 18288"/>
              <a:gd name="connsiteX8" fmla="*/ 2073859 w 3291840"/>
              <a:gd name="connsiteY8" fmla="*/ 18288 h 18288"/>
              <a:gd name="connsiteX9" fmla="*/ 1448410 w 3291840"/>
              <a:gd name="connsiteY9" fmla="*/ 18288 h 18288"/>
              <a:gd name="connsiteX10" fmla="*/ 822960 w 3291840"/>
              <a:gd name="connsiteY10" fmla="*/ 18288 h 18288"/>
              <a:gd name="connsiteX11" fmla="*/ 0 w 3291840"/>
              <a:gd name="connsiteY11" fmla="*/ 18288 h 18288"/>
              <a:gd name="connsiteX12" fmla="*/ 0 w 329184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218F95CE-8208-B89C-9056-C08F558BF1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946" y="2642616"/>
            <a:ext cx="4462604" cy="3605784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4E3E91D8-941F-EADB-37EB-9BA1DE098D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972" y="2642616"/>
            <a:ext cx="5073464" cy="3605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734646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23DCF9C-47DC-2F37-984C-FC0302E268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de-DE" dirty="0">
                <a:solidFill>
                  <a:srgbClr val="FFFFFF"/>
                </a:solidFill>
              </a:rPr>
              <a:t>C – Aufgabe 1.2 d) </a:t>
            </a:r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52532051-EB05-ED09-2017-7027A4D277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de-DE" dirty="0"/>
              <a:t>Betrachtet den folgenden Code. Welche Zahl wird gedruckt?</a:t>
            </a:r>
          </a:p>
        </p:txBody>
      </p:sp>
    </p:spTree>
    <p:extLst>
      <p:ext uri="{BB962C8B-B14F-4D97-AF65-F5344CB8AC3E}">
        <p14:creationId xmlns:p14="http://schemas.microsoft.com/office/powerpoint/2010/main" val="168495624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4750B6E-B7A7-B17C-C8D2-7C12C9C584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 – Aufgabe 1.2 d) 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9B0FE3DD-F29D-CB0B-2963-E5FDC75872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de-DE" sz="3500" b="0" dirty="0">
                <a:solidFill>
                  <a:srgbClr val="80808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#</a:t>
            </a:r>
            <a:r>
              <a:rPr lang="de-DE" sz="3500" b="0" dirty="0" err="1">
                <a:solidFill>
                  <a:srgbClr val="80808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include</a:t>
            </a:r>
            <a:r>
              <a:rPr lang="de-DE" sz="35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</a:t>
            </a:r>
            <a:r>
              <a:rPr lang="de-DE" sz="3500" b="0" dirty="0">
                <a:solidFill>
                  <a:srgbClr val="E21F1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&lt;</a:t>
            </a:r>
            <a:r>
              <a:rPr lang="de-DE" sz="3500" b="0" dirty="0" err="1">
                <a:solidFill>
                  <a:srgbClr val="A31515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stdio.h</a:t>
            </a:r>
            <a:r>
              <a:rPr lang="de-DE" sz="3500" b="0" dirty="0">
                <a:solidFill>
                  <a:srgbClr val="E21F1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&gt;</a:t>
            </a:r>
          </a:p>
          <a:p>
            <a:pPr marL="0" indent="0">
              <a:buNone/>
            </a:pPr>
            <a:br>
              <a:rPr lang="de-DE" sz="35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</a:br>
            <a:r>
              <a:rPr lang="de-DE" sz="3500" b="0" dirty="0" err="1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void</a:t>
            </a:r>
            <a:r>
              <a:rPr lang="de-DE" sz="35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</a:t>
            </a:r>
            <a:r>
              <a:rPr lang="de-DE" sz="3500" b="0" dirty="0">
                <a:solidFill>
                  <a:srgbClr val="74531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upgrade</a:t>
            </a:r>
            <a:r>
              <a:rPr lang="de-DE" sz="35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de-DE" sz="3500" b="0" dirty="0" err="1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int</a:t>
            </a:r>
            <a:r>
              <a:rPr lang="de-DE" sz="35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</a:t>
            </a:r>
            <a:r>
              <a:rPr lang="de-DE" sz="3500" b="0" dirty="0" err="1">
                <a:solidFill>
                  <a:srgbClr val="80808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meinezahl</a:t>
            </a:r>
            <a:r>
              <a:rPr lang="de-DE" sz="35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 {</a:t>
            </a:r>
          </a:p>
          <a:p>
            <a:pPr marL="0" indent="0">
              <a:buNone/>
            </a:pPr>
            <a:r>
              <a:rPr lang="de-DE" sz="3500" dirty="0">
                <a:solidFill>
                  <a:srgbClr val="808080"/>
                </a:solidFill>
                <a:highlight>
                  <a:srgbClr val="FFFFFF"/>
                </a:highlight>
                <a:latin typeface="Menlo" panose="020B0609030804020204" pitchFamily="49" charset="0"/>
              </a:rPr>
              <a:t>	</a:t>
            </a:r>
            <a:r>
              <a:rPr lang="de-DE" sz="3500" b="0" dirty="0" err="1">
                <a:solidFill>
                  <a:srgbClr val="80808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meinezahl</a:t>
            </a:r>
            <a:r>
              <a:rPr lang="de-DE" sz="35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= </a:t>
            </a:r>
            <a:r>
              <a:rPr lang="de-DE" sz="3500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18</a:t>
            </a:r>
            <a:r>
              <a:rPr lang="de-DE" sz="35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;</a:t>
            </a:r>
          </a:p>
          <a:p>
            <a:pPr marL="0" indent="0">
              <a:buNone/>
            </a:pPr>
            <a:r>
              <a:rPr lang="de-DE" sz="35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}</a:t>
            </a:r>
          </a:p>
          <a:p>
            <a:pPr marL="0" indent="0">
              <a:buNone/>
            </a:pPr>
            <a:br>
              <a:rPr lang="de-DE" sz="35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</a:br>
            <a:r>
              <a:rPr lang="de-DE" sz="3500" b="0" dirty="0" err="1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int</a:t>
            </a:r>
            <a:r>
              <a:rPr lang="de-DE" sz="35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</a:t>
            </a:r>
            <a:r>
              <a:rPr lang="de-DE" sz="3500" b="0" dirty="0" err="1">
                <a:solidFill>
                  <a:srgbClr val="74531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main</a:t>
            </a:r>
            <a:r>
              <a:rPr lang="de-DE" sz="35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() {</a:t>
            </a:r>
          </a:p>
          <a:p>
            <a:pPr marL="0" indent="0">
              <a:buNone/>
            </a:pPr>
            <a:r>
              <a:rPr lang="de-DE" sz="35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	</a:t>
            </a:r>
            <a:r>
              <a:rPr lang="de-DE" sz="3500" b="0" dirty="0" err="1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int</a:t>
            </a:r>
            <a:r>
              <a:rPr lang="de-DE" sz="35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</a:t>
            </a:r>
            <a:r>
              <a:rPr lang="de-DE" sz="3500" b="0" dirty="0" err="1">
                <a:solidFill>
                  <a:srgbClr val="1F377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meinezahl</a:t>
            </a:r>
            <a:r>
              <a:rPr lang="de-DE" sz="35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= </a:t>
            </a:r>
            <a:r>
              <a:rPr lang="de-DE" sz="3500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5</a:t>
            </a:r>
            <a:r>
              <a:rPr lang="de-DE" sz="35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;</a:t>
            </a:r>
          </a:p>
          <a:p>
            <a:pPr marL="0" indent="0">
              <a:buNone/>
            </a:pPr>
            <a:r>
              <a:rPr lang="de-DE" sz="3500" b="0" dirty="0">
                <a:solidFill>
                  <a:srgbClr val="74531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	upgrade</a:t>
            </a:r>
            <a:r>
              <a:rPr lang="de-DE" sz="35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de-DE" sz="3500" b="0" dirty="0" err="1">
                <a:solidFill>
                  <a:srgbClr val="1F377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meinezahl</a:t>
            </a:r>
            <a:r>
              <a:rPr lang="de-DE" sz="35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);</a:t>
            </a:r>
          </a:p>
          <a:p>
            <a:pPr marL="0" indent="0">
              <a:buNone/>
            </a:pPr>
            <a:r>
              <a:rPr lang="de-DE" sz="3500" b="0" dirty="0">
                <a:solidFill>
                  <a:srgbClr val="74531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	</a:t>
            </a:r>
            <a:r>
              <a:rPr lang="de-DE" sz="3500" b="0" dirty="0" err="1">
                <a:solidFill>
                  <a:srgbClr val="74531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printf</a:t>
            </a:r>
            <a:r>
              <a:rPr lang="de-DE" sz="35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de-DE" sz="3500" b="0" dirty="0">
                <a:solidFill>
                  <a:srgbClr val="E21F1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"</a:t>
            </a:r>
            <a:r>
              <a:rPr lang="de-DE" sz="3500" b="0" dirty="0">
                <a:solidFill>
                  <a:srgbClr val="1F377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%d</a:t>
            </a:r>
            <a:r>
              <a:rPr lang="de-DE" sz="3500" b="0" dirty="0">
                <a:solidFill>
                  <a:srgbClr val="B776F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\</a:t>
            </a:r>
            <a:r>
              <a:rPr lang="de-DE" sz="3500" b="0" dirty="0" err="1">
                <a:solidFill>
                  <a:srgbClr val="B776F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n</a:t>
            </a:r>
            <a:r>
              <a:rPr lang="de-DE" sz="3500" b="0" dirty="0">
                <a:solidFill>
                  <a:srgbClr val="E21F1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"</a:t>
            </a:r>
            <a:r>
              <a:rPr lang="de-DE" sz="35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, </a:t>
            </a:r>
            <a:r>
              <a:rPr lang="de-DE" sz="3500" b="0" dirty="0" err="1">
                <a:solidFill>
                  <a:srgbClr val="1F377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meinezahl</a:t>
            </a:r>
            <a:r>
              <a:rPr lang="de-DE" sz="35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);</a:t>
            </a:r>
          </a:p>
          <a:p>
            <a:pPr marL="0" indent="0">
              <a:buNone/>
            </a:pPr>
            <a:r>
              <a:rPr lang="de-DE" sz="35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}</a:t>
            </a:r>
            <a:br>
              <a:rPr lang="de-DE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</a:br>
            <a:endParaRPr lang="de-DE" sz="1600" b="0" dirty="0">
              <a:solidFill>
                <a:srgbClr val="000000"/>
              </a:solidFill>
              <a:effectLst/>
              <a:highlight>
                <a:srgbClr val="FFFFFF"/>
              </a:highlight>
              <a:latin typeface="Menlo" panose="020B0609030804020204" pitchFamily="49" charset="0"/>
            </a:endParaRPr>
          </a:p>
          <a:p>
            <a:pPr marL="0" indent="0">
              <a:buNone/>
            </a:pPr>
            <a:br>
              <a:rPr lang="de-DE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</a:br>
            <a:endParaRPr lang="de-DE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4863024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23DCF9C-47DC-2F37-984C-FC0302E268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de-DE" dirty="0">
                <a:solidFill>
                  <a:srgbClr val="FFFFFF"/>
                </a:solidFill>
              </a:rPr>
              <a:t>C – Aufgabe 1.2 </a:t>
            </a:r>
            <a:r>
              <a:rPr lang="de-DE" dirty="0" err="1">
                <a:solidFill>
                  <a:srgbClr val="FFFFFF"/>
                </a:solidFill>
              </a:rPr>
              <a:t>e</a:t>
            </a:r>
            <a:r>
              <a:rPr lang="de-DE" dirty="0">
                <a:solidFill>
                  <a:srgbClr val="FFFFFF"/>
                </a:solidFill>
              </a:rPr>
              <a:t>) </a:t>
            </a:r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52532051-EB05-ED09-2017-7027A4D277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de-DE" dirty="0"/>
              <a:t>Betrachtet den folgenden Code. Welche Zahl wird gedruckt?</a:t>
            </a:r>
          </a:p>
        </p:txBody>
      </p:sp>
    </p:spTree>
    <p:extLst>
      <p:ext uri="{BB962C8B-B14F-4D97-AF65-F5344CB8AC3E}">
        <p14:creationId xmlns:p14="http://schemas.microsoft.com/office/powerpoint/2010/main" val="161740015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4750B6E-B7A7-B17C-C8D2-7C12C9C584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 – Aufgabe 1.2 </a:t>
            </a:r>
            <a:r>
              <a:rPr lang="de-DE" dirty="0" err="1"/>
              <a:t>e</a:t>
            </a:r>
            <a:r>
              <a:rPr lang="de-DE" dirty="0"/>
              <a:t>) 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9B0FE3DD-F29D-CB0B-2963-E5FDC75872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pPr marL="0" indent="0">
              <a:buNone/>
            </a:pPr>
            <a:r>
              <a:rPr lang="de-DE" sz="8800" b="0" dirty="0">
                <a:solidFill>
                  <a:srgbClr val="80808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#</a:t>
            </a:r>
            <a:r>
              <a:rPr lang="de-DE" sz="8800" b="0" dirty="0" err="1">
                <a:solidFill>
                  <a:srgbClr val="80808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include</a:t>
            </a:r>
            <a:r>
              <a:rPr lang="de-DE" sz="88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</a:t>
            </a:r>
            <a:r>
              <a:rPr lang="de-DE" sz="8800" b="0" dirty="0">
                <a:solidFill>
                  <a:srgbClr val="E21F1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&lt;</a:t>
            </a:r>
            <a:r>
              <a:rPr lang="de-DE" sz="8800" b="0" dirty="0" err="1">
                <a:solidFill>
                  <a:srgbClr val="A31515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stdio.h</a:t>
            </a:r>
            <a:r>
              <a:rPr lang="de-DE" sz="8800" b="0" dirty="0">
                <a:solidFill>
                  <a:srgbClr val="E21F1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&gt;</a:t>
            </a:r>
            <a:endParaRPr lang="de-DE" sz="8800" b="0" dirty="0">
              <a:solidFill>
                <a:srgbClr val="000000"/>
              </a:solidFill>
              <a:effectLst/>
              <a:highlight>
                <a:srgbClr val="FFFFFF"/>
              </a:highlight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de-DE" sz="8800" b="0" dirty="0">
                <a:solidFill>
                  <a:srgbClr val="80808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#</a:t>
            </a:r>
            <a:r>
              <a:rPr lang="de-DE" sz="8800" b="0" dirty="0" err="1">
                <a:solidFill>
                  <a:srgbClr val="80808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include</a:t>
            </a:r>
            <a:r>
              <a:rPr lang="de-DE" sz="88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</a:t>
            </a:r>
            <a:r>
              <a:rPr lang="de-DE" sz="8800" b="0" dirty="0">
                <a:solidFill>
                  <a:srgbClr val="E21F1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&lt;</a:t>
            </a:r>
            <a:r>
              <a:rPr lang="de-DE" sz="8800" b="0" dirty="0" err="1">
                <a:solidFill>
                  <a:srgbClr val="A31515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stdlib.h</a:t>
            </a:r>
            <a:r>
              <a:rPr lang="de-DE" sz="8800" b="0" dirty="0">
                <a:solidFill>
                  <a:srgbClr val="E21F1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&gt;</a:t>
            </a:r>
            <a:endParaRPr lang="de-DE" sz="8800" b="0" dirty="0">
              <a:solidFill>
                <a:srgbClr val="000000"/>
              </a:solidFill>
              <a:effectLst/>
              <a:highlight>
                <a:srgbClr val="FFFFFF"/>
              </a:highlight>
              <a:latin typeface="Menlo" panose="020B0609030804020204" pitchFamily="49" charset="0"/>
            </a:endParaRPr>
          </a:p>
          <a:p>
            <a:pPr marL="0" indent="0">
              <a:buNone/>
            </a:pPr>
            <a:br>
              <a:rPr lang="de-DE" sz="88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</a:br>
            <a:r>
              <a:rPr lang="de-DE" sz="8800" b="0" dirty="0" err="1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void</a:t>
            </a:r>
            <a:r>
              <a:rPr lang="de-DE" sz="88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</a:t>
            </a:r>
            <a:r>
              <a:rPr lang="de-DE" sz="8800" b="0" dirty="0">
                <a:solidFill>
                  <a:srgbClr val="74531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upgrade</a:t>
            </a:r>
            <a:r>
              <a:rPr lang="de-DE" sz="88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de-DE" sz="8800" b="0" dirty="0" err="1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int</a:t>
            </a:r>
            <a:r>
              <a:rPr lang="de-DE" sz="88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*</a:t>
            </a:r>
            <a:r>
              <a:rPr lang="de-DE" sz="8800" b="0" dirty="0" err="1">
                <a:solidFill>
                  <a:srgbClr val="80808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meinezahl</a:t>
            </a:r>
            <a:r>
              <a:rPr lang="de-DE" sz="88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 {</a:t>
            </a:r>
          </a:p>
          <a:p>
            <a:pPr marL="0" indent="0">
              <a:buNone/>
            </a:pPr>
            <a:r>
              <a:rPr lang="de-DE" sz="88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	*</a:t>
            </a:r>
            <a:r>
              <a:rPr lang="de-DE" sz="8800" b="0" dirty="0" err="1">
                <a:solidFill>
                  <a:srgbClr val="80808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meinezahl</a:t>
            </a:r>
            <a:r>
              <a:rPr lang="de-DE" sz="88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= </a:t>
            </a:r>
            <a:r>
              <a:rPr lang="de-DE" sz="8800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18</a:t>
            </a:r>
            <a:r>
              <a:rPr lang="de-DE" sz="88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;</a:t>
            </a:r>
          </a:p>
          <a:p>
            <a:pPr marL="0" indent="0">
              <a:buNone/>
            </a:pPr>
            <a:r>
              <a:rPr lang="de-DE" sz="88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}</a:t>
            </a:r>
          </a:p>
          <a:p>
            <a:pPr marL="0" indent="0">
              <a:buNone/>
            </a:pPr>
            <a:br>
              <a:rPr lang="de-DE" sz="88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</a:br>
            <a:r>
              <a:rPr lang="de-DE" sz="8800" b="0" dirty="0" err="1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int</a:t>
            </a:r>
            <a:r>
              <a:rPr lang="de-DE" sz="88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</a:t>
            </a:r>
            <a:r>
              <a:rPr lang="de-DE" sz="8800" b="0" dirty="0" err="1">
                <a:solidFill>
                  <a:srgbClr val="74531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main</a:t>
            </a:r>
            <a:r>
              <a:rPr lang="de-DE" sz="88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() {</a:t>
            </a:r>
          </a:p>
          <a:p>
            <a:pPr marL="0" indent="0">
              <a:buNone/>
            </a:pPr>
            <a:r>
              <a:rPr lang="de-DE" sz="88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	</a:t>
            </a:r>
            <a:r>
              <a:rPr lang="de-DE" sz="8800" b="0" dirty="0" err="1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int</a:t>
            </a:r>
            <a:r>
              <a:rPr lang="de-DE" sz="88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*</a:t>
            </a:r>
            <a:r>
              <a:rPr lang="de-DE" sz="8800" b="0" dirty="0" err="1">
                <a:solidFill>
                  <a:srgbClr val="1F377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meinezahl</a:t>
            </a:r>
            <a:r>
              <a:rPr lang="de-DE" sz="88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= </a:t>
            </a:r>
            <a:r>
              <a:rPr lang="de-DE" sz="8800" b="0" dirty="0" err="1">
                <a:solidFill>
                  <a:srgbClr val="74531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malloc</a:t>
            </a:r>
            <a:r>
              <a:rPr lang="de-DE" sz="88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de-DE" sz="8800" b="0" dirty="0" err="1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sizeof</a:t>
            </a:r>
            <a:r>
              <a:rPr lang="de-DE" sz="88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de-DE" sz="8800" b="0" dirty="0" err="1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int</a:t>
            </a:r>
            <a:r>
              <a:rPr lang="de-DE" sz="88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));</a:t>
            </a:r>
          </a:p>
          <a:p>
            <a:pPr marL="0" indent="0">
              <a:buNone/>
            </a:pPr>
            <a:r>
              <a:rPr lang="de-DE" sz="88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	*</a:t>
            </a:r>
            <a:r>
              <a:rPr lang="de-DE" sz="8800" b="0" dirty="0" err="1">
                <a:solidFill>
                  <a:srgbClr val="1F377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meinezahl</a:t>
            </a:r>
            <a:r>
              <a:rPr lang="de-DE" sz="88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= </a:t>
            </a:r>
            <a:r>
              <a:rPr lang="de-DE" sz="8800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5</a:t>
            </a:r>
            <a:r>
              <a:rPr lang="de-DE" sz="88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;</a:t>
            </a:r>
          </a:p>
          <a:p>
            <a:pPr marL="0" indent="0">
              <a:buNone/>
            </a:pPr>
            <a:r>
              <a:rPr lang="de-DE" sz="8800" b="0" dirty="0">
                <a:solidFill>
                  <a:srgbClr val="74531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	upgrade</a:t>
            </a:r>
            <a:r>
              <a:rPr lang="de-DE" sz="88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de-DE" sz="8800" b="0" dirty="0" err="1">
                <a:solidFill>
                  <a:srgbClr val="1F377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meinezahl</a:t>
            </a:r>
            <a:r>
              <a:rPr lang="de-DE" sz="88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);</a:t>
            </a:r>
          </a:p>
          <a:p>
            <a:pPr marL="0" indent="0">
              <a:buNone/>
            </a:pPr>
            <a:r>
              <a:rPr lang="de-DE" sz="8800" b="0" dirty="0">
                <a:solidFill>
                  <a:srgbClr val="74531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	</a:t>
            </a:r>
            <a:r>
              <a:rPr lang="de-DE" sz="8800" b="0" dirty="0" err="1">
                <a:solidFill>
                  <a:srgbClr val="74531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printf</a:t>
            </a:r>
            <a:r>
              <a:rPr lang="de-DE" sz="88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de-DE" sz="8800" b="0" dirty="0">
                <a:solidFill>
                  <a:srgbClr val="E21F1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"</a:t>
            </a:r>
            <a:r>
              <a:rPr lang="de-DE" sz="8800" b="0" dirty="0">
                <a:solidFill>
                  <a:srgbClr val="1F377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%d</a:t>
            </a:r>
            <a:r>
              <a:rPr lang="de-DE" sz="8800" b="0" dirty="0">
                <a:solidFill>
                  <a:srgbClr val="B776F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\</a:t>
            </a:r>
            <a:r>
              <a:rPr lang="de-DE" sz="8800" b="0" dirty="0" err="1">
                <a:solidFill>
                  <a:srgbClr val="B776F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n</a:t>
            </a:r>
            <a:r>
              <a:rPr lang="de-DE" sz="8800" b="0" dirty="0">
                <a:solidFill>
                  <a:srgbClr val="E21F1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"</a:t>
            </a:r>
            <a:r>
              <a:rPr lang="de-DE" sz="88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, *</a:t>
            </a:r>
            <a:r>
              <a:rPr lang="de-DE" sz="8800" b="0" dirty="0" err="1">
                <a:solidFill>
                  <a:srgbClr val="1F377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meinezahl</a:t>
            </a:r>
            <a:r>
              <a:rPr lang="de-DE" sz="88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);</a:t>
            </a:r>
          </a:p>
          <a:p>
            <a:pPr marL="0" indent="0">
              <a:buNone/>
            </a:pPr>
            <a:r>
              <a:rPr lang="de-DE" sz="88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}</a:t>
            </a:r>
          </a:p>
          <a:p>
            <a:pPr marL="0" indent="0">
              <a:buNone/>
            </a:pPr>
            <a:br>
              <a:rPr lang="de-DE" sz="88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</a:br>
            <a:endParaRPr lang="de-DE" sz="8800" b="0" dirty="0">
              <a:solidFill>
                <a:srgbClr val="000000"/>
              </a:solidFill>
              <a:effectLst/>
              <a:highlight>
                <a:srgbClr val="FFFFFF"/>
              </a:highlight>
              <a:latin typeface="Menlo" panose="020B0609030804020204" pitchFamily="49" charset="0"/>
            </a:endParaRPr>
          </a:p>
          <a:p>
            <a:pPr marL="0" indent="0">
              <a:buNone/>
            </a:pPr>
            <a:br>
              <a:rPr lang="de-DE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</a:br>
            <a:endParaRPr lang="de-DE" sz="1600" b="0" dirty="0">
              <a:solidFill>
                <a:srgbClr val="000000"/>
              </a:solidFill>
              <a:effectLst/>
              <a:highlight>
                <a:srgbClr val="FFFFFF"/>
              </a:highlight>
              <a:latin typeface="Menlo" panose="020B0609030804020204" pitchFamily="49" charset="0"/>
            </a:endParaRPr>
          </a:p>
          <a:p>
            <a:pPr marL="0" indent="0">
              <a:buNone/>
            </a:pPr>
            <a:br>
              <a:rPr lang="de-DE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</a:br>
            <a:endParaRPr lang="de-DE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302816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23DCF9C-47DC-2F37-984C-FC0302E268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de-DE" dirty="0">
                <a:solidFill>
                  <a:srgbClr val="FFFFFF"/>
                </a:solidFill>
              </a:rPr>
              <a:t>C – Aufgabe 1.2 f) </a:t>
            </a:r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52532051-EB05-ED09-2017-7027A4D277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de-DE" dirty="0"/>
              <a:t>Betrachtet den folgenden Code. Welche Zahl wird gedruckt?</a:t>
            </a:r>
          </a:p>
        </p:txBody>
      </p:sp>
    </p:spTree>
    <p:extLst>
      <p:ext uri="{BB962C8B-B14F-4D97-AF65-F5344CB8AC3E}">
        <p14:creationId xmlns:p14="http://schemas.microsoft.com/office/powerpoint/2010/main" val="195943349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4750B6E-B7A7-B17C-C8D2-7C12C9C584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 – Aufgabe 1.2 f) 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9B0FE3DD-F29D-CB0B-2963-E5FDC75872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pPr marL="0" indent="0">
              <a:buNone/>
            </a:pPr>
            <a:r>
              <a:rPr lang="de-DE" sz="8800" b="0" dirty="0">
                <a:solidFill>
                  <a:srgbClr val="80808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#</a:t>
            </a:r>
            <a:r>
              <a:rPr lang="de-DE" sz="8800" b="0" dirty="0" err="1">
                <a:solidFill>
                  <a:srgbClr val="80808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include</a:t>
            </a:r>
            <a:r>
              <a:rPr lang="de-DE" sz="88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</a:t>
            </a:r>
            <a:r>
              <a:rPr lang="de-DE" sz="8800" b="0" dirty="0">
                <a:solidFill>
                  <a:srgbClr val="E21F1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&lt;</a:t>
            </a:r>
            <a:r>
              <a:rPr lang="de-DE" sz="8800" b="0" dirty="0" err="1">
                <a:solidFill>
                  <a:srgbClr val="A31515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stdio.h</a:t>
            </a:r>
            <a:r>
              <a:rPr lang="de-DE" sz="8800" b="0" dirty="0">
                <a:solidFill>
                  <a:srgbClr val="E21F1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&gt;</a:t>
            </a:r>
            <a:endParaRPr lang="de-DE" sz="8800" b="0" dirty="0">
              <a:solidFill>
                <a:srgbClr val="000000"/>
              </a:solidFill>
              <a:effectLst/>
              <a:highlight>
                <a:srgbClr val="FFFFFF"/>
              </a:highlight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de-DE" sz="8800" b="0" dirty="0">
                <a:solidFill>
                  <a:srgbClr val="80808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#</a:t>
            </a:r>
            <a:r>
              <a:rPr lang="de-DE" sz="8800" b="0" dirty="0" err="1">
                <a:solidFill>
                  <a:srgbClr val="80808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include</a:t>
            </a:r>
            <a:r>
              <a:rPr lang="de-DE" sz="88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</a:t>
            </a:r>
            <a:r>
              <a:rPr lang="de-DE" sz="8800" b="0" dirty="0">
                <a:solidFill>
                  <a:srgbClr val="E21F1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&lt;</a:t>
            </a:r>
            <a:r>
              <a:rPr lang="de-DE" sz="8800" b="0" dirty="0" err="1">
                <a:solidFill>
                  <a:srgbClr val="A31515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stdlib.h</a:t>
            </a:r>
            <a:r>
              <a:rPr lang="de-DE" sz="8800" b="0" dirty="0">
                <a:solidFill>
                  <a:srgbClr val="E21F1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&gt;</a:t>
            </a:r>
            <a:endParaRPr lang="de-DE" sz="8800" b="0" dirty="0">
              <a:solidFill>
                <a:srgbClr val="000000"/>
              </a:solidFill>
              <a:effectLst/>
              <a:highlight>
                <a:srgbClr val="FFFFFF"/>
              </a:highlight>
              <a:latin typeface="Menlo" panose="020B0609030804020204" pitchFamily="49" charset="0"/>
            </a:endParaRPr>
          </a:p>
          <a:p>
            <a:pPr marL="0" indent="0">
              <a:buNone/>
            </a:pPr>
            <a:br>
              <a:rPr lang="de-DE" sz="88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</a:br>
            <a:r>
              <a:rPr lang="de-DE" sz="8800" b="0" dirty="0" err="1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void</a:t>
            </a:r>
            <a:r>
              <a:rPr lang="de-DE" sz="88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</a:t>
            </a:r>
            <a:r>
              <a:rPr lang="de-DE" sz="8800" b="0" dirty="0">
                <a:solidFill>
                  <a:srgbClr val="74531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upgrade</a:t>
            </a:r>
            <a:r>
              <a:rPr lang="de-DE" sz="88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de-DE" sz="8800" b="0" dirty="0" err="1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int</a:t>
            </a:r>
            <a:r>
              <a:rPr lang="de-DE" sz="88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*</a:t>
            </a:r>
            <a:r>
              <a:rPr lang="de-DE" sz="8800" b="0" dirty="0" err="1">
                <a:solidFill>
                  <a:srgbClr val="80808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meinezahl</a:t>
            </a:r>
            <a:r>
              <a:rPr lang="de-DE" sz="88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 {</a:t>
            </a:r>
          </a:p>
          <a:p>
            <a:pPr marL="0" indent="0">
              <a:buNone/>
            </a:pPr>
            <a:r>
              <a:rPr lang="de-DE" sz="8800" b="0" dirty="0">
                <a:solidFill>
                  <a:srgbClr val="80808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	</a:t>
            </a:r>
            <a:r>
              <a:rPr lang="de-DE" sz="8800" b="0" dirty="0" err="1">
                <a:solidFill>
                  <a:srgbClr val="80808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meinezahl</a:t>
            </a:r>
            <a:r>
              <a:rPr lang="de-DE" sz="88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= </a:t>
            </a:r>
            <a:r>
              <a:rPr lang="de-DE" sz="8800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18</a:t>
            </a:r>
            <a:r>
              <a:rPr lang="de-DE" sz="88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;</a:t>
            </a:r>
          </a:p>
          <a:p>
            <a:pPr marL="0" indent="0">
              <a:buNone/>
            </a:pPr>
            <a:r>
              <a:rPr lang="de-DE" sz="88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}</a:t>
            </a:r>
          </a:p>
          <a:p>
            <a:pPr marL="0" indent="0">
              <a:buNone/>
            </a:pPr>
            <a:br>
              <a:rPr lang="de-DE" sz="88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</a:br>
            <a:r>
              <a:rPr lang="de-DE" sz="8800" b="0" dirty="0" err="1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int</a:t>
            </a:r>
            <a:r>
              <a:rPr lang="de-DE" sz="88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</a:t>
            </a:r>
            <a:r>
              <a:rPr lang="de-DE" sz="8800" b="0" dirty="0" err="1">
                <a:solidFill>
                  <a:srgbClr val="74531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main</a:t>
            </a:r>
            <a:r>
              <a:rPr lang="de-DE" sz="88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() {</a:t>
            </a:r>
          </a:p>
          <a:p>
            <a:pPr marL="0" indent="0">
              <a:buNone/>
            </a:pPr>
            <a:r>
              <a:rPr lang="de-DE" sz="88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	</a:t>
            </a:r>
            <a:r>
              <a:rPr lang="de-DE" sz="8800" b="0" dirty="0" err="1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int</a:t>
            </a:r>
            <a:r>
              <a:rPr lang="de-DE" sz="88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*</a:t>
            </a:r>
            <a:r>
              <a:rPr lang="de-DE" sz="8800" b="0" dirty="0" err="1">
                <a:solidFill>
                  <a:srgbClr val="1F377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meinezahl</a:t>
            </a:r>
            <a:r>
              <a:rPr lang="de-DE" sz="88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= </a:t>
            </a:r>
            <a:r>
              <a:rPr lang="de-DE" sz="8800" b="0" dirty="0" err="1">
                <a:solidFill>
                  <a:srgbClr val="74531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malloc</a:t>
            </a:r>
            <a:r>
              <a:rPr lang="de-DE" sz="88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de-DE" sz="8800" b="0" dirty="0" err="1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sizeof</a:t>
            </a:r>
            <a:r>
              <a:rPr lang="de-DE" sz="88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de-DE" sz="8800" b="0" dirty="0" err="1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int</a:t>
            </a:r>
            <a:r>
              <a:rPr lang="de-DE" sz="88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));</a:t>
            </a:r>
          </a:p>
          <a:p>
            <a:pPr marL="0" indent="0">
              <a:buNone/>
            </a:pPr>
            <a:r>
              <a:rPr lang="de-DE" sz="88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	*</a:t>
            </a:r>
            <a:r>
              <a:rPr lang="de-DE" sz="8800" b="0" dirty="0" err="1">
                <a:solidFill>
                  <a:srgbClr val="1F377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meinezahl</a:t>
            </a:r>
            <a:r>
              <a:rPr lang="de-DE" sz="88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= </a:t>
            </a:r>
            <a:r>
              <a:rPr lang="de-DE" sz="8800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5</a:t>
            </a:r>
            <a:r>
              <a:rPr lang="de-DE" sz="88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;</a:t>
            </a:r>
          </a:p>
          <a:p>
            <a:pPr marL="0" indent="0">
              <a:buNone/>
            </a:pPr>
            <a:r>
              <a:rPr lang="de-DE" sz="8800" b="0" dirty="0">
                <a:solidFill>
                  <a:srgbClr val="74531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	upgrade</a:t>
            </a:r>
            <a:r>
              <a:rPr lang="de-DE" sz="88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de-DE" sz="8800" b="0" dirty="0" err="1">
                <a:solidFill>
                  <a:srgbClr val="1F377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meinezahl</a:t>
            </a:r>
            <a:r>
              <a:rPr lang="de-DE" sz="88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);</a:t>
            </a:r>
          </a:p>
          <a:p>
            <a:pPr marL="0" indent="0">
              <a:buNone/>
            </a:pPr>
            <a:r>
              <a:rPr lang="de-DE" sz="8800" b="0" dirty="0">
                <a:solidFill>
                  <a:srgbClr val="74531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	</a:t>
            </a:r>
            <a:r>
              <a:rPr lang="de-DE" sz="8800" b="0" dirty="0" err="1">
                <a:solidFill>
                  <a:srgbClr val="74531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printf</a:t>
            </a:r>
            <a:r>
              <a:rPr lang="de-DE" sz="88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de-DE" sz="8800" b="0" dirty="0">
                <a:solidFill>
                  <a:srgbClr val="E21F1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"</a:t>
            </a:r>
            <a:r>
              <a:rPr lang="de-DE" sz="8800" b="0" dirty="0">
                <a:solidFill>
                  <a:srgbClr val="1F377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%d</a:t>
            </a:r>
            <a:r>
              <a:rPr lang="de-DE" sz="8800" b="0" dirty="0">
                <a:solidFill>
                  <a:srgbClr val="B776F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\</a:t>
            </a:r>
            <a:r>
              <a:rPr lang="de-DE" sz="8800" b="0" dirty="0" err="1">
                <a:solidFill>
                  <a:srgbClr val="B776F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n</a:t>
            </a:r>
            <a:r>
              <a:rPr lang="de-DE" sz="8800" b="0" dirty="0">
                <a:solidFill>
                  <a:srgbClr val="E21F1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"</a:t>
            </a:r>
            <a:r>
              <a:rPr lang="de-DE" sz="88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, *</a:t>
            </a:r>
            <a:r>
              <a:rPr lang="de-DE" sz="8800" b="0" dirty="0" err="1">
                <a:solidFill>
                  <a:srgbClr val="1F377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meinezahl</a:t>
            </a:r>
            <a:r>
              <a:rPr lang="de-DE" sz="88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);</a:t>
            </a:r>
          </a:p>
          <a:p>
            <a:pPr marL="0" indent="0">
              <a:buNone/>
            </a:pPr>
            <a:r>
              <a:rPr lang="de-DE" sz="88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}</a:t>
            </a:r>
            <a:br>
              <a:rPr lang="de-DE" sz="2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</a:br>
            <a:endParaRPr lang="de-DE" sz="2400" b="0" dirty="0">
              <a:solidFill>
                <a:srgbClr val="000000"/>
              </a:solidFill>
              <a:effectLst/>
              <a:highlight>
                <a:srgbClr val="FFFFFF"/>
              </a:highlight>
              <a:latin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704415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23DCF9C-47DC-2F37-984C-FC0302E268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de-DE" dirty="0">
                <a:solidFill>
                  <a:srgbClr val="FFFFFF"/>
                </a:solidFill>
              </a:rPr>
              <a:t>C – Aufgabe 1.2 g) </a:t>
            </a:r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52532051-EB05-ED09-2017-7027A4D277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de-DE" dirty="0"/>
              <a:t>Betrachtet den folgenden Code… Was sind t1, t2 und t3?</a:t>
            </a:r>
          </a:p>
        </p:txBody>
      </p:sp>
    </p:spTree>
    <p:extLst>
      <p:ext uri="{BB962C8B-B14F-4D97-AF65-F5344CB8AC3E}">
        <p14:creationId xmlns:p14="http://schemas.microsoft.com/office/powerpoint/2010/main" val="199287116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4750B6E-B7A7-B17C-C8D2-7C12C9C584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 – Aufgabe 1.2 </a:t>
            </a:r>
            <a:r>
              <a:rPr lang="de-DE" dirty="0" err="1"/>
              <a:t>g</a:t>
            </a:r>
            <a:r>
              <a:rPr lang="de-DE" dirty="0"/>
              <a:t>) 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9B0FE3DD-F29D-CB0B-2963-E5FDC75872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pPr marL="0" indent="0">
              <a:buNone/>
            </a:pPr>
            <a:r>
              <a:rPr lang="de-DE" sz="6000" b="0" dirty="0">
                <a:solidFill>
                  <a:srgbClr val="80808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#</a:t>
            </a:r>
            <a:r>
              <a:rPr lang="de-DE" sz="6000" b="0" dirty="0" err="1">
                <a:solidFill>
                  <a:srgbClr val="80808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include</a:t>
            </a:r>
            <a:r>
              <a:rPr lang="de-DE" sz="60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</a:t>
            </a:r>
            <a:r>
              <a:rPr lang="de-DE" sz="6000" b="0" dirty="0">
                <a:solidFill>
                  <a:srgbClr val="E21F1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&lt;</a:t>
            </a:r>
            <a:r>
              <a:rPr lang="de-DE" sz="6000" b="0" dirty="0" err="1">
                <a:solidFill>
                  <a:srgbClr val="A31515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stdio.h</a:t>
            </a:r>
            <a:r>
              <a:rPr lang="de-DE" sz="6000" b="0" dirty="0">
                <a:solidFill>
                  <a:srgbClr val="E21F1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&gt;</a:t>
            </a:r>
            <a:endParaRPr lang="de-DE" sz="6000" b="0" dirty="0">
              <a:solidFill>
                <a:srgbClr val="000000"/>
              </a:solidFill>
              <a:effectLst/>
              <a:highlight>
                <a:srgbClr val="FFFFFF"/>
              </a:highlight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de-DE" sz="6000" b="0" dirty="0">
                <a:solidFill>
                  <a:srgbClr val="80808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#</a:t>
            </a:r>
            <a:r>
              <a:rPr lang="de-DE" sz="6000" b="0" dirty="0" err="1">
                <a:solidFill>
                  <a:srgbClr val="80808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include</a:t>
            </a:r>
            <a:r>
              <a:rPr lang="de-DE" sz="60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</a:t>
            </a:r>
            <a:r>
              <a:rPr lang="de-DE" sz="6000" b="0" dirty="0">
                <a:solidFill>
                  <a:srgbClr val="E21F1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&lt;</a:t>
            </a:r>
            <a:r>
              <a:rPr lang="de-DE" sz="6000" b="0" dirty="0" err="1">
                <a:solidFill>
                  <a:srgbClr val="A31515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stdlib.h</a:t>
            </a:r>
            <a:r>
              <a:rPr lang="de-DE" sz="6000" b="0" dirty="0">
                <a:solidFill>
                  <a:srgbClr val="E21F1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&gt;</a:t>
            </a:r>
            <a:endParaRPr lang="de-DE" sz="6000" b="0" dirty="0">
              <a:solidFill>
                <a:srgbClr val="000000"/>
              </a:solidFill>
              <a:effectLst/>
              <a:highlight>
                <a:srgbClr val="FFFFFF"/>
              </a:highlight>
              <a:latin typeface="Menlo" panose="020B0609030804020204" pitchFamily="49" charset="0"/>
            </a:endParaRPr>
          </a:p>
          <a:p>
            <a:pPr marL="0" indent="0">
              <a:buNone/>
            </a:pPr>
            <a:br>
              <a:rPr lang="de-DE" sz="60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</a:br>
            <a:r>
              <a:rPr lang="de-DE" sz="6000" b="0" dirty="0" err="1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typedef</a:t>
            </a:r>
            <a:r>
              <a:rPr lang="de-DE" sz="60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</a:t>
            </a:r>
            <a:r>
              <a:rPr lang="de-DE" sz="6000" b="0" dirty="0" err="1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struct</a:t>
            </a:r>
            <a:r>
              <a:rPr lang="de-DE" sz="60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</a:t>
            </a:r>
            <a:r>
              <a:rPr lang="de-DE" sz="6000" b="0" dirty="0" err="1">
                <a:solidFill>
                  <a:srgbClr val="2B91A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mystruct</a:t>
            </a:r>
            <a:r>
              <a:rPr lang="de-DE" sz="60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{</a:t>
            </a:r>
          </a:p>
          <a:p>
            <a:pPr marL="0" indent="0">
              <a:buNone/>
            </a:pPr>
            <a:r>
              <a:rPr lang="de-DE" sz="60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	</a:t>
            </a:r>
            <a:r>
              <a:rPr lang="de-DE" sz="6000" b="0" dirty="0" err="1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int</a:t>
            </a:r>
            <a:r>
              <a:rPr lang="de-DE" sz="60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zahl1;</a:t>
            </a:r>
          </a:p>
          <a:p>
            <a:pPr marL="0" indent="0">
              <a:buNone/>
            </a:pPr>
            <a:r>
              <a:rPr lang="de-DE" sz="60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	</a:t>
            </a:r>
            <a:r>
              <a:rPr lang="de-DE" sz="6000" b="0" dirty="0" err="1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int</a:t>
            </a:r>
            <a:r>
              <a:rPr lang="de-DE" sz="60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zahl2;</a:t>
            </a:r>
          </a:p>
          <a:p>
            <a:pPr marL="0" indent="0">
              <a:buNone/>
            </a:pPr>
            <a:r>
              <a:rPr lang="de-DE" sz="60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	</a:t>
            </a:r>
            <a:r>
              <a:rPr lang="de-DE" sz="6000" b="0" dirty="0" err="1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int</a:t>
            </a:r>
            <a:r>
              <a:rPr lang="de-DE" sz="60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zahl3;</a:t>
            </a:r>
          </a:p>
          <a:p>
            <a:pPr marL="0" indent="0">
              <a:buNone/>
            </a:pPr>
            <a:r>
              <a:rPr lang="de-DE" sz="60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} </a:t>
            </a:r>
            <a:r>
              <a:rPr lang="de-DE" sz="6000" b="0" dirty="0" err="1">
                <a:solidFill>
                  <a:srgbClr val="2B91A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mystruct</a:t>
            </a:r>
            <a:r>
              <a:rPr lang="de-DE" sz="60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;</a:t>
            </a:r>
          </a:p>
          <a:p>
            <a:pPr marL="0" indent="0">
              <a:buNone/>
            </a:pPr>
            <a:br>
              <a:rPr lang="de-DE" sz="60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</a:br>
            <a:r>
              <a:rPr lang="de-DE" sz="6000" b="0" dirty="0" err="1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int</a:t>
            </a:r>
            <a:r>
              <a:rPr lang="de-DE" sz="60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</a:t>
            </a:r>
            <a:r>
              <a:rPr lang="de-DE" sz="6000" b="0" dirty="0" err="1">
                <a:solidFill>
                  <a:srgbClr val="74531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main</a:t>
            </a:r>
            <a:r>
              <a:rPr lang="de-DE" sz="60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() {</a:t>
            </a:r>
          </a:p>
          <a:p>
            <a:pPr marL="0" indent="0">
              <a:buNone/>
            </a:pPr>
            <a:r>
              <a:rPr lang="de-DE" sz="6000" b="0" dirty="0">
                <a:solidFill>
                  <a:srgbClr val="2B91A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	</a:t>
            </a:r>
            <a:r>
              <a:rPr lang="de-DE" sz="6000" b="0" dirty="0" err="1">
                <a:solidFill>
                  <a:srgbClr val="2B91A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mystruct</a:t>
            </a:r>
            <a:r>
              <a:rPr lang="de-DE" sz="60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</a:t>
            </a:r>
            <a:r>
              <a:rPr lang="de-DE" sz="6000" b="0" dirty="0">
                <a:solidFill>
                  <a:srgbClr val="1F377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test1</a:t>
            </a:r>
            <a:r>
              <a:rPr lang="de-DE" sz="60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;</a:t>
            </a:r>
          </a:p>
          <a:p>
            <a:pPr marL="0" indent="0">
              <a:buNone/>
            </a:pPr>
            <a:r>
              <a:rPr lang="de-DE" sz="6000" b="0" dirty="0">
                <a:solidFill>
                  <a:srgbClr val="2B91A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	</a:t>
            </a:r>
            <a:r>
              <a:rPr lang="de-DE" sz="6000" b="0" dirty="0" err="1">
                <a:solidFill>
                  <a:srgbClr val="2B91A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mystruct</a:t>
            </a:r>
            <a:r>
              <a:rPr lang="de-DE" sz="60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*</a:t>
            </a:r>
            <a:r>
              <a:rPr lang="de-DE" sz="6000" b="0" dirty="0">
                <a:solidFill>
                  <a:srgbClr val="1F377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test2</a:t>
            </a:r>
            <a:r>
              <a:rPr lang="de-DE" sz="60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= </a:t>
            </a:r>
            <a:r>
              <a:rPr lang="de-DE" sz="6000" b="0" dirty="0" err="1">
                <a:solidFill>
                  <a:srgbClr val="74531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malloc</a:t>
            </a:r>
            <a:r>
              <a:rPr lang="de-DE" sz="60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de-DE" sz="6000" b="0" dirty="0" err="1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sizeof</a:t>
            </a:r>
            <a:r>
              <a:rPr lang="de-DE" sz="60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de-DE" sz="6000" b="0" dirty="0" err="1">
                <a:solidFill>
                  <a:srgbClr val="2B91A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mystruct</a:t>
            </a:r>
            <a:r>
              <a:rPr lang="de-DE" sz="60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));</a:t>
            </a:r>
          </a:p>
          <a:p>
            <a:pPr marL="0" indent="0">
              <a:buNone/>
            </a:pPr>
            <a:r>
              <a:rPr lang="de-DE" sz="60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	</a:t>
            </a:r>
            <a:r>
              <a:rPr lang="de-DE" sz="6000" b="0" dirty="0" err="1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int</a:t>
            </a:r>
            <a:r>
              <a:rPr lang="de-DE" sz="60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</a:t>
            </a:r>
            <a:r>
              <a:rPr lang="de-DE" sz="6000" b="0" dirty="0">
                <a:solidFill>
                  <a:srgbClr val="1F377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t1</a:t>
            </a:r>
            <a:r>
              <a:rPr lang="de-DE" sz="60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= </a:t>
            </a:r>
            <a:r>
              <a:rPr lang="de-DE" sz="6000" b="0" dirty="0" err="1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sizeof</a:t>
            </a:r>
            <a:r>
              <a:rPr lang="de-DE" sz="60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de-DE" sz="6000" b="0" dirty="0" err="1">
                <a:solidFill>
                  <a:srgbClr val="2B91A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mystruct</a:t>
            </a:r>
            <a:r>
              <a:rPr lang="de-DE" sz="60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);</a:t>
            </a:r>
          </a:p>
          <a:p>
            <a:pPr marL="0" indent="0">
              <a:buNone/>
            </a:pPr>
            <a:r>
              <a:rPr lang="de-DE" sz="60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	</a:t>
            </a:r>
            <a:r>
              <a:rPr lang="de-DE" sz="6000" b="0" dirty="0" err="1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int</a:t>
            </a:r>
            <a:r>
              <a:rPr lang="de-DE" sz="60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</a:t>
            </a:r>
            <a:r>
              <a:rPr lang="de-DE" sz="6000" b="0" dirty="0">
                <a:solidFill>
                  <a:srgbClr val="1F377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t2</a:t>
            </a:r>
            <a:r>
              <a:rPr lang="de-DE" sz="60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= </a:t>
            </a:r>
            <a:r>
              <a:rPr lang="de-DE" sz="6000" b="0" dirty="0" err="1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sizeof</a:t>
            </a:r>
            <a:r>
              <a:rPr lang="de-DE" sz="60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de-DE" sz="6000" b="0" dirty="0">
                <a:solidFill>
                  <a:srgbClr val="1F377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test1</a:t>
            </a:r>
            <a:r>
              <a:rPr lang="de-DE" sz="60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);</a:t>
            </a:r>
          </a:p>
          <a:p>
            <a:pPr marL="0" indent="0">
              <a:buNone/>
            </a:pPr>
            <a:r>
              <a:rPr lang="de-DE" sz="60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	</a:t>
            </a:r>
            <a:r>
              <a:rPr lang="de-DE" sz="6000" b="0" dirty="0" err="1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int</a:t>
            </a:r>
            <a:r>
              <a:rPr lang="de-DE" sz="60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</a:t>
            </a:r>
            <a:r>
              <a:rPr lang="de-DE" sz="6000" b="0" dirty="0">
                <a:solidFill>
                  <a:srgbClr val="1F377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t3</a:t>
            </a:r>
            <a:r>
              <a:rPr lang="de-DE" sz="60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= </a:t>
            </a:r>
            <a:r>
              <a:rPr lang="de-DE" sz="6000" b="0" dirty="0" err="1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sizeof</a:t>
            </a:r>
            <a:r>
              <a:rPr lang="de-DE" sz="60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de-DE" sz="6000" b="0" dirty="0">
                <a:solidFill>
                  <a:srgbClr val="1F377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test2</a:t>
            </a:r>
            <a:r>
              <a:rPr lang="de-DE" sz="60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);</a:t>
            </a:r>
          </a:p>
          <a:p>
            <a:pPr marL="0" indent="0">
              <a:buNone/>
            </a:pPr>
            <a:r>
              <a:rPr lang="de-DE" sz="6000" b="0" dirty="0">
                <a:solidFill>
                  <a:srgbClr val="74531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	</a:t>
            </a:r>
            <a:r>
              <a:rPr lang="de-DE" sz="6000" b="0" dirty="0" err="1">
                <a:solidFill>
                  <a:srgbClr val="74531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printf</a:t>
            </a:r>
            <a:r>
              <a:rPr lang="de-DE" sz="60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de-DE" sz="6000" b="0" dirty="0">
                <a:solidFill>
                  <a:srgbClr val="E21F1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"</a:t>
            </a:r>
            <a:r>
              <a:rPr lang="de-DE" sz="6000" b="0" dirty="0">
                <a:solidFill>
                  <a:srgbClr val="A31515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t1: </a:t>
            </a:r>
            <a:r>
              <a:rPr lang="de-DE" sz="6000" b="0" dirty="0">
                <a:solidFill>
                  <a:srgbClr val="1F377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%d</a:t>
            </a:r>
            <a:r>
              <a:rPr lang="de-DE" sz="6000" b="0" dirty="0">
                <a:solidFill>
                  <a:srgbClr val="B776F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\n</a:t>
            </a:r>
            <a:r>
              <a:rPr lang="de-DE" sz="6000" b="0" dirty="0">
                <a:solidFill>
                  <a:srgbClr val="A31515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t2: </a:t>
            </a:r>
            <a:r>
              <a:rPr lang="de-DE" sz="6000" b="0" dirty="0">
                <a:solidFill>
                  <a:srgbClr val="1F377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%d</a:t>
            </a:r>
            <a:r>
              <a:rPr lang="de-DE" sz="6000" b="0" dirty="0">
                <a:solidFill>
                  <a:srgbClr val="B776F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\n</a:t>
            </a:r>
            <a:r>
              <a:rPr lang="de-DE" sz="6000" b="0" dirty="0">
                <a:solidFill>
                  <a:srgbClr val="A31515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t3: </a:t>
            </a:r>
            <a:r>
              <a:rPr lang="de-DE" sz="6000" b="0" dirty="0">
                <a:solidFill>
                  <a:srgbClr val="1F377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%d</a:t>
            </a:r>
            <a:r>
              <a:rPr lang="de-DE" sz="6000" b="0" dirty="0">
                <a:solidFill>
                  <a:srgbClr val="B776F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\</a:t>
            </a:r>
            <a:r>
              <a:rPr lang="de-DE" sz="6000" b="0" dirty="0" err="1">
                <a:solidFill>
                  <a:srgbClr val="B776F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n</a:t>
            </a:r>
            <a:r>
              <a:rPr lang="de-DE" sz="6000" b="0" dirty="0">
                <a:solidFill>
                  <a:srgbClr val="E21F1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"</a:t>
            </a:r>
            <a:r>
              <a:rPr lang="de-DE" sz="60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, </a:t>
            </a:r>
            <a:r>
              <a:rPr lang="de-DE" sz="6000" b="0" dirty="0">
                <a:solidFill>
                  <a:srgbClr val="1F377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t1</a:t>
            </a:r>
            <a:r>
              <a:rPr lang="de-DE" sz="60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, </a:t>
            </a:r>
            <a:r>
              <a:rPr lang="de-DE" sz="6000" b="0" dirty="0">
                <a:solidFill>
                  <a:srgbClr val="1F377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t2</a:t>
            </a:r>
            <a:r>
              <a:rPr lang="de-DE" sz="60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, </a:t>
            </a:r>
            <a:r>
              <a:rPr lang="de-DE" sz="6000" b="0" dirty="0">
                <a:solidFill>
                  <a:srgbClr val="1F377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t3</a:t>
            </a:r>
            <a:r>
              <a:rPr lang="de-DE" sz="60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);</a:t>
            </a:r>
          </a:p>
          <a:p>
            <a:pPr marL="0" indent="0">
              <a:buNone/>
            </a:pPr>
            <a:r>
              <a:rPr lang="de-DE" sz="60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}</a:t>
            </a:r>
            <a:br>
              <a:rPr lang="de-DE" sz="6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</a:br>
            <a:endParaRPr lang="de-DE" sz="6600" b="0" dirty="0">
              <a:solidFill>
                <a:srgbClr val="000000"/>
              </a:solidFill>
              <a:effectLst/>
              <a:highlight>
                <a:srgbClr val="FFFFFF"/>
              </a:highlight>
              <a:latin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5142459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23DCF9C-47DC-2F37-984C-FC0302E268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de-DE" dirty="0">
                <a:solidFill>
                  <a:srgbClr val="FFFFFF"/>
                </a:solidFill>
              </a:rPr>
              <a:t>C – Aufgabe 1.2 h) </a:t>
            </a:r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52532051-EB05-ED09-2017-7027A4D277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de-DE" dirty="0"/>
              <a:t>Sie schreiben folgenden Code. Ihr Programm stürzt jedoch ab. Was ist passiert?</a:t>
            </a:r>
          </a:p>
        </p:txBody>
      </p:sp>
    </p:spTree>
    <p:extLst>
      <p:ext uri="{BB962C8B-B14F-4D97-AF65-F5344CB8AC3E}">
        <p14:creationId xmlns:p14="http://schemas.microsoft.com/office/powerpoint/2010/main" val="3570277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4750B6E-B7A7-B17C-C8D2-7C12C9C584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 – Aufgabe 1.2 </a:t>
            </a:r>
            <a:r>
              <a:rPr lang="de-DE" dirty="0" err="1"/>
              <a:t>g</a:t>
            </a:r>
            <a:r>
              <a:rPr lang="de-DE" dirty="0"/>
              <a:t>) 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9B0FE3DD-F29D-CB0B-2963-E5FDC75872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sz="2200" b="0" dirty="0">
                <a:solidFill>
                  <a:srgbClr val="80808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#</a:t>
            </a:r>
            <a:r>
              <a:rPr lang="de-DE" sz="2200" b="0" dirty="0" err="1">
                <a:solidFill>
                  <a:srgbClr val="80808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include</a:t>
            </a:r>
            <a:r>
              <a:rPr lang="de-DE" sz="22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</a:t>
            </a:r>
            <a:r>
              <a:rPr lang="de-DE" sz="2200" b="0" dirty="0">
                <a:solidFill>
                  <a:srgbClr val="E21F1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&lt;</a:t>
            </a:r>
            <a:r>
              <a:rPr lang="de-DE" sz="2200" b="0" dirty="0" err="1">
                <a:solidFill>
                  <a:srgbClr val="A31515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stdio.h</a:t>
            </a:r>
            <a:r>
              <a:rPr lang="de-DE" sz="2200" b="0" dirty="0">
                <a:solidFill>
                  <a:srgbClr val="E21F1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&gt;</a:t>
            </a:r>
            <a:endParaRPr lang="de-DE" sz="2200" b="0" dirty="0">
              <a:solidFill>
                <a:srgbClr val="000000"/>
              </a:solidFill>
              <a:effectLst/>
              <a:highlight>
                <a:srgbClr val="FFFFFF"/>
              </a:highlight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de-DE" sz="2200" b="0" dirty="0">
                <a:solidFill>
                  <a:srgbClr val="80808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#</a:t>
            </a:r>
            <a:r>
              <a:rPr lang="de-DE" sz="2200" b="0" dirty="0" err="1">
                <a:solidFill>
                  <a:srgbClr val="80808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include</a:t>
            </a:r>
            <a:r>
              <a:rPr lang="de-DE" sz="22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</a:t>
            </a:r>
            <a:r>
              <a:rPr lang="de-DE" sz="2200" b="0" dirty="0">
                <a:solidFill>
                  <a:srgbClr val="E21F1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&lt;</a:t>
            </a:r>
            <a:r>
              <a:rPr lang="de-DE" sz="2200" b="0" dirty="0" err="1">
                <a:solidFill>
                  <a:srgbClr val="A31515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stdlib.h</a:t>
            </a:r>
            <a:r>
              <a:rPr lang="de-DE" sz="2200" b="0" dirty="0">
                <a:solidFill>
                  <a:srgbClr val="E21F1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&gt;</a:t>
            </a:r>
            <a:endParaRPr lang="de-DE" sz="2200" b="0" dirty="0">
              <a:solidFill>
                <a:srgbClr val="000000"/>
              </a:solidFill>
              <a:effectLst/>
              <a:highlight>
                <a:srgbClr val="FFFFFF"/>
              </a:highlight>
              <a:latin typeface="Menlo" panose="020B0609030804020204" pitchFamily="49" charset="0"/>
            </a:endParaRPr>
          </a:p>
          <a:p>
            <a:pPr marL="0" indent="0">
              <a:buNone/>
            </a:pPr>
            <a:br>
              <a:rPr lang="de-DE" sz="22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</a:br>
            <a:r>
              <a:rPr lang="de-DE" sz="2200" b="0" dirty="0" err="1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int</a:t>
            </a:r>
            <a:r>
              <a:rPr lang="de-DE" sz="22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</a:t>
            </a:r>
            <a:r>
              <a:rPr lang="de-DE" sz="2200" b="0" dirty="0" err="1">
                <a:solidFill>
                  <a:srgbClr val="74531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main</a:t>
            </a:r>
            <a:r>
              <a:rPr lang="de-DE" sz="22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() {</a:t>
            </a:r>
          </a:p>
          <a:p>
            <a:pPr marL="0" indent="0">
              <a:buNone/>
            </a:pPr>
            <a:r>
              <a:rPr lang="de-DE" sz="22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	</a:t>
            </a:r>
            <a:r>
              <a:rPr lang="de-DE" sz="2200" b="0" dirty="0" err="1">
                <a:solidFill>
                  <a:srgbClr val="0000F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int</a:t>
            </a:r>
            <a:r>
              <a:rPr lang="de-DE" sz="22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*</a:t>
            </a:r>
            <a:r>
              <a:rPr lang="de-DE" sz="22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meinezahl</a:t>
            </a:r>
            <a:r>
              <a:rPr lang="de-DE" sz="22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;</a:t>
            </a:r>
          </a:p>
          <a:p>
            <a:pPr marL="0" indent="0">
              <a:buNone/>
            </a:pPr>
            <a:r>
              <a:rPr lang="de-DE" sz="22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	</a:t>
            </a:r>
            <a:r>
              <a:rPr lang="de-DE" sz="22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meinezahl</a:t>
            </a:r>
            <a:r>
              <a:rPr lang="de-DE" sz="22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= </a:t>
            </a:r>
            <a:r>
              <a:rPr lang="de-DE" sz="2200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60412</a:t>
            </a:r>
            <a:r>
              <a:rPr lang="de-DE" sz="22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;</a:t>
            </a:r>
          </a:p>
          <a:p>
            <a:pPr marL="0" indent="0">
              <a:buNone/>
            </a:pPr>
            <a:r>
              <a:rPr lang="de-DE" sz="2200" b="0" dirty="0">
                <a:solidFill>
                  <a:srgbClr val="74531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	</a:t>
            </a:r>
            <a:r>
              <a:rPr lang="de-DE" sz="2200" b="0" dirty="0" err="1">
                <a:solidFill>
                  <a:srgbClr val="74531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printf</a:t>
            </a:r>
            <a:r>
              <a:rPr lang="de-DE" sz="22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de-DE" sz="2200" b="0" dirty="0">
                <a:solidFill>
                  <a:srgbClr val="E21F1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"</a:t>
            </a:r>
            <a:r>
              <a:rPr lang="de-DE" sz="2200" b="0" dirty="0">
                <a:solidFill>
                  <a:srgbClr val="1F377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%d</a:t>
            </a:r>
            <a:r>
              <a:rPr lang="de-DE" sz="2200" b="0" dirty="0">
                <a:solidFill>
                  <a:srgbClr val="B776F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\</a:t>
            </a:r>
            <a:r>
              <a:rPr lang="de-DE" sz="2200" b="0" dirty="0" err="1">
                <a:solidFill>
                  <a:srgbClr val="B776FB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n</a:t>
            </a:r>
            <a:r>
              <a:rPr lang="de-DE" sz="2200" b="0" dirty="0">
                <a:solidFill>
                  <a:srgbClr val="E21F1F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"</a:t>
            </a:r>
            <a:r>
              <a:rPr lang="de-DE" sz="22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, *</a:t>
            </a:r>
            <a:r>
              <a:rPr lang="de-DE" sz="22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meinezahl</a:t>
            </a:r>
            <a:r>
              <a:rPr lang="de-DE" sz="22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);</a:t>
            </a:r>
          </a:p>
          <a:p>
            <a:pPr marL="0" indent="0">
              <a:buNone/>
            </a:pPr>
            <a:r>
              <a:rPr lang="de-DE" sz="22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}</a:t>
            </a:r>
            <a:br>
              <a:rPr lang="de-DE" sz="4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</a:br>
            <a:endParaRPr lang="de-DE" sz="4400" b="0" dirty="0">
              <a:solidFill>
                <a:srgbClr val="000000"/>
              </a:solidFill>
              <a:effectLst/>
              <a:highlight>
                <a:srgbClr val="FFFFFF"/>
              </a:highlight>
              <a:latin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114959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23DCF9C-47DC-2F37-984C-FC0302E268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de-DE" dirty="0">
                <a:solidFill>
                  <a:srgbClr val="FFFFFF"/>
                </a:solidFill>
              </a:rPr>
              <a:t>C – Meine Tipps</a:t>
            </a:r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52532051-EB05-ED09-2017-7027A4D277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de-DE" dirty="0"/>
              <a:t>Im Folgenden ein (kleines) Sammelsurium an weiteren häufigen Fehlerquellen</a:t>
            </a:r>
          </a:p>
        </p:txBody>
      </p:sp>
    </p:spTree>
    <p:extLst>
      <p:ext uri="{BB962C8B-B14F-4D97-AF65-F5344CB8AC3E}">
        <p14:creationId xmlns:p14="http://schemas.microsoft.com/office/powerpoint/2010/main" val="177264719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1706FC3-D63C-7DC3-CD76-EF7EDD8D93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Achtung! 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3413EEC9-3CCB-9548-0F6C-840F8B9308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Arrays…</a:t>
            </a:r>
          </a:p>
          <a:p>
            <a:r>
              <a:rPr lang="de-DE" dirty="0"/>
              <a:t>Char vs. String</a:t>
            </a:r>
          </a:p>
          <a:p>
            <a:r>
              <a:rPr lang="de-DE" dirty="0"/>
              <a:t>Uninitialized Values &amp; Pointers</a:t>
            </a:r>
          </a:p>
          <a:p>
            <a:r>
              <a:rPr lang="de-DE" dirty="0" err="1"/>
              <a:t>Leaky</a:t>
            </a:r>
            <a:r>
              <a:rPr lang="de-DE" dirty="0"/>
              <a:t> </a:t>
            </a:r>
            <a:r>
              <a:rPr lang="de-DE" dirty="0" err="1"/>
              <a:t>memory</a:t>
            </a:r>
            <a:endParaRPr lang="de-DE" dirty="0"/>
          </a:p>
          <a:p>
            <a:r>
              <a:rPr lang="de-DE" dirty="0"/>
              <a:t>Data </a:t>
            </a:r>
            <a:r>
              <a:rPr lang="de-DE" dirty="0" err="1"/>
              <a:t>structure</a:t>
            </a:r>
            <a:r>
              <a:rPr lang="de-DE" dirty="0"/>
              <a:t> </a:t>
            </a:r>
            <a:r>
              <a:rPr lang="de-DE" dirty="0" err="1"/>
              <a:t>alignment</a:t>
            </a:r>
            <a:endParaRPr lang="de-DE" dirty="0"/>
          </a:p>
          <a:p>
            <a:r>
              <a:rPr lang="de-DE" dirty="0" err="1"/>
              <a:t>Bitfields</a:t>
            </a:r>
            <a:r>
              <a:rPr lang="de-DE" dirty="0"/>
              <a:t> in </a:t>
            </a:r>
            <a:r>
              <a:rPr lang="de-DE" dirty="0" err="1"/>
              <a:t>Structs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5449260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013497-9574-A1A7-FDC2-E9A0C80798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Empfehlung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5208970F-026E-E8FD-87BC-9E85CF5122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Kompiliert mit so vielen Warnung wie möglich!</a:t>
            </a:r>
          </a:p>
          <a:p>
            <a:r>
              <a:rPr lang="de-DE" dirty="0"/>
              <a:t>Benutzt mindestens…</a:t>
            </a:r>
          </a:p>
          <a:p>
            <a:pPr lvl="1"/>
            <a:r>
              <a:rPr lang="de-DE" dirty="0"/>
              <a:t>-Wall, -</a:t>
            </a:r>
            <a:r>
              <a:rPr lang="de-DE" dirty="0" err="1"/>
              <a:t>Wextra</a:t>
            </a:r>
            <a:endParaRPr lang="de-DE" dirty="0"/>
          </a:p>
          <a:p>
            <a:pPr lvl="1"/>
            <a:r>
              <a:rPr lang="de-DE" dirty="0" err="1"/>
              <a:t>clang</a:t>
            </a:r>
            <a:r>
              <a:rPr lang="de-DE" dirty="0"/>
              <a:t> </a:t>
            </a:r>
            <a:r>
              <a:rPr lang="de-DE" dirty="0">
                <a:solidFill>
                  <a:srgbClr val="FF0000"/>
                </a:solidFill>
              </a:rPr>
              <a:t>-Wall -</a:t>
            </a:r>
            <a:r>
              <a:rPr lang="de-DE" dirty="0" err="1">
                <a:solidFill>
                  <a:srgbClr val="FF0000"/>
                </a:solidFill>
              </a:rPr>
              <a:t>Wextra</a:t>
            </a:r>
            <a:r>
              <a:rPr lang="de-DE" dirty="0">
                <a:solidFill>
                  <a:srgbClr val="FF0000"/>
                </a:solidFill>
              </a:rPr>
              <a:t> </a:t>
            </a:r>
            <a:r>
              <a:rPr lang="de-DE" dirty="0"/>
              <a:t>-o </a:t>
            </a:r>
            <a:r>
              <a:rPr lang="de-DE" dirty="0" err="1"/>
              <a:t>my_executable</a:t>
            </a:r>
            <a:r>
              <a:rPr lang="de-DE" dirty="0"/>
              <a:t> </a:t>
            </a:r>
            <a:r>
              <a:rPr lang="de-DE" dirty="0" err="1"/>
              <a:t>my_c_file.c</a:t>
            </a:r>
            <a:endParaRPr lang="de-DE" dirty="0"/>
          </a:p>
          <a:p>
            <a:r>
              <a:rPr lang="de-DE" dirty="0"/>
              <a:t>Noch besser, zusätzlich noch…</a:t>
            </a:r>
          </a:p>
          <a:p>
            <a:pPr lvl="1"/>
            <a:r>
              <a:rPr lang="de-DE" dirty="0"/>
              <a:t>-</a:t>
            </a:r>
            <a:r>
              <a:rPr lang="de-DE" dirty="0" err="1"/>
              <a:t>Werror</a:t>
            </a:r>
            <a:r>
              <a:rPr lang="de-DE" dirty="0"/>
              <a:t> (verhindert die Kompilierung unter Warnungen)</a:t>
            </a:r>
          </a:p>
          <a:p>
            <a:pPr lvl="1"/>
            <a:r>
              <a:rPr lang="de-DE" dirty="0"/>
              <a:t>-</a:t>
            </a:r>
            <a:r>
              <a:rPr lang="de-DE" dirty="0" err="1"/>
              <a:t>Wshadow</a:t>
            </a:r>
            <a:r>
              <a:rPr lang="de-DE" dirty="0"/>
              <a:t> -</a:t>
            </a:r>
            <a:r>
              <a:rPr lang="de-DE" dirty="0" err="1"/>
              <a:t>Wmissing-declarations</a:t>
            </a:r>
            <a:r>
              <a:rPr lang="de-DE" dirty="0"/>
              <a:t> -</a:t>
            </a:r>
            <a:r>
              <a:rPr lang="de-DE" dirty="0" err="1"/>
              <a:t>Wno</a:t>
            </a:r>
            <a:r>
              <a:rPr lang="de-DE" dirty="0"/>
              <a:t>-</a:t>
            </a:r>
            <a:r>
              <a:rPr lang="de-DE" dirty="0" err="1"/>
              <a:t>unused</a:t>
            </a:r>
            <a:r>
              <a:rPr lang="de-DE" dirty="0"/>
              <a:t>-parameter -</a:t>
            </a:r>
            <a:r>
              <a:rPr lang="de-DE" dirty="0" err="1"/>
              <a:t>Wshift</a:t>
            </a:r>
            <a:r>
              <a:rPr lang="de-DE" dirty="0"/>
              <a:t>-overflow -</a:t>
            </a:r>
            <a:r>
              <a:rPr lang="de-DE" dirty="0" err="1"/>
              <a:t>Wformat-security</a:t>
            </a:r>
            <a:r>
              <a:rPr lang="de-DE" dirty="0"/>
              <a:t> -</a:t>
            </a:r>
            <a:r>
              <a:rPr lang="de-DE" dirty="0" err="1"/>
              <a:t>Wnull-dereference</a:t>
            </a:r>
            <a:r>
              <a:rPr lang="de-DE" dirty="0"/>
              <a:t> -</a:t>
            </a:r>
            <a:r>
              <a:rPr lang="de-DE" dirty="0" err="1"/>
              <a:t>Wstack-protector</a:t>
            </a:r>
            <a:r>
              <a:rPr lang="de-DE" dirty="0"/>
              <a:t> -</a:t>
            </a:r>
            <a:r>
              <a:rPr lang="de-DE" dirty="0" err="1"/>
              <a:t>Walloca</a:t>
            </a:r>
            <a:r>
              <a:rPr lang="de-DE" dirty="0"/>
              <a:t> -</a:t>
            </a:r>
            <a:r>
              <a:rPr lang="de-DE" dirty="0" err="1"/>
              <a:t>Warray-bounds</a:t>
            </a:r>
            <a:r>
              <a:rPr lang="de-DE" dirty="0"/>
              <a:t> -</a:t>
            </a:r>
            <a:r>
              <a:rPr lang="de-DE" dirty="0" err="1"/>
              <a:t>Wimplicit-fallthrough</a:t>
            </a:r>
            <a:r>
              <a:rPr lang="de-DE" dirty="0"/>
              <a:t> -</a:t>
            </a:r>
            <a:r>
              <a:rPr lang="de-DE" dirty="0" err="1"/>
              <a:t>Wliteral-conversion</a:t>
            </a:r>
            <a:r>
              <a:rPr lang="de-DE" dirty="0"/>
              <a:t> -</a:t>
            </a:r>
            <a:r>
              <a:rPr lang="de-DE" dirty="0" err="1"/>
              <a:t>Wcast</a:t>
            </a:r>
            <a:r>
              <a:rPr lang="de-DE" dirty="0"/>
              <a:t>-qual -</a:t>
            </a:r>
            <a:r>
              <a:rPr lang="de-DE" dirty="0" err="1"/>
              <a:t>Wundef</a:t>
            </a:r>
            <a:r>
              <a:rPr lang="de-DE" dirty="0"/>
              <a:t> -</a:t>
            </a:r>
            <a:r>
              <a:rPr lang="de-DE" dirty="0" err="1"/>
              <a:t>Wstrict-prototypes</a:t>
            </a:r>
            <a:r>
              <a:rPr lang="de-DE" dirty="0"/>
              <a:t> -</a:t>
            </a:r>
            <a:r>
              <a:rPr lang="de-DE" dirty="0" err="1"/>
              <a:t>Wswitch</a:t>
            </a:r>
            <a:r>
              <a:rPr lang="de-DE" dirty="0"/>
              <a:t>-default -</a:t>
            </a:r>
            <a:r>
              <a:rPr lang="de-DE" dirty="0" err="1"/>
              <a:t>Wcast-align</a:t>
            </a:r>
            <a:r>
              <a:rPr lang="de-DE" dirty="0"/>
              <a:t> etc.</a:t>
            </a:r>
          </a:p>
        </p:txBody>
      </p:sp>
    </p:spTree>
    <p:extLst>
      <p:ext uri="{BB962C8B-B14F-4D97-AF65-F5344CB8AC3E}">
        <p14:creationId xmlns:p14="http://schemas.microsoft.com/office/powerpoint/2010/main" val="74837752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943CAA20-3569-4189-9E48-239A229A86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0CE750E9-2950-1A73-7A17-26BF40830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51381"/>
            <a:ext cx="10512552" cy="406654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3. Wichitige Tools 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1F47622B-4E1E-23E1-F1F4-7E9144FAE7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199" y="4983276"/>
            <a:ext cx="10512552" cy="1126680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gdb</a:t>
            </a:r>
            <a:r>
              <a:rPr lang="en-US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  <a:r>
              <a:rPr lang="en-US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valgrind</a:t>
            </a:r>
            <a:r>
              <a:rPr lang="en-US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make und co.</a:t>
            </a:r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DA542B6D-E775-4832-91DC-2D20F85781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4718595"/>
            <a:ext cx="5410200" cy="18288"/>
          </a:xfrm>
          <a:custGeom>
            <a:avLst/>
            <a:gdLst>
              <a:gd name="connsiteX0" fmla="*/ 0 w 5410200"/>
              <a:gd name="connsiteY0" fmla="*/ 0 h 18288"/>
              <a:gd name="connsiteX1" fmla="*/ 568071 w 5410200"/>
              <a:gd name="connsiteY1" fmla="*/ 0 h 18288"/>
              <a:gd name="connsiteX2" fmla="*/ 1298448 w 5410200"/>
              <a:gd name="connsiteY2" fmla="*/ 0 h 18288"/>
              <a:gd name="connsiteX3" fmla="*/ 1920621 w 5410200"/>
              <a:gd name="connsiteY3" fmla="*/ 0 h 18288"/>
              <a:gd name="connsiteX4" fmla="*/ 2488692 w 5410200"/>
              <a:gd name="connsiteY4" fmla="*/ 0 h 18288"/>
              <a:gd name="connsiteX5" fmla="*/ 3219069 w 5410200"/>
              <a:gd name="connsiteY5" fmla="*/ 0 h 18288"/>
              <a:gd name="connsiteX6" fmla="*/ 3895344 w 5410200"/>
              <a:gd name="connsiteY6" fmla="*/ 0 h 18288"/>
              <a:gd name="connsiteX7" fmla="*/ 4571619 w 5410200"/>
              <a:gd name="connsiteY7" fmla="*/ 0 h 18288"/>
              <a:gd name="connsiteX8" fmla="*/ 5410200 w 5410200"/>
              <a:gd name="connsiteY8" fmla="*/ 0 h 18288"/>
              <a:gd name="connsiteX9" fmla="*/ 5410200 w 5410200"/>
              <a:gd name="connsiteY9" fmla="*/ 18288 h 18288"/>
              <a:gd name="connsiteX10" fmla="*/ 4842129 w 5410200"/>
              <a:gd name="connsiteY10" fmla="*/ 18288 h 18288"/>
              <a:gd name="connsiteX11" fmla="*/ 4328160 w 5410200"/>
              <a:gd name="connsiteY11" fmla="*/ 18288 h 18288"/>
              <a:gd name="connsiteX12" fmla="*/ 3597783 w 5410200"/>
              <a:gd name="connsiteY12" fmla="*/ 18288 h 18288"/>
              <a:gd name="connsiteX13" fmla="*/ 3029712 w 5410200"/>
              <a:gd name="connsiteY13" fmla="*/ 18288 h 18288"/>
              <a:gd name="connsiteX14" fmla="*/ 2299335 w 5410200"/>
              <a:gd name="connsiteY14" fmla="*/ 18288 h 18288"/>
              <a:gd name="connsiteX15" fmla="*/ 1514856 w 5410200"/>
              <a:gd name="connsiteY15" fmla="*/ 18288 h 18288"/>
              <a:gd name="connsiteX16" fmla="*/ 892683 w 5410200"/>
              <a:gd name="connsiteY16" fmla="*/ 18288 h 18288"/>
              <a:gd name="connsiteX17" fmla="*/ 0 w 5410200"/>
              <a:gd name="connsiteY17" fmla="*/ 18288 h 18288"/>
              <a:gd name="connsiteX18" fmla="*/ 0 w 5410200"/>
              <a:gd name="connsiteY1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226741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2C61293E-6EBE-43EF-A52C-9BEBFD7679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8293FEBD-4703-0320-7AA7-95010D8BB2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97762" y="329184"/>
            <a:ext cx="6251110" cy="1783080"/>
          </a:xfrm>
        </p:spPr>
        <p:txBody>
          <a:bodyPr anchor="b">
            <a:normAutofit/>
          </a:bodyPr>
          <a:lstStyle/>
          <a:p>
            <a:r>
              <a:rPr lang="de-DE" sz="5400"/>
              <a:t>Wichtige Tools</a:t>
            </a:r>
          </a:p>
        </p:txBody>
      </p:sp>
      <p:pic>
        <p:nvPicPr>
          <p:cNvPr id="7" name="Picture 6" descr="Stillleben mit Holzlöffeln im Krug auf einem Küchentresen">
            <a:extLst>
              <a:ext uri="{FF2B5EF4-FFF2-40B4-BE49-F238E27FC236}">
                <a16:creationId xmlns:a16="http://schemas.microsoft.com/office/drawing/2014/main" id="{D849B39B-122A-1939-61A2-C7F8BC8DCE0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3721" r="10947" b="-1"/>
          <a:stretch/>
        </p:blipFill>
        <p:spPr>
          <a:xfrm>
            <a:off x="1" y="10"/>
            <a:ext cx="4657344" cy="6857990"/>
          </a:xfrm>
          <a:custGeom>
            <a:avLst/>
            <a:gdLst/>
            <a:ahLst/>
            <a:cxnLst/>
            <a:rect l="l" t="t" r="r" b="b"/>
            <a:pathLst>
              <a:path w="4657344" h="6858000">
                <a:moveTo>
                  <a:pt x="0" y="0"/>
                </a:moveTo>
                <a:lnTo>
                  <a:pt x="3429755" y="0"/>
                </a:lnTo>
                <a:lnTo>
                  <a:pt x="3526016" y="148742"/>
                </a:lnTo>
                <a:cubicBezTo>
                  <a:pt x="3657740" y="365513"/>
                  <a:pt x="3777402" y="589569"/>
                  <a:pt x="3886489" y="819975"/>
                </a:cubicBezTo>
                <a:cubicBezTo>
                  <a:pt x="3891856" y="833492"/>
                  <a:pt x="3900663" y="845393"/>
                  <a:pt x="3912049" y="854514"/>
                </a:cubicBezTo>
                <a:cubicBezTo>
                  <a:pt x="3897352" y="819849"/>
                  <a:pt x="3883037" y="784928"/>
                  <a:pt x="3868083" y="750263"/>
                </a:cubicBezTo>
                <a:cubicBezTo>
                  <a:pt x="3806989" y="608712"/>
                  <a:pt x="3742478" y="469145"/>
                  <a:pt x="3674155" y="331786"/>
                </a:cubicBezTo>
                <a:lnTo>
                  <a:pt x="3496656" y="0"/>
                </a:lnTo>
                <a:lnTo>
                  <a:pt x="3554371" y="0"/>
                </a:lnTo>
                <a:lnTo>
                  <a:pt x="3661621" y="196614"/>
                </a:lnTo>
                <a:cubicBezTo>
                  <a:pt x="3856899" y="573253"/>
                  <a:pt x="4021071" y="966066"/>
                  <a:pt x="4161279" y="1371196"/>
                </a:cubicBezTo>
                <a:cubicBezTo>
                  <a:pt x="4379525" y="2007265"/>
                  <a:pt x="4530141" y="2664286"/>
                  <a:pt x="4610660" y="3331516"/>
                </a:cubicBezTo>
                <a:cubicBezTo>
                  <a:pt x="4652837" y="3672965"/>
                  <a:pt x="4671625" y="4013908"/>
                  <a:pt x="4645040" y="4357388"/>
                </a:cubicBezTo>
                <a:cubicBezTo>
                  <a:pt x="4613599" y="4758899"/>
                  <a:pt x="4566181" y="5157998"/>
                  <a:pt x="4485789" y="5552906"/>
                </a:cubicBezTo>
                <a:cubicBezTo>
                  <a:pt x="4397121" y="5988893"/>
                  <a:pt x="4276748" y="6414594"/>
                  <a:pt x="4117769" y="6828295"/>
                </a:cubicBezTo>
                <a:lnTo>
                  <a:pt x="4105288" y="6858000"/>
                </a:lnTo>
                <a:lnTo>
                  <a:pt x="4052520" y="6858000"/>
                </a:lnTo>
                <a:lnTo>
                  <a:pt x="4059369" y="6841549"/>
                </a:lnTo>
                <a:cubicBezTo>
                  <a:pt x="4147276" y="6614016"/>
                  <a:pt x="4224193" y="6380817"/>
                  <a:pt x="4291518" y="6142729"/>
                </a:cubicBezTo>
                <a:cubicBezTo>
                  <a:pt x="4350055" y="5935370"/>
                  <a:pt x="4393256" y="5723695"/>
                  <a:pt x="4443357" y="5513923"/>
                </a:cubicBezTo>
                <a:cubicBezTo>
                  <a:pt x="4444541" y="5502788"/>
                  <a:pt x="4445137" y="5491601"/>
                  <a:pt x="4445146" y="5480401"/>
                </a:cubicBezTo>
                <a:cubicBezTo>
                  <a:pt x="4408465" y="5607635"/>
                  <a:pt x="4379196" y="5719759"/>
                  <a:pt x="4344559" y="5830359"/>
                </a:cubicBezTo>
                <a:cubicBezTo>
                  <a:pt x="4254261" y="6118381"/>
                  <a:pt x="4150112" y="6398531"/>
                  <a:pt x="4031702" y="6670527"/>
                </a:cubicBezTo>
                <a:lnTo>
                  <a:pt x="3943824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13" name="sketchy line">
            <a:extLst>
              <a:ext uri="{FF2B5EF4-FFF2-40B4-BE49-F238E27FC236}">
                <a16:creationId xmlns:a16="http://schemas.microsoft.com/office/drawing/2014/main" id="{21540236-BFD5-4A9D-8840-4703E7F768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297762" y="2374947"/>
            <a:ext cx="4243589" cy="18288"/>
          </a:xfrm>
          <a:custGeom>
            <a:avLst/>
            <a:gdLst>
              <a:gd name="connsiteX0" fmla="*/ 0 w 4243589"/>
              <a:gd name="connsiteY0" fmla="*/ 0 h 18288"/>
              <a:gd name="connsiteX1" fmla="*/ 478919 w 4243589"/>
              <a:gd name="connsiteY1" fmla="*/ 0 h 18288"/>
              <a:gd name="connsiteX2" fmla="*/ 957839 w 4243589"/>
              <a:gd name="connsiteY2" fmla="*/ 0 h 18288"/>
              <a:gd name="connsiteX3" fmla="*/ 1521630 w 4243589"/>
              <a:gd name="connsiteY3" fmla="*/ 0 h 18288"/>
              <a:gd name="connsiteX4" fmla="*/ 2212729 w 4243589"/>
              <a:gd name="connsiteY4" fmla="*/ 0 h 18288"/>
              <a:gd name="connsiteX5" fmla="*/ 2734084 w 4243589"/>
              <a:gd name="connsiteY5" fmla="*/ 0 h 18288"/>
              <a:gd name="connsiteX6" fmla="*/ 3255439 w 4243589"/>
              <a:gd name="connsiteY6" fmla="*/ 0 h 18288"/>
              <a:gd name="connsiteX7" fmla="*/ 4243589 w 4243589"/>
              <a:gd name="connsiteY7" fmla="*/ 0 h 18288"/>
              <a:gd name="connsiteX8" fmla="*/ 4243589 w 4243589"/>
              <a:gd name="connsiteY8" fmla="*/ 18288 h 18288"/>
              <a:gd name="connsiteX9" fmla="*/ 3594926 w 4243589"/>
              <a:gd name="connsiteY9" fmla="*/ 18288 h 18288"/>
              <a:gd name="connsiteX10" fmla="*/ 3073571 w 4243589"/>
              <a:gd name="connsiteY10" fmla="*/ 18288 h 18288"/>
              <a:gd name="connsiteX11" fmla="*/ 2552216 w 4243589"/>
              <a:gd name="connsiteY11" fmla="*/ 18288 h 18288"/>
              <a:gd name="connsiteX12" fmla="*/ 1903553 w 4243589"/>
              <a:gd name="connsiteY12" fmla="*/ 18288 h 18288"/>
              <a:gd name="connsiteX13" fmla="*/ 1212454 w 4243589"/>
              <a:gd name="connsiteY13" fmla="*/ 18288 h 18288"/>
              <a:gd name="connsiteX14" fmla="*/ 733535 w 4243589"/>
              <a:gd name="connsiteY14" fmla="*/ 18288 h 18288"/>
              <a:gd name="connsiteX15" fmla="*/ 0 w 4243589"/>
              <a:gd name="connsiteY15" fmla="*/ 18288 h 18288"/>
              <a:gd name="connsiteX16" fmla="*/ 0 w 4243589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1FEB3782-1B97-7894-3CB6-AD87AE6013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97762" y="2706624"/>
            <a:ext cx="6251110" cy="3483864"/>
          </a:xfrm>
        </p:spPr>
        <p:txBody>
          <a:bodyPr>
            <a:normAutofit/>
          </a:bodyPr>
          <a:lstStyle/>
          <a:p>
            <a:r>
              <a:rPr lang="de-DE" sz="2200" b="1" dirty="0" err="1"/>
              <a:t>gdb</a:t>
            </a:r>
            <a:r>
              <a:rPr lang="de-DE" sz="2200" b="1" dirty="0"/>
              <a:t> (</a:t>
            </a:r>
            <a:r>
              <a:rPr lang="de-DE" sz="2200" b="1" dirty="0" err="1"/>
              <a:t>mac</a:t>
            </a:r>
            <a:r>
              <a:rPr lang="de-DE" sz="2200" b="1" dirty="0"/>
              <a:t>: </a:t>
            </a:r>
            <a:r>
              <a:rPr lang="de-DE" sz="2200" b="1" dirty="0" err="1"/>
              <a:t>lldb</a:t>
            </a:r>
            <a:r>
              <a:rPr lang="de-DE" sz="2200" b="1" dirty="0"/>
              <a:t>)</a:t>
            </a:r>
            <a:r>
              <a:rPr lang="de-DE" sz="2200" dirty="0"/>
              <a:t> – Time </a:t>
            </a:r>
            <a:r>
              <a:rPr lang="de-DE" sz="2200" dirty="0" err="1"/>
              <a:t>to</a:t>
            </a:r>
            <a:r>
              <a:rPr lang="de-DE" sz="2200" dirty="0"/>
              <a:t> </a:t>
            </a:r>
            <a:r>
              <a:rPr lang="de-DE" sz="2200" dirty="0" err="1"/>
              <a:t>debug</a:t>
            </a:r>
            <a:r>
              <a:rPr lang="de-DE" sz="2200" dirty="0"/>
              <a:t>!</a:t>
            </a:r>
          </a:p>
          <a:p>
            <a:r>
              <a:rPr lang="de-DE" sz="2200" b="1" dirty="0" err="1"/>
              <a:t>valgrind</a:t>
            </a:r>
            <a:r>
              <a:rPr lang="de-DE" sz="2200" b="1" dirty="0"/>
              <a:t> (</a:t>
            </a:r>
            <a:r>
              <a:rPr lang="de-DE" sz="2200" b="1" dirty="0" err="1"/>
              <a:t>mac</a:t>
            </a:r>
            <a:r>
              <a:rPr lang="de-DE" sz="2200" b="1" dirty="0"/>
              <a:t>: </a:t>
            </a:r>
            <a:r>
              <a:rPr lang="de-DE" sz="2200" b="1" dirty="0" err="1"/>
              <a:t>leaks</a:t>
            </a:r>
            <a:r>
              <a:rPr lang="de-DE" sz="2200" b="1" dirty="0"/>
              <a:t>) </a:t>
            </a:r>
            <a:r>
              <a:rPr lang="de-DE" sz="2200" dirty="0"/>
              <a:t>– Time </a:t>
            </a:r>
            <a:r>
              <a:rPr lang="de-DE" sz="2200" dirty="0" err="1"/>
              <a:t>to</a:t>
            </a:r>
            <a:r>
              <a:rPr lang="de-DE" sz="2200" dirty="0"/>
              <a:t> find </a:t>
            </a:r>
            <a:r>
              <a:rPr lang="de-DE" sz="2200" dirty="0" err="1"/>
              <a:t>memory</a:t>
            </a:r>
            <a:r>
              <a:rPr lang="de-DE" sz="2200" dirty="0"/>
              <a:t> </a:t>
            </a:r>
            <a:r>
              <a:rPr lang="de-DE" sz="2200" dirty="0" err="1"/>
              <a:t>leaks</a:t>
            </a:r>
            <a:r>
              <a:rPr lang="de-DE" sz="2200" dirty="0"/>
              <a:t>!</a:t>
            </a:r>
          </a:p>
          <a:p>
            <a:r>
              <a:rPr lang="de-DE" sz="2200" b="1" dirty="0" err="1"/>
              <a:t>make</a:t>
            </a:r>
            <a:r>
              <a:rPr lang="de-DE" sz="2200" dirty="0"/>
              <a:t> – </a:t>
            </a:r>
            <a:r>
              <a:rPr lang="de-DE" sz="2200" dirty="0" err="1"/>
              <a:t>Make</a:t>
            </a:r>
            <a:r>
              <a:rPr lang="de-DE" sz="2200" dirty="0"/>
              <a:t> </a:t>
            </a:r>
            <a:r>
              <a:rPr lang="de-DE" sz="2200" dirty="0" err="1"/>
              <a:t>your</a:t>
            </a:r>
            <a:r>
              <a:rPr lang="de-DE" sz="2200" dirty="0"/>
              <a:t> </a:t>
            </a:r>
            <a:r>
              <a:rPr lang="de-DE" sz="2200" dirty="0" err="1"/>
              <a:t>life</a:t>
            </a:r>
            <a:r>
              <a:rPr lang="de-DE" sz="2200" dirty="0"/>
              <a:t> </a:t>
            </a:r>
            <a:r>
              <a:rPr lang="de-DE" sz="2200" dirty="0" err="1"/>
              <a:t>easier</a:t>
            </a:r>
            <a:r>
              <a:rPr lang="de-DE" sz="2200" dirty="0"/>
              <a:t>!</a:t>
            </a:r>
          </a:p>
          <a:p>
            <a:endParaRPr lang="de-DE" sz="2200" dirty="0"/>
          </a:p>
          <a:p>
            <a:r>
              <a:rPr lang="de-DE" sz="2200" dirty="0"/>
              <a:t>Am besten ihr schaut euch Guides/Tutorials an, sobald ihr die Programme benötigt </a:t>
            </a:r>
          </a:p>
          <a:p>
            <a:r>
              <a:rPr lang="de-DE" sz="2200" dirty="0" err="1"/>
              <a:t>Make</a:t>
            </a:r>
            <a:r>
              <a:rPr lang="de-DE" sz="2200" dirty="0"/>
              <a:t> werdet ihr selber nicht benötigen, aber nice </a:t>
            </a:r>
            <a:r>
              <a:rPr lang="de-DE" sz="2200" dirty="0" err="1"/>
              <a:t>to</a:t>
            </a:r>
            <a:r>
              <a:rPr lang="de-DE" sz="2200" dirty="0"/>
              <a:t> </a:t>
            </a:r>
            <a:r>
              <a:rPr lang="de-DE" sz="2200" dirty="0" err="1"/>
              <a:t>know</a:t>
            </a:r>
            <a:r>
              <a:rPr lang="de-DE" sz="2200" dirty="0"/>
              <a:t>, wenn man sich dafür interessiert </a:t>
            </a:r>
          </a:p>
          <a:p>
            <a:endParaRPr lang="de-DE" sz="2200" dirty="0"/>
          </a:p>
        </p:txBody>
      </p:sp>
    </p:spTree>
    <p:extLst>
      <p:ext uri="{BB962C8B-B14F-4D97-AF65-F5344CB8AC3E}">
        <p14:creationId xmlns:p14="http://schemas.microsoft.com/office/powerpoint/2010/main" val="392326156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Kalender auf Tisch">
            <a:extLst>
              <a:ext uri="{FF2B5EF4-FFF2-40B4-BE49-F238E27FC236}">
                <a16:creationId xmlns:a16="http://schemas.microsoft.com/office/drawing/2014/main" id="{B4F67104-8337-9DE2-45FA-C4610B440B0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15627" b="-1"/>
          <a:stretch/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E4373414-2B41-1BF1-C131-961DD800B2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981" y="1122363"/>
            <a:ext cx="402336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Danke, für die Aufmerksamkeit! Bis nächste Woche!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663968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1858</Words>
  <Application>Microsoft Macintosh PowerPoint</Application>
  <PresentationFormat>Breitbild</PresentationFormat>
  <Paragraphs>299</Paragraphs>
  <Slides>43</Slides>
  <Notes>0</Notes>
  <HiddenSlides>0</HiddenSlides>
  <MMClips>2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43</vt:i4>
      </vt:variant>
    </vt:vector>
  </HeadingPairs>
  <TitlesOfParts>
    <vt:vector size="49" baseType="lpstr">
      <vt:lpstr>-apple-system</vt:lpstr>
      <vt:lpstr>Arial</vt:lpstr>
      <vt:lpstr>Calibri</vt:lpstr>
      <vt:lpstr>Calibri Light</vt:lpstr>
      <vt:lpstr>Menlo</vt:lpstr>
      <vt:lpstr>Office</vt:lpstr>
      <vt:lpstr>Tutorium 1</vt:lpstr>
      <vt:lpstr>Vorab – Wer bin ich?</vt:lpstr>
      <vt:lpstr>Vorab - Organisatorisches</vt:lpstr>
      <vt:lpstr>Vorab – Ablauf</vt:lpstr>
      <vt:lpstr>1. Setup</vt:lpstr>
      <vt:lpstr>Empfehlungen</vt:lpstr>
      <vt:lpstr>Empfehlungen</vt:lpstr>
      <vt:lpstr>2. C - Refresher</vt:lpstr>
      <vt:lpstr>Warum C?</vt:lpstr>
      <vt:lpstr>Warum C?</vt:lpstr>
      <vt:lpstr>Warum C?</vt:lpstr>
      <vt:lpstr>Warum C?</vt:lpstr>
      <vt:lpstr>Warum C?</vt:lpstr>
      <vt:lpstr>C-Basics </vt:lpstr>
      <vt:lpstr>C-Basics </vt:lpstr>
      <vt:lpstr>C – Aufgabe 1.2 a) </vt:lpstr>
      <vt:lpstr>C – Aufgabe 1.2 a) </vt:lpstr>
      <vt:lpstr>C – Aufgabe 1.2 a) </vt:lpstr>
      <vt:lpstr>C – Aufgabe 1.2 a) </vt:lpstr>
      <vt:lpstr>C – Aufgabe 1.2 a) </vt:lpstr>
      <vt:lpstr>C – Aufgabe 1.2 a) </vt:lpstr>
      <vt:lpstr>C – Aufgabe 1.2 a) </vt:lpstr>
      <vt:lpstr>C – Aufgabe 1.2 b) </vt:lpstr>
      <vt:lpstr>C – Aufgabe 1.2 b) </vt:lpstr>
      <vt:lpstr>C – Aufgabe 1.2 b) </vt:lpstr>
      <vt:lpstr>C – Aufgabe 1.2 c) </vt:lpstr>
      <vt:lpstr>C – Aufgabe 1.2 c) </vt:lpstr>
      <vt:lpstr>C – Aufgabe 1.2 d) </vt:lpstr>
      <vt:lpstr>C – Aufgabe 1.2 d) </vt:lpstr>
      <vt:lpstr>C – Aufgabe 1.2 e) </vt:lpstr>
      <vt:lpstr>C – Aufgabe 1.2 e) </vt:lpstr>
      <vt:lpstr>C – Aufgabe 1.2 f) </vt:lpstr>
      <vt:lpstr>C – Aufgabe 1.2 f) </vt:lpstr>
      <vt:lpstr>C – Aufgabe 1.2 g) </vt:lpstr>
      <vt:lpstr>C – Aufgabe 1.2 g) </vt:lpstr>
      <vt:lpstr>C – Aufgabe 1.2 h) </vt:lpstr>
      <vt:lpstr>C – Aufgabe 1.2 g) </vt:lpstr>
      <vt:lpstr>C – Meine Tipps</vt:lpstr>
      <vt:lpstr>Achtung! </vt:lpstr>
      <vt:lpstr>Empfehlung</vt:lpstr>
      <vt:lpstr>3. Wichitige Tools </vt:lpstr>
      <vt:lpstr>Wichtige Tools</vt:lpstr>
      <vt:lpstr>Danke, für die Aufmerksamkeit! Bis nächste Woche!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Tutorium 1</dc:title>
  <dc:creator>TU-Pseudonym 4154380243227850</dc:creator>
  <cp:lastModifiedBy>TU-Pseudonym 4154380243227850</cp:lastModifiedBy>
  <cp:revision>5</cp:revision>
  <dcterms:created xsi:type="dcterms:W3CDTF">2024-04-22T15:37:16Z</dcterms:created>
  <dcterms:modified xsi:type="dcterms:W3CDTF">2024-04-25T06:10:22Z</dcterms:modified>
</cp:coreProperties>
</file>