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326" r:id="rId7"/>
    <p:sldId id="327" r:id="rId8"/>
    <p:sldId id="260" r:id="rId9"/>
    <p:sldId id="262" r:id="rId10"/>
    <p:sldId id="263" r:id="rId11"/>
    <p:sldId id="264" r:id="rId12"/>
    <p:sldId id="265" r:id="rId13"/>
    <p:sldId id="266" r:id="rId14"/>
    <p:sldId id="268" r:id="rId15"/>
    <p:sldId id="325" r:id="rId16"/>
    <p:sldId id="279" r:id="rId17"/>
    <p:sldId id="299" r:id="rId18"/>
    <p:sldId id="300" r:id="rId19"/>
    <p:sldId id="301" r:id="rId20"/>
    <p:sldId id="302" r:id="rId21"/>
    <p:sldId id="303" r:id="rId22"/>
    <p:sldId id="304" r:id="rId23"/>
    <p:sldId id="306" r:id="rId24"/>
    <p:sldId id="307" r:id="rId25"/>
    <p:sldId id="311" r:id="rId26"/>
    <p:sldId id="312" r:id="rId27"/>
    <p:sldId id="305" r:id="rId28"/>
    <p:sldId id="314" r:id="rId29"/>
    <p:sldId id="313" r:id="rId30"/>
    <p:sldId id="315" r:id="rId31"/>
    <p:sldId id="320" r:id="rId32"/>
    <p:sldId id="316" r:id="rId33"/>
    <p:sldId id="321" r:id="rId34"/>
    <p:sldId id="317" r:id="rId35"/>
    <p:sldId id="322" r:id="rId36"/>
    <p:sldId id="318" r:id="rId37"/>
    <p:sldId id="323" r:id="rId38"/>
    <p:sldId id="324" r:id="rId39"/>
    <p:sldId id="287" r:id="rId40"/>
    <p:sldId id="293" r:id="rId41"/>
    <p:sldId id="267" r:id="rId42"/>
    <p:sldId id="294" r:id="rId43"/>
    <p:sldId id="298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2"/>
    <p:restoredTop sz="94741"/>
  </p:normalViewPr>
  <p:slideViewPr>
    <p:cSldViewPr snapToGrid="0">
      <p:cViewPr varScale="1">
        <p:scale>
          <a:sx n="107" d="100"/>
          <a:sy n="107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0AF94-E469-5F68-0959-67126CC13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950890-7A19-793F-B925-F7EAB7E36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9DC92A-5241-0969-6937-73BB7CC2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6D38DB-19AE-146C-E2A5-0A8E35BF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352D44-688A-9C3B-7E8E-FBBB4630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16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D2BFD-7198-589A-E829-1A22F07B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821260-D1AC-8B4C-BE90-4EC48BC29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CDE21-8BA5-D4A8-AE20-4CDDC03F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C55BB7-4BEC-170E-954C-DE442555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4C250F-D431-E44B-2BEF-96AAD8DE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77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62BB9-74D2-38B8-169A-F30DE763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95241F-E9AF-BF58-3354-1A83BF10D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B02B0-A651-C022-6F0A-8A854630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D867EB-C1D3-5D55-C08B-C9110E44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78EF30-E73B-5880-6105-34047859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6485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42533-EE79-6BA7-2B2A-858A7FD84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1BBE44-EF2C-A934-7C29-D9D2B96CA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12415E-DA9D-D699-368C-66980812C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AA81FC-FB98-F70C-10E0-490B4CDAB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BC2568-D980-DC64-C7E0-48E8BEC3C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9946A2-3571-3525-AAC9-4622D1C8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40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0ED6B0-714F-0C28-2656-79D87A28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126EFB-199F-2E74-118C-1C6BF4AA2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0E8DA-DED2-90D9-B4E2-77F9901C8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B16536B-CBE9-4239-DE40-7DCA52FE7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958CE77-ABE8-FC88-BF11-2BDC82623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E9A081-E704-0C6B-28B6-C36F1B4B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C590CC8-0D47-031B-5267-9A8433D23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BAD545-FA5A-7D22-2D7B-366E0AEC4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24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54925-BE65-8BF2-A57B-6F175305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BC6461-3A5E-F757-AB97-B7276649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6120FE-66EC-F2BD-FC03-666ED92B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7B4C681-8634-3E8B-3854-1670A1A2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6229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DD7724-662A-B5AA-E815-F069694AA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B04321-EC32-68AD-A6DB-BDFB4D00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FA8A69-56DA-4564-7273-CA16E7FD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211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23E9B-CA3F-FCEC-455D-F3B2017F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024B75-7988-7743-3D37-B02AA5C1A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46A853B-F53E-E3BC-0E94-8C8406172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91BA553-526E-B4AC-3D18-18B7A09A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26FD69-A507-7A54-C69D-51A8C636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AB5BA2-C8CA-E706-0146-C6649CA1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01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FEB1E-0D93-804F-7C94-63995445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32B974-5C1A-0838-F214-EECB0B159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731725-A8D4-8F4A-9912-0F047AF1D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C93F4C-2386-B921-5981-C33BE02EA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EDBE9E-E5E5-19CD-3685-24188C6D4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676A12-34B7-8408-FDEA-2EABC236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73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A1FE6A-CEE5-2F6F-DB29-278E8CAA4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FECBDDA-C0F8-5F61-26A7-BC51057F3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A09C0C-D793-2F4F-AD1A-83EA31DB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DCC95E-1120-FF15-330E-CCA06710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F6B68A-4460-F778-CEE9-4FB459B3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089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C8FA718-9BA8-1BDE-BE6A-94FCCA6D0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1F3A90-35DB-72C9-1DFC-D853C386A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386AD0-DEE2-FE34-1F94-215234AB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1A4A85-409F-AAE4-04BB-A3439D6A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A15C6E-4EF7-8E91-DE49-928E79DB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856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933F9C-45F9-7EF6-53AC-524DDA4F7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2571B3-9919-FE93-F1FC-1774FAD68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3D35E7-3A01-B01B-A59F-E485EB665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38D3-ED82-4F4A-8D89-517188837633}" type="datetimeFigureOut">
              <a:rPr lang="de-DE" smtClean="0"/>
              <a:t>25.04.24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D7E3E2-B3A4-EC05-B495-76A9373135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5C4A2-6AFA-56C7-0B5A-B58A7E88A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45625-98A1-A94D-B024-FFAFB745F9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550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erbrich" TargetMode="External"/><Relationship Id="rId2" Type="http://schemas.openxmlformats.org/officeDocument/2006/relationships/hyperlink" Target="https://github.com/aherbrich/sysprog24/tree/mai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/wsl/setup/environment#set-up-your-linux-username-and-password" TargetMode="External"/><Relationship Id="rId2" Type="http://schemas.openxmlformats.org/officeDocument/2006/relationships/hyperlink" Target="https://learn.microsoft.com/en-us/windows/wsl/install#install-wsl-comman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hyperlink" Target="https://learn.microsoft.com/en-us/windows/wsl/tutorials/wsl-vscode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YZDIhfAUM0" TargetMode="External"/><Relationship Id="rId2" Type="http://schemas.openxmlformats.org/officeDocument/2006/relationships/hyperlink" Target="https://sourabhbajaj.com/mac-setup/iTerm/zsh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T5dBLakMQo?list=PL5FRnzOULdYfzyeoaKFJmfeHJvwIwqK0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4T5dBLakMQo?list=PL5FRnzOULdYfzyeoaKFJmfeHJvwIwqK0a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52567CF-4FE5-6E43-A88A-FF52C4CEA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de-DE" sz="6600"/>
              <a:t>Tutorium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8361BB-8130-A872-E4B9-2966BE056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Setup und C-Basics</a:t>
            </a:r>
            <a:endParaRPr lang="de-DE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77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4D2CD9-E97C-9629-EE1C-5BE92734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Vorab</a:t>
            </a:r>
            <a:r>
              <a:rPr lang="en-US" sz="5400" dirty="0"/>
              <a:t> – </a:t>
            </a:r>
            <a:r>
              <a:rPr lang="en-US" sz="5400" dirty="0" err="1"/>
              <a:t>Wer</a:t>
            </a:r>
            <a:r>
              <a:rPr lang="en-US" sz="5400" dirty="0"/>
              <a:t> bin ich?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2E96AE-0200-2DCF-F7A8-B89466C2D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dirty="0"/>
              <a:t>Alexander </a:t>
            </a:r>
            <a:r>
              <a:rPr lang="en-US" sz="1500" dirty="0" err="1"/>
              <a:t>Herbrich</a:t>
            </a:r>
            <a:r>
              <a:rPr lang="en-US" sz="1500" dirty="0"/>
              <a:t> (</a:t>
            </a:r>
            <a:r>
              <a:rPr lang="en-US" sz="1500" dirty="0" err="1"/>
              <a:t>aber</a:t>
            </a:r>
            <a:r>
              <a:rPr lang="en-US" sz="1500" dirty="0"/>
              <a:t>, </a:t>
            </a:r>
            <a:r>
              <a:rPr lang="en-US" sz="1500" dirty="0" err="1"/>
              <a:t>nennt</a:t>
            </a:r>
            <a:r>
              <a:rPr lang="en-US" sz="1500" dirty="0"/>
              <a:t> </a:t>
            </a:r>
            <a:r>
              <a:rPr lang="en-US" sz="1500" dirty="0" err="1"/>
              <a:t>mich</a:t>
            </a:r>
            <a:r>
              <a:rPr lang="en-US" sz="1500" dirty="0"/>
              <a:t> </a:t>
            </a:r>
            <a:r>
              <a:rPr lang="en-US" sz="1500" dirty="0" err="1"/>
              <a:t>ruhig</a:t>
            </a:r>
            <a:r>
              <a:rPr lang="en-US" sz="1500" dirty="0"/>
              <a:t> Alex)</a:t>
            </a:r>
          </a:p>
          <a:p>
            <a:r>
              <a:rPr lang="en-US" sz="1500" dirty="0"/>
              <a:t>6. Sem. </a:t>
            </a:r>
            <a:r>
              <a:rPr lang="en-US" sz="1500" dirty="0" err="1"/>
              <a:t>Informatik</a:t>
            </a:r>
            <a:r>
              <a:rPr lang="en-US" sz="1500" dirty="0"/>
              <a:t> B.Sc. </a:t>
            </a:r>
          </a:p>
          <a:p>
            <a:r>
              <a:rPr lang="en-US" sz="1500" dirty="0" err="1"/>
              <a:t>Fragen</a:t>
            </a:r>
            <a:r>
              <a:rPr lang="en-US" sz="1500" dirty="0"/>
              <a:t>? </a:t>
            </a:r>
            <a:r>
              <a:rPr lang="en-US" sz="1500" dirty="0" err="1"/>
              <a:t>Organisatorisches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Mail at: </a:t>
            </a:r>
            <a:r>
              <a:rPr lang="en-US" sz="1500" b="1" dirty="0" err="1"/>
              <a:t>herbrich@tu-berlin.de</a:t>
            </a:r>
            <a:endParaRPr lang="en-US" sz="1500" b="1" dirty="0"/>
          </a:p>
          <a:p>
            <a:pPr lvl="1"/>
            <a:r>
              <a:rPr lang="en-US" sz="1500" dirty="0" err="1"/>
              <a:t>Im</a:t>
            </a:r>
            <a:r>
              <a:rPr lang="en-US" sz="1500" dirty="0"/>
              <a:t> Forum, falls </a:t>
            </a:r>
            <a:r>
              <a:rPr lang="en-US" sz="1500" dirty="0" err="1"/>
              <a:t>Andere</a:t>
            </a:r>
            <a:r>
              <a:rPr lang="en-US" sz="1500" dirty="0"/>
              <a:t> von der </a:t>
            </a:r>
            <a:r>
              <a:rPr lang="en-US" sz="1500" dirty="0" err="1"/>
              <a:t>Antwort</a:t>
            </a:r>
            <a:r>
              <a:rPr lang="en-US" sz="1500" dirty="0"/>
              <a:t> </a:t>
            </a:r>
            <a:r>
              <a:rPr lang="en-US" sz="1500" dirty="0" err="1"/>
              <a:t>profitieren</a:t>
            </a:r>
            <a:r>
              <a:rPr lang="en-US" sz="1500" dirty="0"/>
              <a:t> </a:t>
            </a:r>
            <a:r>
              <a:rPr lang="en-US" sz="1500" dirty="0" err="1"/>
              <a:t>könnten</a:t>
            </a:r>
            <a:endParaRPr lang="en-US" sz="1500" dirty="0"/>
          </a:p>
          <a:p>
            <a:r>
              <a:rPr lang="en-US" sz="1500" dirty="0" err="1"/>
              <a:t>Lösungen</a:t>
            </a:r>
            <a:r>
              <a:rPr lang="en-US" sz="1500" dirty="0"/>
              <a:t>?</a:t>
            </a:r>
          </a:p>
          <a:p>
            <a:pPr lvl="1"/>
            <a:r>
              <a:rPr lang="en-US" sz="1500" dirty="0"/>
              <a:t>Die </a:t>
            </a:r>
            <a:r>
              <a:rPr lang="en-US" sz="1500" dirty="0" err="1"/>
              <a:t>offiziellen</a:t>
            </a:r>
            <a:r>
              <a:rPr lang="en-US" sz="1500" dirty="0"/>
              <a:t> </a:t>
            </a:r>
            <a:r>
              <a:rPr lang="en-US" sz="1500" dirty="0" err="1"/>
              <a:t>Musterlösungen</a:t>
            </a:r>
            <a:r>
              <a:rPr lang="en-US" sz="1500" dirty="0"/>
              <a:t> </a:t>
            </a:r>
            <a:r>
              <a:rPr lang="en-US" sz="1500" dirty="0" err="1"/>
              <a:t>werden</a:t>
            </a:r>
            <a:r>
              <a:rPr lang="en-US" sz="1500" dirty="0"/>
              <a:t> </a:t>
            </a:r>
            <a:r>
              <a:rPr lang="en-US" sz="1500" dirty="0" err="1"/>
              <a:t>im</a:t>
            </a:r>
            <a:r>
              <a:rPr lang="en-US" sz="1500" dirty="0"/>
              <a:t> ISIS-</a:t>
            </a:r>
            <a:r>
              <a:rPr lang="en-US" sz="1500" dirty="0" err="1"/>
              <a:t>Kurs</a:t>
            </a:r>
            <a:r>
              <a:rPr lang="en-US" sz="1500" dirty="0"/>
              <a:t> </a:t>
            </a:r>
            <a:r>
              <a:rPr lang="en-US" sz="1500" dirty="0" err="1"/>
              <a:t>hochgeladen</a:t>
            </a:r>
            <a:endParaRPr lang="en-US" sz="1500" dirty="0"/>
          </a:p>
          <a:p>
            <a:pPr lvl="1"/>
            <a:r>
              <a:rPr lang="en-US" sz="1500" dirty="0" err="1"/>
              <a:t>Meine</a:t>
            </a:r>
            <a:r>
              <a:rPr lang="en-US" sz="1500" dirty="0"/>
              <a:t> </a:t>
            </a:r>
            <a:r>
              <a:rPr lang="en-US" sz="1500" dirty="0" err="1"/>
              <a:t>Notizen</a:t>
            </a:r>
            <a:r>
              <a:rPr lang="en-US" sz="1500" dirty="0"/>
              <a:t>/</a:t>
            </a:r>
            <a:r>
              <a:rPr lang="en-US" sz="1500" dirty="0" err="1"/>
              <a:t>Resourcen</a:t>
            </a:r>
            <a:r>
              <a:rPr lang="en-US" sz="1500" dirty="0"/>
              <a:t>/</a:t>
            </a:r>
            <a:r>
              <a:rPr lang="en-US" sz="1500" dirty="0" err="1"/>
              <a:t>Empfehlungen</a:t>
            </a:r>
            <a:r>
              <a:rPr lang="en-US" sz="1500" dirty="0"/>
              <a:t> </a:t>
            </a:r>
            <a:r>
              <a:rPr lang="en-US" sz="1500" dirty="0" err="1"/>
              <a:t>findet</a:t>
            </a:r>
            <a:r>
              <a:rPr lang="en-US" sz="1500" dirty="0"/>
              <a:t> </a:t>
            </a:r>
            <a:r>
              <a:rPr lang="en-US" sz="1500" dirty="0" err="1"/>
              <a:t>ihr</a:t>
            </a:r>
            <a:r>
              <a:rPr lang="en-US" sz="1500" dirty="0"/>
              <a:t> in </a:t>
            </a:r>
            <a:r>
              <a:rPr lang="en-US" sz="1500" dirty="0" err="1"/>
              <a:t>diesem</a:t>
            </a:r>
            <a:r>
              <a:rPr lang="en-US" sz="1500" dirty="0"/>
              <a:t> </a:t>
            </a:r>
            <a:r>
              <a:rPr lang="en-US" sz="1500" dirty="0">
                <a:hlinkClick r:id="rId2"/>
              </a:rPr>
              <a:t>Repo</a:t>
            </a:r>
            <a:r>
              <a:rPr lang="en-US" sz="1500" dirty="0"/>
              <a:t> (GitHub </a:t>
            </a:r>
            <a:r>
              <a:rPr lang="en-US" sz="1500" dirty="0">
                <a:hlinkClick r:id="rId3"/>
              </a:rPr>
              <a:t>@aherbrich</a:t>
            </a:r>
            <a:r>
              <a:rPr lang="en-US" sz="1500" dirty="0"/>
              <a:t>)</a:t>
            </a:r>
          </a:p>
        </p:txBody>
      </p:sp>
      <p:pic>
        <p:nvPicPr>
          <p:cNvPr id="9" name="Inhaltsplatzhalter 8" descr="Ein Bild, das Menschliches Gesicht, Person, Kleidung, Mann enthält.&#10;&#10;Automatisch generierte Beschreibung">
            <a:extLst>
              <a:ext uri="{FF2B5EF4-FFF2-40B4-BE49-F238E27FC236}">
                <a16:creationId xmlns:a16="http://schemas.microsoft.com/office/drawing/2014/main" id="{350DDE85-0E83-2881-F67D-DF2A614C37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/>
          <a:srcRect t="30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49718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285ED59-3486-66B8-C0A0-FCF84502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sz="4600" dirty="0"/>
              <a:t>Vorab - Organisatorisches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EC8738-9D60-4E59-B0A1-64BD60257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 lnSpcReduction="10000"/>
          </a:bodyPr>
          <a:lstStyle/>
          <a:p>
            <a:r>
              <a:rPr lang="de-DE" sz="1700" b="1" dirty="0">
                <a:solidFill>
                  <a:srgbClr val="FF0000"/>
                </a:solidFill>
              </a:rPr>
              <a:t>Anmeldung !!!</a:t>
            </a:r>
          </a:p>
          <a:p>
            <a:pPr lvl="1"/>
            <a:r>
              <a:rPr lang="de-DE" sz="1700" dirty="0"/>
              <a:t>Über Moses </a:t>
            </a:r>
            <a:r>
              <a:rPr lang="de-DE" sz="1700" b="1" dirty="0"/>
              <a:t>bis 17.05.24 </a:t>
            </a:r>
            <a:r>
              <a:rPr lang="de-DE" sz="1700" dirty="0"/>
              <a:t>möglich</a:t>
            </a:r>
          </a:p>
          <a:p>
            <a:pPr lvl="2"/>
            <a:r>
              <a:rPr lang="de-DE" sz="1300" dirty="0"/>
              <a:t>Abmeldung bis 17.05.24 möglich!</a:t>
            </a:r>
          </a:p>
          <a:p>
            <a:pPr lvl="1"/>
            <a:r>
              <a:rPr lang="de-DE" sz="1700" dirty="0"/>
              <a:t>Wählt vorerst einen der zwei Termine; möglich sich </a:t>
            </a:r>
            <a:r>
              <a:rPr lang="de-DE" sz="1700" b="1" dirty="0"/>
              <a:t>bis zum 15.07.24 </a:t>
            </a:r>
            <a:r>
              <a:rPr lang="de-DE" sz="1700" dirty="0"/>
              <a:t>Termin umzuentscheiden</a:t>
            </a:r>
          </a:p>
          <a:p>
            <a:r>
              <a:rPr lang="de-DE" sz="1700" dirty="0"/>
              <a:t>Benotung:</a:t>
            </a:r>
          </a:p>
          <a:p>
            <a:pPr lvl="1"/>
            <a:r>
              <a:rPr lang="de-DE" sz="1700" dirty="0"/>
              <a:t>50PP Klausur</a:t>
            </a:r>
          </a:p>
          <a:p>
            <a:pPr lvl="1"/>
            <a:r>
              <a:rPr lang="de-DE" sz="1700" dirty="0"/>
              <a:t>50PP Hausaufgaben, wovon</a:t>
            </a:r>
          </a:p>
          <a:p>
            <a:pPr lvl="2"/>
            <a:r>
              <a:rPr lang="de-DE" sz="1700" dirty="0"/>
              <a:t>2x 5PP Theorieaufgaben</a:t>
            </a:r>
          </a:p>
          <a:p>
            <a:pPr lvl="2"/>
            <a:r>
              <a:rPr lang="de-DE" sz="1700" dirty="0"/>
              <a:t>1x 10PP (kleine) Praxisaufgabe</a:t>
            </a:r>
          </a:p>
          <a:p>
            <a:pPr lvl="2"/>
            <a:r>
              <a:rPr lang="de-DE" sz="1700" dirty="0"/>
              <a:t>1x 30PP (große) Praxisaufgabe</a:t>
            </a:r>
          </a:p>
          <a:p>
            <a:pPr lvl="2"/>
            <a:endParaRPr lang="de-DE" sz="1700" dirty="0"/>
          </a:p>
        </p:txBody>
      </p:sp>
      <p:pic>
        <p:nvPicPr>
          <p:cNvPr id="5" name="Picture 4" descr="Kalender auf Tisch">
            <a:extLst>
              <a:ext uri="{FF2B5EF4-FFF2-40B4-BE49-F238E27FC236}">
                <a16:creationId xmlns:a16="http://schemas.microsoft.com/office/drawing/2014/main" id="{F130C9DD-7957-13F4-6739-C2DC728FF7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0334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63529D9-4F31-FB97-BE86-E1FFE87BF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de-DE" sz="5400" dirty="0"/>
              <a:t>Vorab – Ablauf</a:t>
            </a:r>
          </a:p>
        </p:txBody>
      </p:sp>
      <p:pic>
        <p:nvPicPr>
          <p:cNvPr id="14" name="Picture 13" descr="Kalender auf Tisch">
            <a:extLst>
              <a:ext uri="{FF2B5EF4-FFF2-40B4-BE49-F238E27FC236}">
                <a16:creationId xmlns:a16="http://schemas.microsoft.com/office/drawing/2014/main" id="{CB79E9F0-A3A9-FD25-7AE6-4EA4FC47D0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84" r="46985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AF73D5-4B80-CB57-D59A-14D4D5BD0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de-DE" sz="1700" dirty="0"/>
              <a:t>Ablauf </a:t>
            </a:r>
            <a:r>
              <a:rPr lang="de-DE" sz="1700" i="1" dirty="0"/>
              <a:t>Generell</a:t>
            </a:r>
          </a:p>
          <a:p>
            <a:pPr lvl="1"/>
            <a:r>
              <a:rPr lang="de-DE" sz="1700" dirty="0"/>
              <a:t>Die (meisten) Übungsblätter sind für 2 Tutorien konzipiert.</a:t>
            </a:r>
          </a:p>
          <a:p>
            <a:pPr lvl="1"/>
            <a:r>
              <a:rPr lang="de-DE" sz="1700" dirty="0"/>
              <a:t>In den Tutorien besprechen wir die </a:t>
            </a:r>
            <a:r>
              <a:rPr lang="de-DE" sz="1700" b="1" dirty="0"/>
              <a:t>Tafelübungen</a:t>
            </a:r>
          </a:p>
          <a:p>
            <a:pPr lvl="1"/>
            <a:r>
              <a:rPr lang="de-DE" sz="1700" dirty="0"/>
              <a:t>Falls wir Zeit haben, besprechen wir auch </a:t>
            </a:r>
            <a:r>
              <a:rPr lang="de-DE" sz="1700" i="1" dirty="0"/>
              <a:t>teilweise die Selbststudiums-Aufgaben</a:t>
            </a:r>
          </a:p>
          <a:p>
            <a:r>
              <a:rPr lang="de-DE" sz="1700" dirty="0"/>
              <a:t>Ablauf </a:t>
            </a:r>
            <a:r>
              <a:rPr lang="de-DE" sz="1700" b="1" i="1" dirty="0"/>
              <a:t>Heute</a:t>
            </a:r>
          </a:p>
          <a:p>
            <a:pPr lvl="1"/>
            <a:r>
              <a:rPr lang="de-DE" sz="1700" dirty="0"/>
              <a:t>Sehr entspanntes Tutorium; wir haben viel Zeit!</a:t>
            </a:r>
          </a:p>
          <a:p>
            <a:pPr lvl="1"/>
            <a:r>
              <a:rPr lang="de-DE" sz="1700" dirty="0"/>
              <a:t>Nur </a:t>
            </a:r>
            <a:r>
              <a:rPr lang="de-DE" sz="1700" i="1" dirty="0"/>
              <a:t>zwei</a:t>
            </a:r>
            <a:r>
              <a:rPr lang="de-DE" sz="1700" dirty="0"/>
              <a:t> Themen:</a:t>
            </a:r>
          </a:p>
          <a:p>
            <a:pPr lvl="2"/>
            <a:r>
              <a:rPr lang="de-DE" sz="1700" dirty="0"/>
              <a:t>Einrichtung eurer Entwicklungsumgebung</a:t>
            </a:r>
          </a:p>
          <a:p>
            <a:pPr lvl="2"/>
            <a:r>
              <a:rPr lang="de-DE" sz="1700" dirty="0"/>
              <a:t>C-Basics / C Common </a:t>
            </a:r>
            <a:r>
              <a:rPr lang="de-DE" sz="1700" dirty="0" err="1"/>
              <a:t>Pitfalls</a:t>
            </a:r>
            <a:endParaRPr lang="de-DE" sz="1700" dirty="0"/>
          </a:p>
          <a:p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378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41DB6AC-0082-1B5D-D060-D0B7E33AD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Setup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DFB2AB-7750-776A-B9AF-6AD7AC383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Einrichtung eurer Entwicklungsumgebung</a:t>
            </a:r>
          </a:p>
          <a:p>
            <a:endParaRPr lang="en-US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919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2731EA2-BE78-3C5E-B6AA-2A3A3DEF0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de-DE" sz="3200"/>
              <a:t>Empfehlungen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7C1B34-9581-B383-538E-38B938D5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de-DE" sz="1800"/>
              <a:t>Benutzt ein Linux (oder alternativ) MacOS-basierten System</a:t>
            </a:r>
          </a:p>
          <a:p>
            <a:r>
              <a:rPr lang="de-DE" sz="1800"/>
              <a:t>Fall ihr Windows benutzt</a:t>
            </a:r>
          </a:p>
          <a:p>
            <a:pPr lvl="1"/>
            <a:r>
              <a:rPr lang="de-DE" sz="1800"/>
              <a:t>Benutzt WSL um Linux auf eurem Rechner zu nutzen (siehe </a:t>
            </a:r>
            <a:r>
              <a:rPr lang="de-DE" sz="1800">
                <a:hlinkClick r:id="rId2"/>
              </a:rPr>
              <a:t>hier</a:t>
            </a:r>
            <a:r>
              <a:rPr lang="de-DE" sz="1800"/>
              <a:t> und </a:t>
            </a:r>
            <a:r>
              <a:rPr lang="de-DE" sz="1800">
                <a:hlinkClick r:id="rId3"/>
              </a:rPr>
              <a:t>hier</a:t>
            </a:r>
            <a:r>
              <a:rPr lang="de-DE" sz="1800"/>
              <a:t>)</a:t>
            </a:r>
          </a:p>
          <a:p>
            <a:pPr lvl="1"/>
            <a:r>
              <a:rPr lang="de-DE" sz="1800"/>
              <a:t>Richtet euch VSCode für WSL ein (siehe </a:t>
            </a:r>
            <a:r>
              <a:rPr lang="de-DE" sz="1800">
                <a:hlinkClick r:id="rId4"/>
              </a:rPr>
              <a:t>hier</a:t>
            </a:r>
            <a:r>
              <a:rPr lang="de-DE" sz="1800"/>
              <a:t>)</a:t>
            </a:r>
          </a:p>
        </p:txBody>
      </p:sp>
      <p:pic>
        <p:nvPicPr>
          <p:cNvPr id="1028" name="Picture 4" descr="Open WSL project with VS Code remote server">
            <a:extLst>
              <a:ext uri="{FF2B5EF4-FFF2-40B4-BE49-F238E27FC236}">
                <a16:creationId xmlns:a16="http://schemas.microsoft.com/office/drawing/2014/main" id="{AA48E415-3932-6402-D812-8A0D85976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3034" y="2734056"/>
            <a:ext cx="9874323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57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489531-67BB-485D-E5E6-0EA95EAE6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sz="3700">
                <a:solidFill>
                  <a:srgbClr val="FFFFFF"/>
                </a:solidFill>
              </a:rPr>
              <a:t>Empfehlungen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2AFEA-7164-BD6D-F64A-7FCAF3D9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de-DE" dirty="0"/>
              <a:t>Werdet </a:t>
            </a:r>
            <a:r>
              <a:rPr lang="de-DE" i="1" dirty="0" err="1"/>
              <a:t>comfortable</a:t>
            </a:r>
            <a:r>
              <a:rPr lang="de-DE" i="1" dirty="0"/>
              <a:t> </a:t>
            </a:r>
            <a:r>
              <a:rPr lang="de-DE" dirty="0"/>
              <a:t>mit eurer Shell</a:t>
            </a:r>
          </a:p>
          <a:p>
            <a:pPr lvl="1"/>
            <a:r>
              <a:rPr lang="de-DE" dirty="0"/>
              <a:t>Installiert euch die Shell eurer Wahl (meine Empfehlung: </a:t>
            </a:r>
            <a:r>
              <a:rPr lang="de-DE" i="1" dirty="0" err="1"/>
              <a:t>zsh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Installiert euch Plugins, für </a:t>
            </a:r>
            <a:r>
              <a:rPr lang="de-DE" dirty="0" err="1"/>
              <a:t>styling</a:t>
            </a:r>
            <a:r>
              <a:rPr lang="de-DE" dirty="0"/>
              <a:t>, </a:t>
            </a:r>
            <a:r>
              <a:rPr lang="de-DE" dirty="0" err="1"/>
              <a:t>sytnax-highlighting</a:t>
            </a:r>
            <a:r>
              <a:rPr lang="de-DE" dirty="0"/>
              <a:t>, auto-</a:t>
            </a:r>
            <a:r>
              <a:rPr lang="de-DE" dirty="0" err="1"/>
              <a:t>complete</a:t>
            </a:r>
            <a:r>
              <a:rPr lang="de-DE" dirty="0"/>
              <a:t>, </a:t>
            </a:r>
            <a:r>
              <a:rPr lang="de-DE" dirty="0" err="1"/>
              <a:t>history</a:t>
            </a:r>
            <a:r>
              <a:rPr lang="de-DE" dirty="0"/>
              <a:t> etc. </a:t>
            </a:r>
            <a:r>
              <a:rPr lang="de-DE" b="0" i="0" dirty="0">
                <a:effectLst/>
                <a:highlight>
                  <a:srgbClr val="FFFFFF"/>
                </a:highlight>
                <a:latin typeface="-apple-system"/>
              </a:rPr>
              <a:t>(wie </a:t>
            </a:r>
            <a:r>
              <a:rPr lang="de-DE" b="0" i="0" dirty="0" err="1">
                <a:effectLst/>
                <a:highlight>
                  <a:srgbClr val="FFFFFF"/>
                </a:highlight>
                <a:latin typeface="-apple-system"/>
              </a:rPr>
              <a:t>z.B</a:t>
            </a:r>
            <a:r>
              <a:rPr lang="de-DE" b="0" i="0" dirty="0">
                <a:effectLst/>
                <a:highlight>
                  <a:srgbClr val="FFFFFF"/>
                </a:highlight>
                <a:latin typeface="-apple-system"/>
              </a:rPr>
              <a:t> </a:t>
            </a:r>
            <a:r>
              <a:rPr lang="de-DE" b="0" i="0" dirty="0">
                <a:effectLst/>
                <a:highlight>
                  <a:srgbClr val="FFFFFF"/>
                </a:highlight>
                <a:latin typeface="-apple-system"/>
                <a:hlinkClick r:id="rId2"/>
              </a:rPr>
              <a:t>hier</a:t>
            </a:r>
            <a:r>
              <a:rPr lang="de-DE" b="0" i="0" dirty="0">
                <a:effectLst/>
                <a:highlight>
                  <a:srgbClr val="FFFFFF"/>
                </a:highlight>
                <a:latin typeface="-apple-system"/>
              </a:rPr>
              <a:t> für die Shell </a:t>
            </a:r>
            <a:r>
              <a:rPr lang="de-DE" b="0" i="1" dirty="0" err="1">
                <a:effectLst/>
                <a:highlight>
                  <a:srgbClr val="FFFFFF"/>
                </a:highlight>
                <a:latin typeface="-apple-system"/>
              </a:rPr>
              <a:t>zsh</a:t>
            </a:r>
            <a:r>
              <a:rPr lang="de-DE" b="0" i="0" dirty="0">
                <a:effectLst/>
                <a:highlight>
                  <a:srgbClr val="FFFFFF"/>
                </a:highlight>
                <a:latin typeface="-apple-system"/>
              </a:rPr>
              <a:t> beschrieben ist)</a:t>
            </a:r>
            <a:endParaRPr lang="de-DE" dirty="0"/>
          </a:p>
          <a:p>
            <a:pPr lvl="1"/>
            <a:r>
              <a:rPr lang="de-DE" dirty="0"/>
              <a:t>Lernt die wichtigsten Shell Befehle </a:t>
            </a:r>
          </a:p>
          <a:p>
            <a:pPr lvl="2"/>
            <a:r>
              <a:rPr lang="de-DE" dirty="0"/>
              <a:t>Alles, was ihr mit grafischen Oberflächen macht, könnt ihr auch mit der Shell</a:t>
            </a:r>
          </a:p>
          <a:p>
            <a:pPr lvl="2"/>
            <a:r>
              <a:rPr lang="de-DE" dirty="0"/>
              <a:t>Grafische Oberflächen sind einfach nur Wrapper für Befehle, die im Terminal ausgeführt werden</a:t>
            </a:r>
          </a:p>
          <a:p>
            <a:pPr lvl="2"/>
            <a:r>
              <a:rPr lang="de-DE" dirty="0"/>
              <a:t>Supergutes Video für Shell 101 </a:t>
            </a:r>
            <a:r>
              <a:rPr lang="de-DE" dirty="0">
                <a:hlinkClick r:id="rId3"/>
              </a:rPr>
              <a:t>hier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1644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3EC9CA2-D595-FE61-9525-EB6A18E85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C - Refresher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5FF77D0B-01BA-4EBB-8314-027376056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C-Basics / C Common Pitfalls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7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61ED093-15E3-C4FB-6C12-E63A471BF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Warum C?</a:t>
            </a:r>
          </a:p>
        </p:txBody>
      </p:sp>
      <p:sp>
        <p:nvSpPr>
          <p:cNvPr id="1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E15834B-38DE-5115-7481-5D755ACF8A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2200" dirty="0"/>
              <a:t>Der CPU </a:t>
            </a:r>
            <a:r>
              <a:rPr lang="en-US" sz="2200" dirty="0" err="1"/>
              <a:t>versteht</a:t>
            </a:r>
            <a:r>
              <a:rPr lang="en-US" sz="2200" dirty="0"/>
              <a:t> </a:t>
            </a:r>
            <a:r>
              <a:rPr lang="en-US" sz="2200" dirty="0" err="1"/>
              <a:t>nur</a:t>
            </a:r>
            <a:r>
              <a:rPr lang="en-US" sz="2200" dirty="0"/>
              <a:t> </a:t>
            </a:r>
            <a:r>
              <a:rPr lang="en-US" sz="2200" dirty="0" err="1"/>
              <a:t>Abfolgen</a:t>
            </a:r>
            <a:r>
              <a:rPr lang="en-US" sz="2200" dirty="0"/>
              <a:t> von </a:t>
            </a:r>
            <a:r>
              <a:rPr lang="en-US" sz="2200" dirty="0" err="1"/>
              <a:t>Nullen</a:t>
            </a:r>
            <a:r>
              <a:rPr lang="en-US" sz="2200" dirty="0"/>
              <a:t> und </a:t>
            </a:r>
            <a:r>
              <a:rPr lang="en-US" sz="2200" dirty="0" err="1"/>
              <a:t>Einsen</a:t>
            </a:r>
            <a:r>
              <a:rPr lang="en-US" sz="2200" dirty="0"/>
              <a:t> </a:t>
            </a:r>
            <a:r>
              <a:rPr lang="en-US" sz="2200" dirty="0" err="1"/>
              <a:t>einer</a:t>
            </a:r>
            <a:r>
              <a:rPr lang="en-US" sz="2200" dirty="0"/>
              <a:t> </a:t>
            </a:r>
            <a:r>
              <a:rPr lang="en-US" sz="2200" dirty="0" err="1"/>
              <a:t>bestimmen</a:t>
            </a:r>
            <a:r>
              <a:rPr lang="en-US" sz="2200" dirty="0"/>
              <a:t> </a:t>
            </a:r>
            <a:r>
              <a:rPr lang="en-US" sz="2200" dirty="0" err="1"/>
              <a:t>Länge</a:t>
            </a:r>
            <a:r>
              <a:rPr lang="en-US" sz="2200" dirty="0"/>
              <a:t> </a:t>
            </a:r>
          </a:p>
          <a:p>
            <a:pPr lvl="1"/>
            <a:r>
              <a:rPr lang="en-US" sz="2200" dirty="0" err="1"/>
              <a:t>Sogenannte</a:t>
            </a:r>
            <a:r>
              <a:rPr lang="en-US" sz="2200" dirty="0"/>
              <a:t> 32- </a:t>
            </a:r>
            <a:r>
              <a:rPr lang="en-US" sz="2200" dirty="0" err="1"/>
              <a:t>bzw</a:t>
            </a:r>
            <a:r>
              <a:rPr lang="en-US" sz="2200" dirty="0"/>
              <a:t>. 64-bit </a:t>
            </a:r>
            <a:r>
              <a:rPr lang="en-US" sz="2200" dirty="0" err="1"/>
              <a:t>lange</a:t>
            </a:r>
            <a:r>
              <a:rPr lang="en-US" sz="2200" dirty="0"/>
              <a:t> </a:t>
            </a:r>
            <a:r>
              <a:rPr lang="en-US" sz="2200" dirty="0" err="1"/>
              <a:t>Wörter</a:t>
            </a:r>
            <a:endParaRPr lang="en-US" sz="2200" dirty="0"/>
          </a:p>
          <a:p>
            <a:pPr lvl="1"/>
            <a:r>
              <a:rPr lang="en-US" sz="2200" dirty="0" err="1"/>
              <a:t>Jedes</a:t>
            </a:r>
            <a:r>
              <a:rPr lang="en-US" sz="2200" dirty="0"/>
              <a:t> Wort </a:t>
            </a:r>
            <a:r>
              <a:rPr lang="en-US" sz="2200" dirty="0" err="1"/>
              <a:t>entspricht</a:t>
            </a:r>
            <a:r>
              <a:rPr lang="en-US" sz="2200" dirty="0"/>
              <a:t> </a:t>
            </a:r>
            <a:r>
              <a:rPr lang="en-US" sz="2200" dirty="0" err="1"/>
              <a:t>einem</a:t>
            </a:r>
            <a:r>
              <a:rPr lang="en-US" sz="2200" dirty="0"/>
              <a:t> </a:t>
            </a:r>
            <a:r>
              <a:rPr lang="en-US" sz="2200" dirty="0" err="1"/>
              <a:t>Befehl</a:t>
            </a:r>
            <a:endParaRPr lang="en-US" sz="2200" dirty="0"/>
          </a:p>
          <a:p>
            <a:r>
              <a:rPr lang="en-US" sz="2200" b="1" dirty="0"/>
              <a:t>Problem:</a:t>
            </a:r>
            <a:r>
              <a:rPr lang="en-US" sz="2200" dirty="0"/>
              <a:t> </a:t>
            </a:r>
            <a:r>
              <a:rPr lang="en-US" sz="2200" dirty="0" err="1"/>
              <a:t>Äußerst</a:t>
            </a:r>
            <a:r>
              <a:rPr lang="en-US" sz="2200" dirty="0"/>
              <a:t> </a:t>
            </a:r>
            <a:r>
              <a:rPr lang="en-US" sz="2200" dirty="0" err="1"/>
              <a:t>schwer</a:t>
            </a:r>
            <a:r>
              <a:rPr lang="en-US" sz="2200" dirty="0"/>
              <a:t> </a:t>
            </a:r>
            <a:r>
              <a:rPr lang="en-US" sz="2200" dirty="0" err="1"/>
              <a:t>zu</a:t>
            </a:r>
            <a:r>
              <a:rPr lang="en-US" sz="2200" dirty="0"/>
              <a:t> </a:t>
            </a:r>
            <a:r>
              <a:rPr lang="en-US" sz="2200" dirty="0" err="1"/>
              <a:t>lesen</a:t>
            </a:r>
            <a:r>
              <a:rPr lang="en-US" sz="2200" dirty="0"/>
              <a:t>, </a:t>
            </a:r>
            <a:r>
              <a:rPr lang="en-US" sz="2200" dirty="0" err="1"/>
              <a:t>geschweige</a:t>
            </a:r>
            <a:r>
              <a:rPr lang="en-US" sz="2200" dirty="0"/>
              <a:t> </a:t>
            </a:r>
            <a:r>
              <a:rPr lang="en-US" sz="2200" dirty="0" err="1"/>
              <a:t>denn</a:t>
            </a:r>
            <a:r>
              <a:rPr lang="en-US" sz="2200" dirty="0"/>
              <a:t> </a:t>
            </a:r>
            <a:r>
              <a:rPr lang="en-US" sz="2200" dirty="0" err="1"/>
              <a:t>zu</a:t>
            </a:r>
            <a:r>
              <a:rPr lang="en-US" sz="2200" dirty="0"/>
              <a:t> </a:t>
            </a:r>
            <a:r>
              <a:rPr lang="en-US" sz="2200" dirty="0" err="1"/>
              <a:t>schreiben</a:t>
            </a:r>
            <a:r>
              <a:rPr lang="en-US" sz="2200" dirty="0"/>
              <a:t>!</a:t>
            </a:r>
          </a:p>
          <a:p>
            <a:r>
              <a:rPr lang="en-US" sz="2200" dirty="0"/>
              <a:t>+ </a:t>
            </a:r>
            <a:r>
              <a:rPr lang="en-US" sz="2200" dirty="0" err="1"/>
              <a:t>wir</a:t>
            </a:r>
            <a:r>
              <a:rPr lang="en-US" sz="2200" dirty="0"/>
              <a:t> </a:t>
            </a:r>
            <a:r>
              <a:rPr lang="en-US" sz="2200" dirty="0" err="1"/>
              <a:t>müssten</a:t>
            </a:r>
            <a:r>
              <a:rPr lang="en-US" sz="2200" dirty="0"/>
              <a:t> für </a:t>
            </a:r>
            <a:r>
              <a:rPr lang="en-US" sz="2200" dirty="0" err="1"/>
              <a:t>jeden</a:t>
            </a:r>
            <a:r>
              <a:rPr lang="en-US" sz="2200" dirty="0"/>
              <a:t> CPU, den CPU-</a:t>
            </a:r>
            <a:r>
              <a:rPr lang="en-US" sz="2200" dirty="0" err="1"/>
              <a:t>eigenen</a:t>
            </a:r>
            <a:r>
              <a:rPr lang="en-US" sz="2200" dirty="0"/>
              <a:t> </a:t>
            </a:r>
            <a:r>
              <a:rPr lang="en-US" sz="2200" dirty="0" err="1"/>
              <a:t>Befehlssatz</a:t>
            </a:r>
            <a:r>
              <a:rPr lang="en-US" sz="2200" dirty="0"/>
              <a:t> </a:t>
            </a:r>
            <a:r>
              <a:rPr lang="en-US" sz="2200" dirty="0" err="1"/>
              <a:t>lernen</a:t>
            </a:r>
            <a:r>
              <a:rPr lang="en-US" sz="2200" dirty="0"/>
              <a:t>…</a:t>
            </a:r>
          </a:p>
          <a:p>
            <a:endParaRPr lang="en-US" sz="2200" dirty="0"/>
          </a:p>
        </p:txBody>
      </p:sp>
      <p:pic>
        <p:nvPicPr>
          <p:cNvPr id="10" name="Inhaltsplatzhalter 9" descr="Ein Bild, das Text, monochrom, Muster, Screenshot enthält.&#10;&#10;Automatisch generierte Beschreibung">
            <a:extLst>
              <a:ext uri="{FF2B5EF4-FFF2-40B4-BE49-F238E27FC236}">
                <a16:creationId xmlns:a16="http://schemas.microsoft.com/office/drawing/2014/main" id="{DBAAACEB-99C2-36B2-1F2B-035A8E1D4A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5961" r="3796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13345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31654-59A0-5C5E-08F7-22A6A293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Warum C?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0EB8265-6467-729C-4EE1-FD328A9BE8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622172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 dirty="0"/>
              <a:t>„</a:t>
            </a:r>
            <a:r>
              <a:rPr lang="en-US" sz="1700" b="1" dirty="0" err="1"/>
              <a:t>Lösung</a:t>
            </a:r>
            <a:r>
              <a:rPr lang="en-US" sz="1700" b="1" dirty="0"/>
              <a:t>“: Assembly</a:t>
            </a:r>
          </a:p>
          <a:p>
            <a:pPr lvl="1"/>
            <a:r>
              <a:rPr lang="en-US" sz="1700" dirty="0" err="1"/>
              <a:t>Befehle</a:t>
            </a:r>
            <a:r>
              <a:rPr lang="en-US" sz="1700" dirty="0"/>
              <a:t> </a:t>
            </a:r>
            <a:r>
              <a:rPr lang="en-US" sz="1700" dirty="0" err="1"/>
              <a:t>werden</a:t>
            </a:r>
            <a:r>
              <a:rPr lang="en-US" sz="1700" dirty="0"/>
              <a:t> </a:t>
            </a:r>
            <a:r>
              <a:rPr lang="en-US" sz="1700" dirty="0" err="1"/>
              <a:t>nicht</a:t>
            </a:r>
            <a:r>
              <a:rPr lang="en-US" sz="1700" dirty="0"/>
              <a:t> </a:t>
            </a:r>
            <a:r>
              <a:rPr lang="en-US" sz="1700" dirty="0" err="1"/>
              <a:t>mehr</a:t>
            </a:r>
            <a:r>
              <a:rPr lang="en-US" sz="1700" dirty="0"/>
              <a:t> </a:t>
            </a:r>
            <a:r>
              <a:rPr lang="en-US" sz="1700" dirty="0" err="1"/>
              <a:t>als</a:t>
            </a:r>
            <a:r>
              <a:rPr lang="en-US" sz="1700" dirty="0"/>
              <a:t> 32 (</a:t>
            </a:r>
            <a:r>
              <a:rPr lang="en-US" sz="1700" dirty="0" err="1"/>
              <a:t>bzw</a:t>
            </a:r>
            <a:r>
              <a:rPr lang="en-US" sz="1700" dirty="0"/>
              <a:t>. 64) </a:t>
            </a:r>
            <a:r>
              <a:rPr lang="en-US" sz="1700" dirty="0" err="1"/>
              <a:t>Nullen</a:t>
            </a:r>
            <a:r>
              <a:rPr lang="en-US" sz="1700" dirty="0"/>
              <a:t> und </a:t>
            </a:r>
            <a:r>
              <a:rPr lang="en-US" sz="1700" dirty="0" err="1"/>
              <a:t>Einsen</a:t>
            </a:r>
            <a:r>
              <a:rPr lang="en-US" sz="1700" dirty="0"/>
              <a:t> </a:t>
            </a:r>
            <a:r>
              <a:rPr lang="en-US" sz="1700" dirty="0" err="1"/>
              <a:t>geschrieben</a:t>
            </a:r>
            <a:endParaRPr lang="en-US" sz="1700" dirty="0"/>
          </a:p>
          <a:p>
            <a:pPr lvl="1"/>
            <a:r>
              <a:rPr lang="en-US" sz="1700" dirty="0"/>
              <a:t>für </a:t>
            </a:r>
            <a:r>
              <a:rPr lang="en-US" sz="1700" dirty="0" err="1"/>
              <a:t>jeden</a:t>
            </a:r>
            <a:r>
              <a:rPr lang="en-US" sz="1700" dirty="0"/>
              <a:t> </a:t>
            </a:r>
            <a:r>
              <a:rPr lang="en-US" sz="1700" dirty="0" err="1"/>
              <a:t>Befehl</a:t>
            </a:r>
            <a:r>
              <a:rPr lang="en-US" sz="1700" dirty="0"/>
              <a:t> </a:t>
            </a:r>
            <a:r>
              <a:rPr lang="en-US" sz="1700" dirty="0" err="1"/>
              <a:t>existiert</a:t>
            </a:r>
            <a:r>
              <a:rPr lang="en-US" sz="1700" dirty="0"/>
              <a:t> nun </a:t>
            </a:r>
            <a:r>
              <a:rPr lang="en-US" sz="1700" dirty="0" err="1"/>
              <a:t>eine</a:t>
            </a:r>
            <a:r>
              <a:rPr lang="en-US" sz="1700" dirty="0"/>
              <a:t> </a:t>
            </a:r>
            <a:r>
              <a:rPr lang="en-US" sz="1700" dirty="0" err="1"/>
              <a:t>Abkürzung</a:t>
            </a:r>
            <a:r>
              <a:rPr lang="en-US" sz="1700" dirty="0"/>
              <a:t> (=Assembly) </a:t>
            </a:r>
          </a:p>
          <a:p>
            <a:pPr lvl="1"/>
            <a:r>
              <a:rPr lang="en-US" sz="1700" dirty="0"/>
              <a:t>Assembly </a:t>
            </a:r>
            <a:r>
              <a:rPr lang="en-US" sz="1700" dirty="0" err="1"/>
              <a:t>wird</a:t>
            </a:r>
            <a:r>
              <a:rPr lang="en-US" sz="1700" dirty="0"/>
              <a:t> von </a:t>
            </a:r>
            <a:r>
              <a:rPr lang="en-US" sz="1700" dirty="0" err="1"/>
              <a:t>einem</a:t>
            </a:r>
            <a:r>
              <a:rPr lang="en-US" sz="1700" dirty="0"/>
              <a:t> </a:t>
            </a:r>
            <a:r>
              <a:rPr lang="en-US" sz="1700" b="1" dirty="0"/>
              <a:t>Assembler</a:t>
            </a:r>
            <a:r>
              <a:rPr lang="en-US" sz="1700" dirty="0"/>
              <a:t> </a:t>
            </a:r>
            <a:r>
              <a:rPr lang="en-US" sz="1700" dirty="0" err="1"/>
              <a:t>zu</a:t>
            </a:r>
            <a:r>
              <a:rPr lang="en-US" sz="1700" dirty="0"/>
              <a:t> </a:t>
            </a:r>
            <a:r>
              <a:rPr lang="en-US" sz="1700" dirty="0" err="1"/>
              <a:t>Maschinencode</a:t>
            </a:r>
            <a:r>
              <a:rPr lang="en-US" sz="1700" dirty="0"/>
              <a:t> </a:t>
            </a:r>
            <a:r>
              <a:rPr lang="en-US" sz="1700" i="1" dirty="0"/>
              <a:t>„</a:t>
            </a:r>
            <a:r>
              <a:rPr lang="en-US" sz="1700" i="1" dirty="0" err="1"/>
              <a:t>assembliert</a:t>
            </a:r>
            <a:r>
              <a:rPr lang="en-US" sz="1700" i="1" dirty="0"/>
              <a:t>“</a:t>
            </a:r>
          </a:p>
          <a:p>
            <a:r>
              <a:rPr lang="en-US" sz="1700" dirty="0"/>
              <a:t>Gut, </a:t>
            </a:r>
            <a:r>
              <a:rPr lang="en-US" sz="1700" dirty="0" err="1"/>
              <a:t>aber</a:t>
            </a:r>
            <a:r>
              <a:rPr lang="en-US" sz="1700" dirty="0"/>
              <a:t> es </a:t>
            </a:r>
            <a:r>
              <a:rPr lang="en-US" sz="1700" dirty="0" err="1"/>
              <a:t>geht</a:t>
            </a:r>
            <a:r>
              <a:rPr lang="en-US" sz="1700" dirty="0"/>
              <a:t> </a:t>
            </a:r>
            <a:r>
              <a:rPr lang="en-US" sz="1700" dirty="0" err="1"/>
              <a:t>noch</a:t>
            </a:r>
            <a:r>
              <a:rPr lang="en-US" sz="1700" dirty="0"/>
              <a:t> </a:t>
            </a:r>
            <a:r>
              <a:rPr lang="en-US" sz="1700" dirty="0" err="1"/>
              <a:t>besser</a:t>
            </a:r>
            <a:r>
              <a:rPr lang="en-US" sz="1700" dirty="0"/>
              <a:t>?</a:t>
            </a:r>
          </a:p>
          <a:p>
            <a:pPr lvl="1"/>
            <a:endParaRPr lang="en-US" sz="1700" dirty="0"/>
          </a:p>
        </p:txBody>
      </p:sp>
      <p:pic>
        <p:nvPicPr>
          <p:cNvPr id="14" name="Inhaltsplatzhalter 13" descr="Ein Bild, das Text, Entwurf, Diagramm, Schrift enthält.&#10;&#10;Automatisch generierte Beschreibung">
            <a:extLst>
              <a:ext uri="{FF2B5EF4-FFF2-40B4-BE49-F238E27FC236}">
                <a16:creationId xmlns:a16="http://schemas.microsoft.com/office/drawing/2014/main" id="{B6AB7B44-D2BB-4D09-D2B9-35D3DADFD1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901184" y="1394037"/>
            <a:ext cx="6922008" cy="417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90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92D9D4-0494-7259-9F01-0EDEE42D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Warum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507CD21-3DAF-BBCD-A0FC-ECED77F7E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000" dirty="0"/>
              <a:t>Ja, es </a:t>
            </a:r>
            <a:r>
              <a:rPr lang="en-US" sz="2000" dirty="0" err="1"/>
              <a:t>geht</a:t>
            </a:r>
            <a:r>
              <a:rPr lang="en-US" sz="2000" dirty="0"/>
              <a:t> </a:t>
            </a:r>
            <a:r>
              <a:rPr lang="en-US" sz="2000" dirty="0" err="1"/>
              <a:t>besser</a:t>
            </a:r>
            <a:r>
              <a:rPr lang="en-US" sz="2000" dirty="0"/>
              <a:t>!</a:t>
            </a:r>
          </a:p>
          <a:p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Hilfe</a:t>
            </a:r>
            <a:r>
              <a:rPr lang="en-US" sz="2000" dirty="0"/>
              <a:t> von C </a:t>
            </a:r>
            <a:r>
              <a:rPr lang="en-US" sz="2000" dirty="0" err="1"/>
              <a:t>können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i="1" dirty="0"/>
              <a:t>„</a:t>
            </a:r>
            <a:r>
              <a:rPr lang="en-US" sz="2000" i="1" dirty="0" err="1"/>
              <a:t>Menschenlesbaren</a:t>
            </a:r>
            <a:r>
              <a:rPr lang="en-US" sz="2000" i="1" dirty="0"/>
              <a:t>“ C</a:t>
            </a:r>
            <a:r>
              <a:rPr lang="en-US" sz="2000" dirty="0"/>
              <a:t>ode </a:t>
            </a:r>
            <a:r>
              <a:rPr lang="en-US" sz="2000" dirty="0" err="1"/>
              <a:t>schreiben</a:t>
            </a:r>
            <a:r>
              <a:rPr lang="en-US" sz="2000" dirty="0"/>
              <a:t>, </a:t>
            </a:r>
            <a:r>
              <a:rPr lang="en-US" sz="2000" dirty="0" err="1"/>
              <a:t>vereinfacht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C-</a:t>
            </a:r>
            <a:r>
              <a:rPr lang="en-US" sz="2000" dirty="0" err="1"/>
              <a:t>Datei</a:t>
            </a:r>
            <a:r>
              <a:rPr lang="en-US" sz="2000" dirty="0"/>
              <a:t> </a:t>
            </a:r>
            <a:r>
              <a:rPr lang="en-US" sz="2000" dirty="0" err="1"/>
              <a:t>wird</a:t>
            </a:r>
            <a:r>
              <a:rPr lang="en-US" sz="2000" dirty="0"/>
              <a:t> </a:t>
            </a:r>
            <a:r>
              <a:rPr lang="en-US" sz="2000" dirty="0" err="1"/>
              <a:t>durch</a:t>
            </a:r>
            <a:r>
              <a:rPr lang="en-US" sz="2000" dirty="0"/>
              <a:t> </a:t>
            </a:r>
            <a:r>
              <a:rPr lang="en-US" sz="2000" b="1" dirty="0"/>
              <a:t>Compiler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r>
              <a:rPr lang="en-US" sz="2000" dirty="0"/>
              <a:t> Assembly </a:t>
            </a:r>
            <a:r>
              <a:rPr lang="en-US" sz="2000" dirty="0" err="1"/>
              <a:t>kompiliert</a:t>
            </a:r>
            <a:endParaRPr lang="en-US" sz="2000" dirty="0"/>
          </a:p>
          <a:p>
            <a:pPr lvl="1"/>
            <a:r>
              <a:rPr lang="en-US" sz="2000" dirty="0"/>
              <a:t>Assembly </a:t>
            </a:r>
            <a:r>
              <a:rPr lang="en-US" sz="2000" dirty="0" err="1"/>
              <a:t>wird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r>
              <a:rPr lang="en-US" sz="2000" dirty="0"/>
              <a:t> Object-Code (</a:t>
            </a:r>
            <a:r>
              <a:rPr lang="en-US" sz="2000" dirty="0" err="1"/>
              <a:t>vereinfacht</a:t>
            </a:r>
            <a:r>
              <a:rPr lang="en-US" sz="2000" dirty="0"/>
              <a:t>: </a:t>
            </a:r>
            <a:r>
              <a:rPr lang="en-US" sz="2000" i="1" dirty="0"/>
              <a:t>quasi</a:t>
            </a:r>
            <a:r>
              <a:rPr lang="en-US" sz="2000" dirty="0"/>
              <a:t> </a:t>
            </a:r>
            <a:r>
              <a:rPr lang="en-US" sz="2000" dirty="0" err="1"/>
              <a:t>Maschinencode</a:t>
            </a:r>
            <a:r>
              <a:rPr lang="en-US" sz="2000" dirty="0"/>
              <a:t>)  </a:t>
            </a:r>
            <a:r>
              <a:rPr lang="en-US" sz="2000" dirty="0" err="1"/>
              <a:t>assembliert</a:t>
            </a:r>
            <a:endParaRPr lang="en-US" sz="2000" dirty="0"/>
          </a:p>
          <a:p>
            <a:pPr lvl="1"/>
            <a:r>
              <a:rPr lang="en-US" sz="2000" dirty="0"/>
              <a:t>Falls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mehrere</a:t>
            </a:r>
            <a:r>
              <a:rPr lang="en-US" sz="2000" dirty="0"/>
              <a:t> </a:t>
            </a:r>
            <a:r>
              <a:rPr lang="en-US" sz="2000" dirty="0" err="1"/>
              <a:t>Dateien</a:t>
            </a:r>
            <a:r>
              <a:rPr lang="en-US" sz="2000" dirty="0"/>
              <a:t> </a:t>
            </a:r>
            <a:r>
              <a:rPr lang="en-US" sz="2000" dirty="0" err="1"/>
              <a:t>hatten</a:t>
            </a:r>
            <a:r>
              <a:rPr lang="en-US" sz="2000" dirty="0"/>
              <a:t>: Die </a:t>
            </a:r>
            <a:r>
              <a:rPr lang="en-US" sz="2000" dirty="0" err="1"/>
              <a:t>einzelnen</a:t>
            </a:r>
            <a:r>
              <a:rPr lang="en-US" sz="2000" dirty="0"/>
              <a:t> Object-Code </a:t>
            </a:r>
            <a:r>
              <a:rPr lang="en-US" sz="2000" dirty="0" err="1"/>
              <a:t>Dateien</a:t>
            </a:r>
            <a:r>
              <a:rPr lang="en-US" sz="2000" dirty="0"/>
              <a:t> </a:t>
            </a:r>
            <a:r>
              <a:rPr lang="en-US" sz="2000" dirty="0" err="1"/>
              <a:t>werden</a:t>
            </a:r>
            <a:r>
              <a:rPr lang="en-US" sz="2000" dirty="0"/>
              <a:t> 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einem</a:t>
            </a:r>
            <a:r>
              <a:rPr lang="en-US" sz="2000" dirty="0"/>
              <a:t> </a:t>
            </a:r>
            <a:r>
              <a:rPr lang="en-US" sz="2000" dirty="0" err="1"/>
              <a:t>großem</a:t>
            </a:r>
            <a:r>
              <a:rPr lang="en-US" sz="2000" dirty="0"/>
              <a:t> Machine-Code-File, dem </a:t>
            </a:r>
            <a:r>
              <a:rPr lang="en-US" sz="2000" i="1" dirty="0"/>
              <a:t>“Executable” </a:t>
            </a:r>
            <a:r>
              <a:rPr lang="en-US" sz="2000" b="1" dirty="0" err="1"/>
              <a:t>gelinkt</a:t>
            </a:r>
            <a:endParaRPr lang="en-US" sz="2000" b="1" dirty="0"/>
          </a:p>
          <a:p>
            <a:r>
              <a:rPr lang="en-US" sz="2000" b="1" i="1" dirty="0">
                <a:solidFill>
                  <a:schemeClr val="bg2">
                    <a:lumMod val="75000"/>
                  </a:schemeClr>
                </a:solidFill>
              </a:rPr>
              <a:t>Achtung - </a:t>
            </a:r>
            <a:r>
              <a:rPr lang="en-US" sz="2000" i="1" dirty="0" err="1">
                <a:solidFill>
                  <a:schemeClr val="bg2">
                    <a:lumMod val="75000"/>
                  </a:schemeClr>
                </a:solidFill>
              </a:rPr>
              <a:t>Verwirrung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: </a:t>
            </a:r>
            <a:r>
              <a:rPr lang="en-US" sz="2000" i="1" dirty="0" err="1">
                <a:solidFill>
                  <a:schemeClr val="bg2">
                    <a:lumMod val="75000"/>
                  </a:schemeClr>
                </a:solidFill>
              </a:rPr>
              <a:t>Heutige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 „Compiler“ </a:t>
            </a:r>
            <a:r>
              <a:rPr lang="en-US" sz="2000" i="1" dirty="0" err="1">
                <a:solidFill>
                  <a:schemeClr val="bg2">
                    <a:lumMod val="75000"/>
                  </a:schemeClr>
                </a:solidFill>
              </a:rPr>
              <a:t>beinhalten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000" i="1" dirty="0" err="1">
                <a:solidFill>
                  <a:schemeClr val="bg2">
                    <a:lumMod val="75000"/>
                  </a:schemeClr>
                </a:solidFill>
              </a:rPr>
              <a:t>meist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 den (</a:t>
            </a:r>
            <a:r>
              <a:rPr lang="en-US" sz="2000" i="1" dirty="0" err="1">
                <a:solidFill>
                  <a:schemeClr val="bg2">
                    <a:lumMod val="75000"/>
                  </a:schemeClr>
                </a:solidFill>
              </a:rPr>
              <a:t>eigentlichen</a:t>
            </a:r>
            <a:r>
              <a:rPr lang="en-US" sz="2000" i="1" dirty="0">
                <a:solidFill>
                  <a:schemeClr val="bg2">
                    <a:lumMod val="75000"/>
                  </a:schemeClr>
                </a:solidFill>
              </a:rPr>
              <a:t>) Compiler UND Linker in </a:t>
            </a:r>
            <a:r>
              <a:rPr lang="en-US" sz="2000" i="1" dirty="0" err="1">
                <a:solidFill>
                  <a:schemeClr val="bg2">
                    <a:lumMod val="75000"/>
                  </a:schemeClr>
                </a:solidFill>
              </a:rPr>
              <a:t>Einem</a:t>
            </a:r>
            <a:endParaRPr lang="en-US" sz="2000" i="1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lang="en-US" sz="2000" dirty="0"/>
              <a:t>Gut, </a:t>
            </a:r>
            <a:r>
              <a:rPr lang="en-US" sz="2000" dirty="0" err="1"/>
              <a:t>aber</a:t>
            </a:r>
            <a:r>
              <a:rPr lang="en-US" sz="2000" dirty="0"/>
              <a:t> </a:t>
            </a:r>
            <a:r>
              <a:rPr lang="en-US" sz="2000" dirty="0" err="1"/>
              <a:t>geht</a:t>
            </a:r>
            <a:r>
              <a:rPr lang="en-US" sz="2000" dirty="0"/>
              <a:t> es </a:t>
            </a:r>
            <a:r>
              <a:rPr lang="en-US" sz="2000" dirty="0" err="1"/>
              <a:t>noch</a:t>
            </a:r>
            <a:r>
              <a:rPr lang="en-US" sz="2000" dirty="0"/>
              <a:t> </a:t>
            </a:r>
            <a:r>
              <a:rPr lang="en-US" sz="2000" dirty="0" err="1"/>
              <a:t>besser</a:t>
            </a:r>
            <a:r>
              <a:rPr lang="en-US" sz="2000" dirty="0"/>
              <a:t>?</a:t>
            </a:r>
          </a:p>
        </p:txBody>
      </p:sp>
      <p:pic>
        <p:nvPicPr>
          <p:cNvPr id="6" name="Inhaltsplatzhalter 5" descr="Ein Bild, das Text, Screenshot, Schrift, Diagramm enthält.&#10;&#10;Automatisch generierte Beschreibung">
            <a:extLst>
              <a:ext uri="{FF2B5EF4-FFF2-40B4-BE49-F238E27FC236}">
                <a16:creationId xmlns:a16="http://schemas.microsoft.com/office/drawing/2014/main" id="{2310D9FA-3DD0-D879-2C18-5AC52E167A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9048" y="1002792"/>
            <a:ext cx="5458968" cy="485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40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16D1D7-BC27-9C56-B346-480BABAD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Warum C?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254650-C24E-4898-3326-BC7626ABC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2071316"/>
            <a:ext cx="6713552" cy="41191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/>
              <a:t>Geht</a:t>
            </a:r>
            <a:r>
              <a:rPr lang="en-US" sz="2000" dirty="0"/>
              <a:t> es </a:t>
            </a:r>
            <a:r>
              <a:rPr lang="en-US" sz="2000" dirty="0" err="1"/>
              <a:t>besser</a:t>
            </a:r>
            <a:r>
              <a:rPr lang="en-US" sz="2000" dirty="0"/>
              <a:t> </a:t>
            </a:r>
            <a:r>
              <a:rPr lang="en-US" sz="2000" dirty="0" err="1"/>
              <a:t>als</a:t>
            </a:r>
            <a:r>
              <a:rPr lang="en-US" sz="2000" dirty="0"/>
              <a:t> C? </a:t>
            </a:r>
            <a:r>
              <a:rPr lang="en-US" sz="2000" dirty="0" err="1"/>
              <a:t>Jein</a:t>
            </a:r>
            <a:r>
              <a:rPr lang="en-US" sz="2000" dirty="0"/>
              <a:t>!  </a:t>
            </a:r>
          </a:p>
          <a:p>
            <a:r>
              <a:rPr lang="en-US" sz="2000" dirty="0"/>
              <a:t>In </a:t>
            </a:r>
            <a:r>
              <a:rPr lang="en-US" sz="2000" dirty="0" err="1"/>
              <a:t>Systemprogrammierung</a:t>
            </a:r>
            <a:r>
              <a:rPr lang="en-US" sz="2000" dirty="0"/>
              <a:t> </a:t>
            </a:r>
            <a:r>
              <a:rPr lang="en-US" sz="2000" dirty="0" err="1"/>
              <a:t>beschäftigen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</a:t>
            </a:r>
            <a:r>
              <a:rPr lang="en-US" sz="2000" dirty="0" err="1"/>
              <a:t>uns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</a:t>
            </a:r>
            <a:r>
              <a:rPr lang="en-US" sz="2000" dirty="0" err="1"/>
              <a:t>Betriebssystemen</a:t>
            </a:r>
            <a:endParaRPr lang="en-US" sz="2000" dirty="0"/>
          </a:p>
          <a:p>
            <a:pPr lvl="1"/>
            <a:r>
              <a:rPr lang="en-US" sz="2000" dirty="0" err="1"/>
              <a:t>Betriebssysteme</a:t>
            </a:r>
            <a:r>
              <a:rPr lang="en-US" sz="2000" dirty="0"/>
              <a:t> </a:t>
            </a:r>
            <a:r>
              <a:rPr lang="en-US" sz="2000" dirty="0" err="1"/>
              <a:t>sind</a:t>
            </a:r>
            <a:r>
              <a:rPr lang="en-US" sz="2000" dirty="0"/>
              <a:t> </a:t>
            </a:r>
            <a:r>
              <a:rPr lang="en-US" sz="2000" dirty="0" err="1"/>
              <a:t>im</a:t>
            </a:r>
            <a:r>
              <a:rPr lang="en-US" sz="2000" dirty="0"/>
              <a:t> Kern </a:t>
            </a:r>
            <a:r>
              <a:rPr lang="en-US" sz="2000" i="1" dirty="0"/>
              <a:t>„</a:t>
            </a:r>
            <a:r>
              <a:rPr lang="en-US" sz="2000" i="1" dirty="0" err="1"/>
              <a:t>einfach</a:t>
            </a:r>
            <a:r>
              <a:rPr lang="en-US" sz="2000" i="1" dirty="0"/>
              <a:t> </a:t>
            </a:r>
            <a:r>
              <a:rPr lang="en-US" sz="2000" i="1" dirty="0" err="1"/>
              <a:t>nur</a:t>
            </a:r>
            <a:r>
              <a:rPr lang="en-US" sz="2000" i="1" dirty="0"/>
              <a:t>“ </a:t>
            </a:r>
            <a:r>
              <a:rPr lang="en-US" sz="2000" b="1" dirty="0" err="1"/>
              <a:t>komplexe</a:t>
            </a:r>
            <a:r>
              <a:rPr lang="en-US" sz="2000" b="1" dirty="0"/>
              <a:t> </a:t>
            </a:r>
            <a:r>
              <a:rPr lang="en-US" sz="2000" b="1" dirty="0" err="1"/>
              <a:t>Speichermanipulation</a:t>
            </a:r>
            <a:endParaRPr lang="en-US" sz="2000" b="1" dirty="0"/>
          </a:p>
          <a:p>
            <a:r>
              <a:rPr lang="en-US" sz="2000" dirty="0"/>
              <a:t>C </a:t>
            </a:r>
            <a:r>
              <a:rPr lang="en-US" sz="2000" dirty="0" err="1"/>
              <a:t>ist</a:t>
            </a:r>
            <a:r>
              <a:rPr lang="en-US" sz="2000" dirty="0"/>
              <a:t> </a:t>
            </a:r>
            <a:r>
              <a:rPr lang="en-US" sz="2000" dirty="0" err="1"/>
              <a:t>eine</a:t>
            </a:r>
            <a:r>
              <a:rPr lang="en-US" sz="2000" dirty="0"/>
              <a:t> </a:t>
            </a:r>
            <a:r>
              <a:rPr lang="en-US" sz="2000" b="1" dirty="0" err="1"/>
              <a:t>maschinennahe</a:t>
            </a:r>
            <a:r>
              <a:rPr lang="en-US" sz="2000" dirty="0"/>
              <a:t> </a:t>
            </a:r>
            <a:r>
              <a:rPr lang="en-US" sz="2000" dirty="0" err="1"/>
              <a:t>Sprache</a:t>
            </a:r>
            <a:r>
              <a:rPr lang="en-US" sz="2000" dirty="0"/>
              <a:t>, </a:t>
            </a:r>
            <a:r>
              <a:rPr lang="en-US" sz="2000" dirty="0" err="1"/>
              <a:t>d.h.</a:t>
            </a:r>
            <a:endParaRPr lang="en-US" sz="2000" dirty="0"/>
          </a:p>
          <a:p>
            <a:pPr lvl="1"/>
            <a:r>
              <a:rPr lang="en-US" sz="2000" dirty="0" err="1"/>
              <a:t>Relativ</a:t>
            </a:r>
            <a:r>
              <a:rPr lang="en-US" sz="2000" dirty="0"/>
              <a:t> </a:t>
            </a:r>
            <a:r>
              <a:rPr lang="en-US" sz="2000" dirty="0" err="1"/>
              <a:t>geringe</a:t>
            </a:r>
            <a:r>
              <a:rPr lang="en-US" sz="2000" dirty="0"/>
              <a:t> </a:t>
            </a:r>
            <a:r>
              <a:rPr lang="en-US" sz="2000" dirty="0" err="1"/>
              <a:t>Abstraktion</a:t>
            </a:r>
            <a:r>
              <a:rPr lang="en-US" sz="2000" dirty="0"/>
              <a:t> von was/</a:t>
            </a:r>
            <a:r>
              <a:rPr lang="en-US" sz="2000" dirty="0" err="1"/>
              <a:t>wie</a:t>
            </a:r>
            <a:r>
              <a:rPr lang="en-US" sz="2000" dirty="0"/>
              <a:t> der </a:t>
            </a:r>
            <a:r>
              <a:rPr lang="en-US" sz="2000" dirty="0" err="1"/>
              <a:t>Rechner</a:t>
            </a:r>
            <a:r>
              <a:rPr lang="en-US" sz="2000" dirty="0"/>
              <a:t> </a:t>
            </a:r>
            <a:r>
              <a:rPr lang="en-US" sz="2000" dirty="0" err="1"/>
              <a:t>arbeitet</a:t>
            </a:r>
            <a:r>
              <a:rPr lang="en-US" sz="2000" dirty="0"/>
              <a:t>, und </a:t>
            </a:r>
            <a:r>
              <a:rPr lang="en-US" sz="2000" dirty="0" err="1"/>
              <a:t>wie</a:t>
            </a:r>
            <a:r>
              <a:rPr lang="en-US" sz="2000" dirty="0"/>
              <a:t> </a:t>
            </a:r>
            <a:r>
              <a:rPr lang="en-US" sz="2000" dirty="0" err="1"/>
              <a:t>wir</a:t>
            </a:r>
            <a:r>
              <a:rPr lang="en-US" sz="2000" dirty="0"/>
              <a:t> Code </a:t>
            </a:r>
            <a:r>
              <a:rPr lang="en-US" sz="2000" dirty="0" err="1"/>
              <a:t>schreiben</a:t>
            </a:r>
            <a:endParaRPr lang="en-US" sz="2000" dirty="0"/>
          </a:p>
          <a:p>
            <a:pPr lvl="1"/>
            <a:r>
              <a:rPr lang="en-US" sz="2000" dirty="0" err="1"/>
              <a:t>Kontrolle</a:t>
            </a:r>
            <a:r>
              <a:rPr lang="en-US" sz="2000" dirty="0"/>
              <a:t> </a:t>
            </a:r>
            <a:r>
              <a:rPr lang="en-US" sz="2000" dirty="0" err="1"/>
              <a:t>über</a:t>
            </a:r>
            <a:r>
              <a:rPr lang="en-US" sz="2000" dirty="0"/>
              <a:t> Speicher </a:t>
            </a:r>
            <a:r>
              <a:rPr lang="en-US" sz="2000" dirty="0" err="1"/>
              <a:t>aufs</a:t>
            </a:r>
            <a:r>
              <a:rPr lang="en-US" sz="2000" dirty="0"/>
              <a:t> Bit </a:t>
            </a:r>
            <a:r>
              <a:rPr lang="en-US" sz="2000" dirty="0" err="1"/>
              <a:t>genau</a:t>
            </a:r>
            <a:r>
              <a:rPr lang="en-US" sz="2000" dirty="0"/>
              <a:t> </a:t>
            </a:r>
            <a:r>
              <a:rPr lang="en-US" sz="2000" dirty="0" err="1"/>
              <a:t>möglich</a:t>
            </a:r>
            <a:endParaRPr lang="en-US" sz="2000" dirty="0"/>
          </a:p>
          <a:p>
            <a:pPr lvl="1"/>
            <a:r>
              <a:rPr lang="en-US" sz="2000" dirty="0"/>
              <a:t>Daher, </a:t>
            </a:r>
            <a:r>
              <a:rPr lang="en-US" sz="2000" b="1" dirty="0"/>
              <a:t>de-facto Standard </a:t>
            </a:r>
            <a:r>
              <a:rPr lang="en-US" sz="2000" dirty="0"/>
              <a:t>für die BS-</a:t>
            </a:r>
            <a:r>
              <a:rPr lang="en-US" sz="2000" dirty="0" err="1"/>
              <a:t>Entwicklung</a:t>
            </a:r>
            <a:endParaRPr lang="en-US" sz="2000" dirty="0"/>
          </a:p>
          <a:p>
            <a:r>
              <a:rPr lang="en-US" sz="2000" dirty="0" err="1"/>
              <a:t>Sprachen</a:t>
            </a:r>
            <a:r>
              <a:rPr lang="en-US" sz="2000" dirty="0"/>
              <a:t> </a:t>
            </a:r>
            <a:r>
              <a:rPr lang="en-US" sz="2000" dirty="0" err="1"/>
              <a:t>wie</a:t>
            </a:r>
            <a:r>
              <a:rPr lang="en-US" sz="2000" dirty="0"/>
              <a:t> Python </a:t>
            </a:r>
            <a:r>
              <a:rPr lang="en-US" sz="2000" dirty="0" err="1"/>
              <a:t>oder</a:t>
            </a:r>
            <a:r>
              <a:rPr lang="en-US" sz="2000" dirty="0"/>
              <a:t> JavaScript </a:t>
            </a:r>
            <a:r>
              <a:rPr lang="en-US" sz="2000" dirty="0" err="1"/>
              <a:t>weisen</a:t>
            </a:r>
            <a:r>
              <a:rPr lang="en-US" sz="2000" dirty="0"/>
              <a:t> “</a:t>
            </a:r>
            <a:r>
              <a:rPr lang="en-US" sz="2000" dirty="0" err="1"/>
              <a:t>zu</a:t>
            </a:r>
            <a:r>
              <a:rPr lang="en-US" sz="2000" dirty="0"/>
              <a:t> </a:t>
            </a:r>
            <a:r>
              <a:rPr lang="en-US" sz="2000" dirty="0" err="1"/>
              <a:t>hohe</a:t>
            </a:r>
            <a:r>
              <a:rPr lang="en-US" sz="2000" dirty="0"/>
              <a:t>” </a:t>
            </a:r>
            <a:r>
              <a:rPr lang="en-US" sz="2000" dirty="0" err="1"/>
              <a:t>Abstraktion</a:t>
            </a:r>
            <a:r>
              <a:rPr lang="en-US" sz="2000" dirty="0"/>
              <a:t> auf </a:t>
            </a:r>
          </a:p>
          <a:p>
            <a:endParaRPr lang="en-US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D2F620A-F6CC-AC28-77E6-C98B153288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394" r="19539" b="-1"/>
          <a:stretch/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932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772F90-184B-AC8D-2609-382E2686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Warum C?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8237D4-3153-FF1F-5C39-21D767369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Tx/>
              <a:buChar char="-"/>
            </a:pPr>
            <a:r>
              <a:rPr lang="de-DE" sz="22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Motivation außerhalb des Kurses:</a:t>
            </a:r>
            <a:endParaRPr lang="de-DE" sz="2200" dirty="0">
              <a:solidFill>
                <a:srgbClr val="0D0D0D"/>
              </a:solidFill>
              <a:highlight>
                <a:srgbClr val="FF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Tx/>
              <a:buChar char="-"/>
            </a:pPr>
            <a:r>
              <a:rPr lang="de-DE" sz="19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C zu lernen, </a:t>
            </a:r>
            <a:r>
              <a:rPr lang="de-DE" sz="19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beschleunigt</a:t>
            </a:r>
            <a:r>
              <a:rPr lang="de-DE" sz="19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das Erlernen jeder anderen Programmiersprache</a:t>
            </a:r>
          </a:p>
          <a:p>
            <a:pPr lvl="1">
              <a:buFontTx/>
              <a:buChar char="-"/>
            </a:pPr>
            <a:r>
              <a:rPr lang="de-DE" sz="19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Durch das Erlernen von C erhält man Einblicke, </a:t>
            </a:r>
            <a:r>
              <a:rPr lang="de-DE" sz="19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welche Vorteile andere Sprachen bieten </a:t>
            </a:r>
            <a:r>
              <a:rPr lang="de-DE" sz="19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und welche Laufzeitkosten damit einhergehen</a:t>
            </a:r>
          </a:p>
          <a:p>
            <a:pPr lvl="1">
              <a:buFontTx/>
              <a:buChar char="-"/>
            </a:pPr>
            <a:r>
              <a:rPr lang="de-DE" sz="19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Das Verständnis von C ermöglicht ein </a:t>
            </a:r>
            <a:r>
              <a:rPr lang="de-DE" sz="19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tieferes Verständnis </a:t>
            </a:r>
            <a:r>
              <a:rPr lang="de-DE" sz="19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dafür, wie Computer tatsächlich arbeiten</a:t>
            </a:r>
          </a:p>
          <a:p>
            <a:pPr lvl="1"/>
            <a:endParaRPr lang="en-US" sz="2000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9D0582A5-D0FC-179E-B815-7F6D36787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89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A9DB95-A440-3358-1342-51B89F21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C-Basics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nlinemedien 4" descr="C-Kurs für Einsteiger [C-Kurs Kapitel 1]">
            <a:hlinkClick r:id="" action="ppaction://media"/>
            <a:extLst>
              <a:ext uri="{FF2B5EF4-FFF2-40B4-BE49-F238E27FC236}">
                <a16:creationId xmlns:a16="http://schemas.microsoft.com/office/drawing/2014/main" id="{8A89FB5C-E002-BE3A-86CC-CF97E1D1DD69}"/>
              </a:ext>
            </a:extLst>
          </p:cNvPr>
          <p:cNvPicPr>
            <a:picLocks noGrp="1" noRot="1" noChangeAspect="1"/>
          </p:cNvPicPr>
          <p:nvPr>
            <p:ph sz="half"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03182" y="1994518"/>
            <a:ext cx="4777381" cy="26992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2BB3D15-6DE6-23EE-67FC-4207CB20044E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Wenn</a:t>
            </a:r>
            <a:r>
              <a:rPr lang="en-US" sz="1400" dirty="0"/>
              <a:t> </a:t>
            </a:r>
            <a:r>
              <a:rPr lang="en-US" sz="1400" dirty="0" err="1"/>
              <a:t>ihr</a:t>
            </a:r>
            <a:r>
              <a:rPr lang="en-US" sz="1400" dirty="0"/>
              <a:t> </a:t>
            </a:r>
            <a:r>
              <a:rPr lang="en-US" sz="1400" dirty="0" err="1"/>
              <a:t>noch</a:t>
            </a:r>
            <a:r>
              <a:rPr lang="en-US" sz="1400" dirty="0"/>
              <a:t> NIE </a:t>
            </a:r>
            <a:r>
              <a:rPr lang="en-US" sz="1400" dirty="0" err="1"/>
              <a:t>programmiert</a:t>
            </a:r>
            <a:r>
              <a:rPr lang="en-US" sz="1400" dirty="0"/>
              <a:t> </a:t>
            </a:r>
            <a:r>
              <a:rPr lang="en-US" sz="1400" dirty="0" err="1"/>
              <a:t>habt</a:t>
            </a:r>
            <a:r>
              <a:rPr lang="en-US" sz="1400" dirty="0"/>
              <a:t>, </a:t>
            </a:r>
            <a:r>
              <a:rPr lang="en-US" sz="1400" dirty="0" err="1"/>
              <a:t>dann</a:t>
            </a:r>
            <a:r>
              <a:rPr lang="en-US" sz="1400" dirty="0"/>
              <a:t> </a:t>
            </a:r>
            <a:r>
              <a:rPr lang="en-US" sz="1400" dirty="0" err="1"/>
              <a:t>schaut</a:t>
            </a:r>
            <a:r>
              <a:rPr lang="en-US" sz="1400" dirty="0"/>
              <a:t> in den (von </a:t>
            </a:r>
            <a:r>
              <a:rPr lang="en-US" sz="1400" dirty="0" err="1"/>
              <a:t>unserem</a:t>
            </a:r>
            <a:r>
              <a:rPr lang="en-US" sz="1400" dirty="0"/>
              <a:t> Tutor Timo) </a:t>
            </a:r>
            <a:r>
              <a:rPr lang="en-US" sz="1400" dirty="0" err="1"/>
              <a:t>vorbereiteten</a:t>
            </a:r>
            <a:r>
              <a:rPr lang="en-US" sz="1400" dirty="0"/>
              <a:t> Video-</a:t>
            </a:r>
            <a:r>
              <a:rPr lang="en-US" sz="1400" dirty="0" err="1"/>
              <a:t>Kurs</a:t>
            </a:r>
            <a:r>
              <a:rPr lang="en-US" sz="1400" dirty="0"/>
              <a:t> </a:t>
            </a:r>
            <a:r>
              <a:rPr lang="en-US" sz="1400" dirty="0" err="1"/>
              <a:t>vorbei</a:t>
            </a:r>
            <a:r>
              <a:rPr lang="en-US" sz="1400" dirty="0"/>
              <a:t>!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Schaut</a:t>
            </a:r>
            <a:r>
              <a:rPr lang="en-US" sz="1400" dirty="0"/>
              <a:t> in den </a:t>
            </a:r>
            <a:r>
              <a:rPr lang="en-US" sz="1400" dirty="0" err="1"/>
              <a:t>Kurs</a:t>
            </a:r>
            <a:r>
              <a:rPr lang="en-US" sz="1400" dirty="0"/>
              <a:t> rein, </a:t>
            </a:r>
            <a:r>
              <a:rPr lang="en-US" sz="1400" dirty="0" err="1"/>
              <a:t>wenn</a:t>
            </a:r>
            <a:r>
              <a:rPr lang="en-US" sz="1400" dirty="0"/>
              <a:t> </a:t>
            </a:r>
            <a:r>
              <a:rPr lang="en-US" sz="1400" dirty="0" err="1"/>
              <a:t>ihr</a:t>
            </a:r>
            <a:r>
              <a:rPr lang="en-US" sz="1400" dirty="0"/>
              <a:t> </a:t>
            </a:r>
            <a:r>
              <a:rPr lang="en-US" sz="1400" dirty="0" err="1"/>
              <a:t>eines</a:t>
            </a:r>
            <a:r>
              <a:rPr lang="en-US" sz="1400" dirty="0"/>
              <a:t> der </a:t>
            </a:r>
            <a:r>
              <a:rPr lang="en-US" sz="1400" dirty="0" err="1"/>
              <a:t>Folgenden</a:t>
            </a:r>
            <a:r>
              <a:rPr lang="en-US" sz="1400" dirty="0"/>
              <a:t> </a:t>
            </a:r>
            <a:r>
              <a:rPr lang="en-US" sz="1400" dirty="0" err="1"/>
              <a:t>nicht</a:t>
            </a:r>
            <a:r>
              <a:rPr lang="en-US" sz="1400" dirty="0"/>
              <a:t> </a:t>
            </a:r>
            <a:r>
              <a:rPr lang="en-US" sz="1400" dirty="0" err="1"/>
              <a:t>kennt</a:t>
            </a:r>
            <a:r>
              <a:rPr lang="en-US" sz="1400" dirty="0"/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Variablen</a:t>
            </a:r>
            <a:r>
              <a:rPr lang="en-US" sz="1400" dirty="0"/>
              <a:t> und </a:t>
            </a:r>
            <a:r>
              <a:rPr lang="en-US" sz="1400" dirty="0" err="1"/>
              <a:t>Datentypen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Structs (</a:t>
            </a:r>
            <a:r>
              <a:rPr lang="en-US" sz="1400" dirty="0" err="1"/>
              <a:t>Zusammengesetzte</a:t>
            </a:r>
            <a:r>
              <a:rPr lang="en-US" sz="1400" dirty="0"/>
              <a:t> </a:t>
            </a:r>
            <a:r>
              <a:rPr lang="en-US" sz="1400" dirty="0" err="1"/>
              <a:t>Datentypen</a:t>
            </a:r>
            <a:r>
              <a:rPr lang="en-US" sz="1400" dirty="0"/>
              <a:t>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Arrays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Bedingte</a:t>
            </a:r>
            <a:r>
              <a:rPr lang="en-US" sz="1400" dirty="0"/>
              <a:t> </a:t>
            </a:r>
            <a:r>
              <a:rPr lang="en-US" sz="1400" dirty="0" err="1"/>
              <a:t>Codeausführung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Schleifen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Adressen</a:t>
            </a:r>
            <a:r>
              <a:rPr lang="en-US" sz="1400" dirty="0"/>
              <a:t> und Pointer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Funktionen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Dynamsiche</a:t>
            </a:r>
            <a:r>
              <a:rPr lang="en-US" sz="1400" dirty="0"/>
              <a:t> </a:t>
            </a:r>
            <a:r>
              <a:rPr lang="en-US" sz="1400" dirty="0" err="1"/>
              <a:t>Speicherverwaltung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Chars und Strings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Bitweise</a:t>
            </a:r>
            <a:r>
              <a:rPr lang="en-US" sz="1400" dirty="0"/>
              <a:t> </a:t>
            </a:r>
            <a:r>
              <a:rPr lang="en-US" sz="1400" dirty="0" err="1"/>
              <a:t>Operationen</a:t>
            </a:r>
            <a:endParaRPr lang="en-US" sz="1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Ihr</a:t>
            </a:r>
            <a:r>
              <a:rPr lang="en-US" sz="1400" dirty="0"/>
              <a:t> </a:t>
            </a:r>
            <a:r>
              <a:rPr lang="en-US" sz="1400" dirty="0" err="1"/>
              <a:t>findet</a:t>
            </a:r>
            <a:r>
              <a:rPr lang="en-US" sz="1400" dirty="0"/>
              <a:t> den </a:t>
            </a:r>
            <a:r>
              <a:rPr lang="en-US" sz="1400" dirty="0" err="1"/>
              <a:t>Kurs</a:t>
            </a:r>
            <a:r>
              <a:rPr lang="en-US" sz="1400" dirty="0"/>
              <a:t> </a:t>
            </a:r>
            <a:r>
              <a:rPr lang="en-US" sz="1400" dirty="0" err="1"/>
              <a:t>auch</a:t>
            </a:r>
            <a:r>
              <a:rPr lang="en-US" sz="1400" dirty="0"/>
              <a:t> auf ISIS </a:t>
            </a:r>
            <a:r>
              <a:rPr lang="en-US" sz="1400" dirty="0" err="1"/>
              <a:t>verlinkt</a:t>
            </a:r>
            <a:r>
              <a:rPr lang="en-US" sz="14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0037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A9DB95-A440-3358-1342-51B89F21C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C-Basics 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nlinemedien 4" descr="C-Kurs für Einsteiger [C-Kurs Kapitel 1]">
            <a:hlinkClick r:id="" action="ppaction://media"/>
            <a:extLst>
              <a:ext uri="{FF2B5EF4-FFF2-40B4-BE49-F238E27FC236}">
                <a16:creationId xmlns:a16="http://schemas.microsoft.com/office/drawing/2014/main" id="{8A89FB5C-E002-BE3A-86CC-CF97E1D1DD69}"/>
              </a:ext>
            </a:extLst>
          </p:cNvPr>
          <p:cNvPicPr>
            <a:picLocks noGrp="1" noRot="1" noChangeAspect="1"/>
          </p:cNvPicPr>
          <p:nvPr>
            <p:ph sz="half"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03182" y="1994518"/>
            <a:ext cx="4777381" cy="269922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02BB3D15-6DE6-23EE-67FC-4207CB20044E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Wenn</a:t>
            </a:r>
            <a:r>
              <a:rPr lang="en-US" sz="1400" dirty="0"/>
              <a:t> </a:t>
            </a:r>
            <a:r>
              <a:rPr lang="en-US" sz="1400" dirty="0" err="1"/>
              <a:t>ihr</a:t>
            </a:r>
            <a:r>
              <a:rPr lang="en-US" sz="1400" dirty="0"/>
              <a:t> </a:t>
            </a:r>
            <a:r>
              <a:rPr lang="en-US" sz="1400" dirty="0" err="1"/>
              <a:t>noch</a:t>
            </a:r>
            <a:r>
              <a:rPr lang="en-US" sz="1400" dirty="0"/>
              <a:t> NIE </a:t>
            </a:r>
            <a:r>
              <a:rPr lang="en-US" sz="1400" dirty="0" err="1"/>
              <a:t>programmiert</a:t>
            </a:r>
            <a:r>
              <a:rPr lang="en-US" sz="1400" dirty="0"/>
              <a:t> </a:t>
            </a:r>
            <a:r>
              <a:rPr lang="en-US" sz="1400" dirty="0" err="1"/>
              <a:t>habt</a:t>
            </a:r>
            <a:r>
              <a:rPr lang="en-US" sz="1400" dirty="0"/>
              <a:t>, </a:t>
            </a:r>
            <a:r>
              <a:rPr lang="en-US" sz="1400" dirty="0" err="1"/>
              <a:t>dann</a:t>
            </a:r>
            <a:r>
              <a:rPr lang="en-US" sz="1400" dirty="0"/>
              <a:t> </a:t>
            </a:r>
            <a:r>
              <a:rPr lang="en-US" sz="1400" dirty="0" err="1"/>
              <a:t>schaut</a:t>
            </a:r>
            <a:r>
              <a:rPr lang="en-US" sz="1400" dirty="0"/>
              <a:t> in den (von </a:t>
            </a:r>
            <a:r>
              <a:rPr lang="en-US" sz="1400" dirty="0" err="1"/>
              <a:t>unserem</a:t>
            </a:r>
            <a:r>
              <a:rPr lang="en-US" sz="1400" dirty="0"/>
              <a:t> Tutor Timo) </a:t>
            </a:r>
            <a:r>
              <a:rPr lang="en-US" sz="1400" dirty="0" err="1"/>
              <a:t>vorbereiteten</a:t>
            </a:r>
            <a:r>
              <a:rPr lang="en-US" sz="1400" dirty="0"/>
              <a:t> Video-</a:t>
            </a:r>
            <a:r>
              <a:rPr lang="en-US" sz="1400" dirty="0" err="1"/>
              <a:t>Kurs</a:t>
            </a:r>
            <a:r>
              <a:rPr lang="en-US" sz="1400" dirty="0"/>
              <a:t> </a:t>
            </a:r>
            <a:r>
              <a:rPr lang="en-US" sz="1400" dirty="0" err="1"/>
              <a:t>vorbei</a:t>
            </a:r>
            <a:r>
              <a:rPr lang="en-US" sz="1400" dirty="0"/>
              <a:t>!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Schaut</a:t>
            </a:r>
            <a:r>
              <a:rPr lang="en-US" sz="1400" dirty="0"/>
              <a:t> in den </a:t>
            </a:r>
            <a:r>
              <a:rPr lang="en-US" sz="1400" dirty="0" err="1"/>
              <a:t>Kurs</a:t>
            </a:r>
            <a:r>
              <a:rPr lang="en-US" sz="1400" dirty="0"/>
              <a:t> rein, </a:t>
            </a:r>
            <a:r>
              <a:rPr lang="en-US" sz="1400" dirty="0" err="1"/>
              <a:t>wenn</a:t>
            </a:r>
            <a:r>
              <a:rPr lang="en-US" sz="1400" dirty="0"/>
              <a:t> </a:t>
            </a:r>
            <a:r>
              <a:rPr lang="en-US" sz="1400" dirty="0" err="1"/>
              <a:t>ihr</a:t>
            </a:r>
            <a:r>
              <a:rPr lang="en-US" sz="1400" dirty="0"/>
              <a:t> </a:t>
            </a:r>
            <a:r>
              <a:rPr lang="en-US" sz="1400" dirty="0" err="1"/>
              <a:t>eines</a:t>
            </a:r>
            <a:r>
              <a:rPr lang="en-US" sz="1400" dirty="0"/>
              <a:t> der </a:t>
            </a:r>
            <a:r>
              <a:rPr lang="en-US" sz="1400" dirty="0" err="1"/>
              <a:t>Folgenden</a:t>
            </a:r>
            <a:r>
              <a:rPr lang="en-US" sz="1400" dirty="0"/>
              <a:t> </a:t>
            </a:r>
            <a:r>
              <a:rPr lang="en-US" sz="1400" dirty="0" err="1"/>
              <a:t>nicht</a:t>
            </a:r>
            <a:r>
              <a:rPr lang="en-US" sz="1400" dirty="0"/>
              <a:t> </a:t>
            </a:r>
            <a:r>
              <a:rPr lang="en-US" sz="1400" dirty="0" err="1"/>
              <a:t>kennt</a:t>
            </a:r>
            <a:r>
              <a:rPr lang="en-US" sz="1400" dirty="0"/>
              <a:t>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Variablen</a:t>
            </a:r>
            <a:r>
              <a:rPr lang="en-US" sz="1400" dirty="0"/>
              <a:t> und </a:t>
            </a:r>
            <a:r>
              <a:rPr lang="en-US" sz="1400" dirty="0" err="1"/>
              <a:t>Datentypen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Structs (</a:t>
            </a:r>
            <a:r>
              <a:rPr lang="en-US" sz="1400" dirty="0" err="1"/>
              <a:t>Zusammengesetzte</a:t>
            </a:r>
            <a:r>
              <a:rPr lang="en-US" sz="1400" dirty="0"/>
              <a:t> </a:t>
            </a:r>
            <a:r>
              <a:rPr lang="en-US" sz="1400" dirty="0" err="1"/>
              <a:t>Datentypen</a:t>
            </a:r>
            <a:r>
              <a:rPr lang="en-US" sz="1400" dirty="0"/>
              <a:t>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Arrays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Bedingte</a:t>
            </a:r>
            <a:r>
              <a:rPr lang="en-US" sz="1400" dirty="0"/>
              <a:t> </a:t>
            </a:r>
            <a:r>
              <a:rPr lang="en-US" sz="1400" dirty="0" err="1"/>
              <a:t>Codeausführung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Schleifen</a:t>
            </a:r>
            <a:endParaRPr lang="en-US" sz="14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Adressen</a:t>
            </a:r>
            <a:r>
              <a:rPr lang="en-US" sz="1400" b="1" dirty="0">
                <a:solidFill>
                  <a:srgbClr val="FF0000"/>
                </a:solidFill>
              </a:rPr>
              <a:t> und Pointer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Funktionen</a:t>
            </a:r>
            <a:endParaRPr lang="en-US" sz="1400" b="1" dirty="0">
              <a:solidFill>
                <a:srgbClr val="FF0000"/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FF0000"/>
                </a:solidFill>
              </a:rPr>
              <a:t>Dynamsiche</a:t>
            </a:r>
            <a:r>
              <a:rPr lang="en-US" sz="1400" b="1" dirty="0">
                <a:solidFill>
                  <a:srgbClr val="FF0000"/>
                </a:solidFill>
              </a:rPr>
              <a:t> </a:t>
            </a:r>
            <a:r>
              <a:rPr lang="en-US" sz="1400" b="1" dirty="0" err="1">
                <a:solidFill>
                  <a:srgbClr val="FF0000"/>
                </a:solidFill>
              </a:rPr>
              <a:t>Speicherverwaltung</a:t>
            </a:r>
            <a:endParaRPr lang="en-US" sz="1400" b="1" dirty="0">
              <a:solidFill>
                <a:srgbClr val="FF0000"/>
              </a:solidFill>
            </a:endParaRP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Chars und Strings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Bitweise</a:t>
            </a:r>
            <a:r>
              <a:rPr lang="en-US" sz="1400" dirty="0"/>
              <a:t> </a:t>
            </a:r>
            <a:r>
              <a:rPr lang="en-US" sz="1400" dirty="0" err="1"/>
              <a:t>Operationen</a:t>
            </a:r>
            <a:endParaRPr lang="en-US" sz="1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 err="1"/>
              <a:t>Ihr</a:t>
            </a:r>
            <a:r>
              <a:rPr lang="en-US" sz="1400" dirty="0"/>
              <a:t> </a:t>
            </a:r>
            <a:r>
              <a:rPr lang="en-US" sz="1400" dirty="0" err="1"/>
              <a:t>findet</a:t>
            </a:r>
            <a:r>
              <a:rPr lang="en-US" sz="1400" dirty="0"/>
              <a:t> den </a:t>
            </a:r>
            <a:r>
              <a:rPr lang="en-US" sz="1400" dirty="0" err="1"/>
              <a:t>Kurs</a:t>
            </a:r>
            <a:r>
              <a:rPr lang="en-US" sz="1400" dirty="0"/>
              <a:t> </a:t>
            </a:r>
            <a:r>
              <a:rPr lang="en-US" sz="1400" dirty="0" err="1"/>
              <a:t>auch</a:t>
            </a:r>
            <a:r>
              <a:rPr lang="en-US" sz="1400" dirty="0"/>
              <a:t> auf ISIS </a:t>
            </a:r>
            <a:r>
              <a:rPr lang="en-US" sz="1400" dirty="0" err="1"/>
              <a:t>verlinkt</a:t>
            </a:r>
            <a:r>
              <a:rPr lang="en-US" sz="1400" dirty="0"/>
              <a:t>!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1A2820-3E63-A53D-AEEC-8F6C980AF4B2}"/>
              </a:ext>
            </a:extLst>
          </p:cNvPr>
          <p:cNvSpPr txBox="1"/>
          <p:nvPr/>
        </p:nvSpPr>
        <p:spPr>
          <a:xfrm>
            <a:off x="9386158" y="4324406"/>
            <a:ext cx="1559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&lt;- Focus heute</a:t>
            </a:r>
          </a:p>
        </p:txBody>
      </p:sp>
    </p:spTree>
    <p:extLst>
      <p:ext uri="{BB962C8B-B14F-4D97-AF65-F5344CB8AC3E}">
        <p14:creationId xmlns:p14="http://schemas.microsoft.com/office/powerpoint/2010/main" val="400453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C – Aufgabe 1.2 a)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Legen Sie mit dynamischem Speicher eine Variable an. Geben Sie die Speicheradresse der Variable sowohl im üblichen Hex-Format, als auch als Dezimalzahl aus.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78729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27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C – Aufgabe 1.2 a) 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52AA7F2-51EB-93DA-B826-A3F0682CEE75}"/>
              </a:ext>
            </a:extLst>
          </p:cNvPr>
          <p:cNvSpPr>
            <a:spLocks/>
          </p:cNvSpPr>
          <p:nvPr/>
        </p:nvSpPr>
        <p:spPr>
          <a:xfrm>
            <a:off x="1137034" y="2194102"/>
            <a:ext cx="4438036" cy="39085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 err="1"/>
              <a:t>Statischer</a:t>
            </a:r>
            <a:r>
              <a:rPr lang="en-US" sz="1900" b="1" dirty="0"/>
              <a:t> Speicher</a:t>
            </a:r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Zur</a:t>
            </a:r>
            <a:r>
              <a:rPr lang="en-US" sz="1900" dirty="0"/>
              <a:t> </a:t>
            </a:r>
            <a:r>
              <a:rPr lang="en-US" sz="1900" dirty="0" err="1"/>
              <a:t>Kompilierzeit</a:t>
            </a:r>
            <a:r>
              <a:rPr lang="en-US" sz="1900" dirty="0"/>
              <a:t> </a:t>
            </a:r>
            <a:r>
              <a:rPr lang="en-US" sz="1900" dirty="0" err="1"/>
              <a:t>zugewiesen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Feste </a:t>
            </a:r>
            <a:r>
              <a:rPr lang="en-US" sz="1900" dirty="0" err="1"/>
              <a:t>Größe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Keine</a:t>
            </a:r>
            <a:r>
              <a:rPr lang="en-US" sz="1900" dirty="0"/>
              <a:t> </a:t>
            </a:r>
            <a:r>
              <a:rPr lang="en-US" sz="1900" dirty="0" err="1"/>
              <a:t>explizite</a:t>
            </a:r>
            <a:r>
              <a:rPr lang="en-US" sz="1900" dirty="0"/>
              <a:t> </a:t>
            </a:r>
            <a:r>
              <a:rPr lang="en-US" sz="1900" dirty="0" err="1"/>
              <a:t>Freigabe</a:t>
            </a:r>
            <a:r>
              <a:rPr lang="en-US" sz="1900" dirty="0"/>
              <a:t> </a:t>
            </a:r>
            <a:r>
              <a:rPr lang="en-US" sz="1900" dirty="0" err="1"/>
              <a:t>erforderlich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Schnellerer</a:t>
            </a:r>
            <a:r>
              <a:rPr lang="en-US" sz="1900" dirty="0"/>
              <a:t> </a:t>
            </a:r>
            <a:r>
              <a:rPr lang="en-US" sz="1900" dirty="0" err="1"/>
              <a:t>Zugriff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1714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 err="1"/>
              <a:t>Dynamischer</a:t>
            </a:r>
            <a:r>
              <a:rPr lang="en-US" sz="1900" b="1" dirty="0"/>
              <a:t> Speicher: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Während</a:t>
            </a:r>
            <a:r>
              <a:rPr lang="en-US" sz="1900" dirty="0"/>
              <a:t> </a:t>
            </a:r>
            <a:r>
              <a:rPr lang="en-US" sz="1900" dirty="0" err="1"/>
              <a:t>Laufzeit</a:t>
            </a:r>
            <a:r>
              <a:rPr lang="en-US" sz="1900" dirty="0"/>
              <a:t> </a:t>
            </a:r>
            <a:r>
              <a:rPr lang="en-US" sz="1900" dirty="0" err="1"/>
              <a:t>zugewiesen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Flexibel</a:t>
            </a:r>
            <a:r>
              <a:rPr lang="en-US" sz="1900" dirty="0"/>
              <a:t>, </a:t>
            </a:r>
            <a:r>
              <a:rPr lang="en-US" sz="1900" dirty="0" err="1"/>
              <a:t>kann</a:t>
            </a:r>
            <a:r>
              <a:rPr lang="en-US" sz="1900" dirty="0"/>
              <a:t> </a:t>
            </a:r>
            <a:r>
              <a:rPr lang="en-US" sz="1900" dirty="0" err="1"/>
              <a:t>wachsen</a:t>
            </a:r>
            <a:r>
              <a:rPr lang="en-US" sz="1900" dirty="0"/>
              <a:t>/</a:t>
            </a:r>
            <a:r>
              <a:rPr lang="en-US" sz="1900" dirty="0" err="1"/>
              <a:t>schrumpfen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Mögliche</a:t>
            </a:r>
            <a:r>
              <a:rPr lang="en-US" sz="1900" dirty="0"/>
              <a:t> </a:t>
            </a:r>
            <a:r>
              <a:rPr lang="en-US" sz="1900" dirty="0" err="1"/>
              <a:t>Fragmentierung</a:t>
            </a:r>
            <a:endParaRPr lang="en-US" sz="1900" dirty="0"/>
          </a:p>
          <a:p>
            <a:pPr marL="44577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Erfordert</a:t>
            </a:r>
            <a:r>
              <a:rPr lang="en-US" sz="1900" dirty="0"/>
              <a:t> </a:t>
            </a:r>
            <a:r>
              <a:rPr lang="en-US" sz="1900" b="1" dirty="0" err="1"/>
              <a:t>explizite</a:t>
            </a:r>
            <a:r>
              <a:rPr lang="en-US" sz="1900" b="1" dirty="0"/>
              <a:t> </a:t>
            </a:r>
            <a:r>
              <a:rPr lang="en-US" sz="1900" b="1" dirty="0" err="1"/>
              <a:t>Freigabe</a:t>
            </a:r>
            <a:r>
              <a:rPr lang="en-US" sz="1900" dirty="0"/>
              <a:t> und </a:t>
            </a:r>
            <a:r>
              <a:rPr lang="en-US" sz="1900" b="1" dirty="0" err="1"/>
              <a:t>langsamerer</a:t>
            </a:r>
            <a:r>
              <a:rPr lang="en-US" sz="1900" b="1" dirty="0"/>
              <a:t> </a:t>
            </a:r>
            <a:r>
              <a:rPr lang="en-US" sz="1900" b="1" dirty="0" err="1"/>
              <a:t>Zugriff</a:t>
            </a:r>
            <a:endParaRPr lang="en-US" sz="1900" dirty="0"/>
          </a:p>
          <a:p>
            <a:pPr marL="720090" lvl="2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 err="1"/>
              <a:t>Wenn</a:t>
            </a:r>
            <a:r>
              <a:rPr lang="en-US" sz="1900" dirty="0"/>
              <a:t> </a:t>
            </a:r>
            <a:r>
              <a:rPr lang="en-US" sz="1900" dirty="0" err="1"/>
              <a:t>möglich</a:t>
            </a:r>
            <a:r>
              <a:rPr lang="en-US" sz="1900" dirty="0"/>
              <a:t> </a:t>
            </a:r>
            <a:r>
              <a:rPr lang="en-US" sz="1900" dirty="0" err="1"/>
              <a:t>statischen</a:t>
            </a:r>
            <a:r>
              <a:rPr lang="en-US" sz="1900" dirty="0"/>
              <a:t> Speicher </a:t>
            </a:r>
            <a:r>
              <a:rPr lang="en-US" sz="1900" dirty="0" err="1"/>
              <a:t>benutzen</a:t>
            </a:r>
            <a:r>
              <a:rPr lang="en-US" sz="1900" dirty="0"/>
              <a:t>!</a:t>
            </a:r>
            <a:endParaRPr lang="en-US" sz="1900" b="0" i="0" dirty="0"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3" name="Grafik 2" descr="Ein Bild, das Text, Screenshot, Diagramm, Reihe enthält.&#10;&#10;Automatisch generierte Beschreibung">
            <a:extLst>
              <a:ext uri="{FF2B5EF4-FFF2-40B4-BE49-F238E27FC236}">
                <a16:creationId xmlns:a16="http://schemas.microsoft.com/office/drawing/2014/main" id="{E667EBD8-017D-0B12-AF07-BB09AAFD1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527281"/>
            <a:ext cx="4737650" cy="3825652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/>
          </p:cNvSpPr>
          <p:nvPr/>
        </p:nvSpPr>
        <p:spPr>
          <a:xfrm>
            <a:off x="5207640" y="2127708"/>
            <a:ext cx="3148788" cy="2644249"/>
          </a:xfrm>
          <a:prstGeom prst="rect">
            <a:avLst/>
          </a:prstGeom>
        </p:spPr>
        <p:txBody>
          <a:bodyPr/>
          <a:lstStyle/>
          <a:p>
            <a:pPr marL="274320" lvl="1" defTabSz="548640">
              <a:spcAft>
                <a:spcPts val="600"/>
              </a:spcAft>
            </a:pPr>
            <a:endParaRPr lang="de-DE" sz="108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9096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a)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endParaRPr lang="de-DE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8283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a)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9409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a)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de-DE" sz="2200" b="0" dirty="0">
              <a:solidFill>
                <a:srgbClr val="80808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endParaRPr lang="de-DE" sz="2200" dirty="0">
              <a:solidFill>
                <a:srgbClr val="74531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dirty="0">
              <a:solidFill>
                <a:srgbClr val="74531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74531F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dirty="0">
              <a:solidFill>
                <a:srgbClr val="74531F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7508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a)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432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a)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*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malloc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sizeof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adresse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lu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adresse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1785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b)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Deklarieren Sie auf normalem (statischem) Weg eine Variable. Geben Sie wieder die Speicheradresse im Hex-Format und als Dezimalzahl aus.</a:t>
            </a:r>
          </a:p>
        </p:txBody>
      </p:sp>
    </p:spTree>
    <p:extLst>
      <p:ext uri="{BB962C8B-B14F-4D97-AF65-F5344CB8AC3E}">
        <p14:creationId xmlns:p14="http://schemas.microsoft.com/office/powerpoint/2010/main" val="3506800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b)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...</a:t>
            </a: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lu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...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95448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b)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%p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&amp;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de-DE" sz="22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adresse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(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long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&amp;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%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lu</a:t>
            </a:r>
            <a:r>
              <a:rPr lang="de-DE" sz="2200" b="0" dirty="0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de-DE" sz="2200" b="0" dirty="0" err="1">
                <a:solidFill>
                  <a:srgbClr val="1F377F"/>
                </a:solidFill>
                <a:effectLst/>
                <a:latin typeface="Menlo" panose="020B0609030804020204" pitchFamily="49" charset="0"/>
              </a:rPr>
              <a:t>adresse</a:t>
            </a: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1396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c)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Erklären Sie, inwiefern und warum sich die Adressen unterscheiden. Sind die Adressen bei jeder Programmausführung gleich?</a:t>
            </a:r>
          </a:p>
        </p:txBody>
      </p:sp>
    </p:spTree>
    <p:extLst>
      <p:ext uri="{BB962C8B-B14F-4D97-AF65-F5344CB8AC3E}">
        <p14:creationId xmlns:p14="http://schemas.microsoft.com/office/powerpoint/2010/main" val="3063556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8D7C2B-7D25-C246-9D43-949A89D55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 – Aufgabe 1.2 c)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18F95CE-8208-B89C-9056-C08F558BF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46" y="2642616"/>
            <a:ext cx="4462604" cy="360578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E3E91D8-941F-EADB-37EB-9BA1DE098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972" y="2642616"/>
            <a:ext cx="5073464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46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d)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Betrachtet den folgenden Code. Welche Zahl wird gedruckt?</a:t>
            </a:r>
          </a:p>
        </p:txBody>
      </p:sp>
    </p:spTree>
    <p:extLst>
      <p:ext uri="{BB962C8B-B14F-4D97-AF65-F5344CB8AC3E}">
        <p14:creationId xmlns:p14="http://schemas.microsoft.com/office/powerpoint/2010/main" val="1684956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d)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sz="35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35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35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35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stdio.h</a:t>
            </a:r>
            <a:r>
              <a:rPr lang="de-DE" sz="35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</a:p>
          <a:p>
            <a:pPr marL="0" indent="0">
              <a:buNone/>
            </a:pPr>
            <a:b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35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void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35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upgrade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35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35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de-DE" sz="3500" dirty="0">
                <a:solidFill>
                  <a:srgbClr val="808080"/>
                </a:solidFill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35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35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18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35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35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main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35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35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35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35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5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35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upgrade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35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35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35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printf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35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35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35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de-DE" sz="3500" b="0" dirty="0" err="1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</a:t>
            </a:r>
            <a:r>
              <a:rPr lang="de-DE" sz="35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de-DE" sz="35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35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  <a:br>
              <a:rPr lang="de-DE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de-DE" sz="16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8630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</a:t>
            </a:r>
            <a:r>
              <a:rPr lang="de-DE" dirty="0" err="1">
                <a:solidFill>
                  <a:srgbClr val="FFFFFF"/>
                </a:solidFill>
              </a:rPr>
              <a:t>e</a:t>
            </a:r>
            <a:r>
              <a:rPr lang="de-DE" dirty="0">
                <a:solidFill>
                  <a:srgbClr val="FFFFFF"/>
                </a:solidFill>
              </a:rPr>
              <a:t>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Betrachtet den folgenden Code. Welche Zahl wird gedruckt?</a:t>
            </a:r>
          </a:p>
        </p:txBody>
      </p:sp>
    </p:spTree>
    <p:extLst>
      <p:ext uri="{BB962C8B-B14F-4D97-AF65-F5344CB8AC3E}">
        <p14:creationId xmlns:p14="http://schemas.microsoft.com/office/powerpoint/2010/main" val="1617400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</a:t>
            </a:r>
            <a:r>
              <a:rPr lang="de-DE" dirty="0" err="1"/>
              <a:t>e</a:t>
            </a:r>
            <a:r>
              <a:rPr lang="de-DE" dirty="0"/>
              <a:t>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e-DE" sz="88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8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stdio.h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8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88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8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stdlib.h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8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void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upgrade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*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*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8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18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main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*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88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malloc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sizeof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*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8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5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upgrade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88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printf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88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88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de-DE" sz="8800" b="0" dirty="0" err="1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*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de-DE" sz="8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de-DE" sz="16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de-D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0281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f)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Betrachtet den folgenden Code. Welche Zahl wird gedruckt?</a:t>
            </a:r>
          </a:p>
        </p:txBody>
      </p:sp>
    </p:spTree>
    <p:extLst>
      <p:ext uri="{BB962C8B-B14F-4D97-AF65-F5344CB8AC3E}">
        <p14:creationId xmlns:p14="http://schemas.microsoft.com/office/powerpoint/2010/main" val="19594334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f)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e-DE" sz="88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8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stdio.h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8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88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88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stdlib.h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88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void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upgrade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*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 {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88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8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18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b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88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main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*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88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malloc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sizeof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*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88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5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upgrade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88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printf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88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88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de-DE" sz="8800" b="0" dirty="0" err="1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</a:t>
            </a:r>
            <a:r>
              <a:rPr lang="de-DE" sz="88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*</a:t>
            </a:r>
            <a:r>
              <a:rPr lang="de-DE" sz="8800" b="0" dirty="0" err="1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88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  <a:br>
              <a:rPr lang="de-DE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de-DE" sz="2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44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g)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Betrachtet den folgenden Code… Was sind t1, t2 und t3?</a:t>
            </a:r>
          </a:p>
        </p:txBody>
      </p:sp>
    </p:spTree>
    <p:extLst>
      <p:ext uri="{BB962C8B-B14F-4D97-AF65-F5344CB8AC3E}">
        <p14:creationId xmlns:p14="http://schemas.microsoft.com/office/powerpoint/2010/main" val="1992871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</a:t>
            </a:r>
            <a:r>
              <a:rPr lang="de-DE" dirty="0" err="1"/>
              <a:t>g</a:t>
            </a:r>
            <a:r>
              <a:rPr lang="de-DE" dirty="0"/>
              <a:t>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e-DE" sz="60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60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60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stdio.h</a:t>
            </a:r>
            <a:r>
              <a:rPr lang="de-DE" sz="60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60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60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60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60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stdlib.h</a:t>
            </a:r>
            <a:r>
              <a:rPr lang="de-DE" sz="60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60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typedef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mystruct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{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zahl1;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zahl2;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zahl3;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 </a:t>
            </a:r>
            <a:r>
              <a:rPr lang="de-DE" sz="60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mystruct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main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mystruct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test1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mystruct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*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test2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60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malloc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sizeof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60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mystruct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t1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sizeof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6000" b="0" dirty="0" err="1">
                <a:solidFill>
                  <a:srgbClr val="2B91A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mystruct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t2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sizeof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test1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t3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60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sizeof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test2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60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printf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60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6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t1: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60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\n</a:t>
            </a:r>
            <a:r>
              <a:rPr lang="de-DE" sz="6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t2: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60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\n</a:t>
            </a:r>
            <a:r>
              <a:rPr lang="de-DE" sz="6000" b="0" dirty="0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t3: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60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de-DE" sz="6000" b="0" dirty="0" err="1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</a:t>
            </a:r>
            <a:r>
              <a:rPr lang="de-DE" sz="60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t1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t2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</a:t>
            </a:r>
            <a:r>
              <a:rPr lang="de-DE" sz="60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t3</a:t>
            </a: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60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  <a:br>
              <a:rPr lang="de-DE" sz="6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de-DE" sz="66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4245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Aufgabe 1.2 h)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Sie schreiben folgenden Code. Ihr Programm stürzt jedoch ab. Was ist passiert?</a:t>
            </a:r>
          </a:p>
        </p:txBody>
      </p:sp>
    </p:spTree>
    <p:extLst>
      <p:ext uri="{BB962C8B-B14F-4D97-AF65-F5344CB8AC3E}">
        <p14:creationId xmlns:p14="http://schemas.microsoft.com/office/powerpoint/2010/main" val="35702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50B6E-B7A7-B17C-C8D2-7C12C9C58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 – Aufgabe 1.2 </a:t>
            </a:r>
            <a:r>
              <a:rPr lang="de-DE" dirty="0" err="1"/>
              <a:t>g</a:t>
            </a:r>
            <a:r>
              <a:rPr lang="de-DE" dirty="0"/>
              <a:t>)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0FE3DD-F29D-CB0B-2963-E5FDC758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stdio.h</a:t>
            </a:r>
            <a:r>
              <a:rPr lang="de-DE" sz="22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de-DE" sz="2200" b="0" dirty="0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#</a:t>
            </a:r>
            <a:r>
              <a:rPr lang="de-DE" sz="2200" b="0" dirty="0" err="1">
                <a:solidFill>
                  <a:srgbClr val="80808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include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22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&lt;</a:t>
            </a:r>
            <a:r>
              <a:rPr lang="de-DE" sz="2200" b="0" dirty="0" err="1">
                <a:solidFill>
                  <a:srgbClr val="A31515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stdlib.h</a:t>
            </a:r>
            <a:r>
              <a:rPr lang="de-DE" sz="22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&gt;</a:t>
            </a:r>
            <a:endParaRPr lang="de-DE" sz="22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r>
              <a:rPr lang="de-DE" sz="22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</a:t>
            </a:r>
            <a:r>
              <a:rPr lang="de-DE" sz="22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main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() {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int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*</a:t>
            </a:r>
            <a:r>
              <a:rPr lang="de-DE" sz="2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 = </a:t>
            </a:r>
            <a:r>
              <a:rPr lang="de-DE" sz="22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60412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	</a:t>
            </a:r>
            <a:r>
              <a:rPr lang="de-DE" sz="2200" b="0" dirty="0" err="1">
                <a:solidFill>
                  <a:srgbClr val="7453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printf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(</a:t>
            </a:r>
            <a:r>
              <a:rPr lang="de-DE" sz="22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1F377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%d</a:t>
            </a:r>
            <a:r>
              <a:rPr lang="de-DE" sz="2200" b="0" dirty="0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\</a:t>
            </a:r>
            <a:r>
              <a:rPr lang="de-DE" sz="2200" b="0" dirty="0" err="1">
                <a:solidFill>
                  <a:srgbClr val="B776FB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n</a:t>
            </a:r>
            <a:r>
              <a:rPr lang="de-DE" sz="2200" b="0" dirty="0">
                <a:solidFill>
                  <a:srgbClr val="E21F1F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"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, *</a:t>
            </a:r>
            <a:r>
              <a:rPr lang="de-DE" sz="22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meinezahl</a:t>
            </a: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r>
              <a:rPr lang="de-DE" sz="22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  <a:t>}</a:t>
            </a:r>
            <a:br>
              <a:rPr lang="de-DE" sz="4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Menlo" panose="020B0609030804020204" pitchFamily="49" charset="0"/>
              </a:rPr>
            </a:br>
            <a:endParaRPr lang="de-DE" sz="4400" b="0" dirty="0">
              <a:solidFill>
                <a:srgbClr val="000000"/>
              </a:solidFill>
              <a:effectLst/>
              <a:highlight>
                <a:srgbClr val="FFFFFF"/>
              </a:highlight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149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DCF9C-47DC-2F37-984C-FC0302E2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 – Meine Tipps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532051-EB05-ED09-2017-7027A4D27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dirty="0"/>
              <a:t>Im Folgenden ein (kleines) Sammelsurium an weiteren häufigen Fehlerquellen</a:t>
            </a:r>
          </a:p>
        </p:txBody>
      </p:sp>
    </p:spTree>
    <p:extLst>
      <p:ext uri="{BB962C8B-B14F-4D97-AF65-F5344CB8AC3E}">
        <p14:creationId xmlns:p14="http://schemas.microsoft.com/office/powerpoint/2010/main" val="1772647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06FC3-D63C-7DC3-CD76-EF7EDD8D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Achtung!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413EEC9-3CCB-9548-0F6C-840F8B930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Arrays…</a:t>
            </a:r>
          </a:p>
          <a:p>
            <a:r>
              <a:rPr lang="de-DE" dirty="0"/>
              <a:t>Char vs. String</a:t>
            </a:r>
          </a:p>
          <a:p>
            <a:r>
              <a:rPr lang="de-DE" dirty="0"/>
              <a:t>Uninitialized Values &amp; Pointers</a:t>
            </a:r>
          </a:p>
          <a:p>
            <a:r>
              <a:rPr lang="de-DE" dirty="0" err="1"/>
              <a:t>Leaky</a:t>
            </a:r>
            <a:r>
              <a:rPr lang="de-DE" dirty="0"/>
              <a:t> </a:t>
            </a:r>
            <a:r>
              <a:rPr lang="de-DE" dirty="0" err="1"/>
              <a:t>memory</a:t>
            </a:r>
            <a:endParaRPr lang="de-DE" dirty="0"/>
          </a:p>
          <a:p>
            <a:r>
              <a:rPr lang="de-DE" dirty="0"/>
              <a:t>Data </a:t>
            </a:r>
            <a:r>
              <a:rPr lang="de-DE" dirty="0" err="1"/>
              <a:t>structure</a:t>
            </a:r>
            <a:r>
              <a:rPr lang="de-DE" dirty="0"/>
              <a:t> </a:t>
            </a:r>
            <a:r>
              <a:rPr lang="de-DE" dirty="0" err="1"/>
              <a:t>alignment</a:t>
            </a:r>
            <a:endParaRPr lang="de-DE" dirty="0"/>
          </a:p>
          <a:p>
            <a:r>
              <a:rPr lang="de-DE" dirty="0" err="1"/>
              <a:t>Bitfields</a:t>
            </a:r>
            <a:r>
              <a:rPr lang="de-DE" dirty="0"/>
              <a:t> in </a:t>
            </a:r>
            <a:r>
              <a:rPr lang="de-DE" dirty="0" err="1"/>
              <a:t>Structs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544926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013497-9574-A1A7-FDC2-E9A0C807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Empfehlung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208970F-026E-E8FD-87BC-9E85CF5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Kompiliert mit so vielen Warnung wie möglich!</a:t>
            </a:r>
          </a:p>
          <a:p>
            <a:r>
              <a:rPr lang="de-DE" dirty="0"/>
              <a:t>Benutzt mindestens…</a:t>
            </a:r>
          </a:p>
          <a:p>
            <a:pPr lvl="1"/>
            <a:r>
              <a:rPr lang="de-DE" dirty="0"/>
              <a:t>-Wall, -</a:t>
            </a:r>
            <a:r>
              <a:rPr lang="de-DE" dirty="0" err="1"/>
              <a:t>Wextra</a:t>
            </a:r>
            <a:endParaRPr lang="de-DE" dirty="0"/>
          </a:p>
          <a:p>
            <a:pPr lvl="1"/>
            <a:r>
              <a:rPr lang="de-DE" dirty="0" err="1"/>
              <a:t>clang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-Wall -</a:t>
            </a:r>
            <a:r>
              <a:rPr lang="de-DE" dirty="0" err="1">
                <a:solidFill>
                  <a:srgbClr val="FF0000"/>
                </a:solidFill>
              </a:rPr>
              <a:t>Wextra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-o </a:t>
            </a:r>
            <a:r>
              <a:rPr lang="de-DE" dirty="0" err="1"/>
              <a:t>my_executable</a:t>
            </a:r>
            <a:r>
              <a:rPr lang="de-DE" dirty="0"/>
              <a:t> </a:t>
            </a:r>
            <a:r>
              <a:rPr lang="de-DE" dirty="0" err="1"/>
              <a:t>my_c_file.c</a:t>
            </a:r>
            <a:endParaRPr lang="de-DE" dirty="0"/>
          </a:p>
          <a:p>
            <a:r>
              <a:rPr lang="de-DE" dirty="0"/>
              <a:t>Noch besser, zusätzlich noch…</a:t>
            </a:r>
          </a:p>
          <a:p>
            <a:pPr lvl="1"/>
            <a:r>
              <a:rPr lang="de-DE" dirty="0"/>
              <a:t>-</a:t>
            </a:r>
            <a:r>
              <a:rPr lang="de-DE" dirty="0" err="1"/>
              <a:t>Werror</a:t>
            </a:r>
            <a:r>
              <a:rPr lang="de-DE" dirty="0"/>
              <a:t> (verhindert die Kompilierung unter Warnungen)</a:t>
            </a:r>
          </a:p>
          <a:p>
            <a:pPr lvl="1"/>
            <a:r>
              <a:rPr lang="de-DE" dirty="0"/>
              <a:t>-</a:t>
            </a:r>
            <a:r>
              <a:rPr lang="de-DE" dirty="0" err="1"/>
              <a:t>Wshadow</a:t>
            </a:r>
            <a:r>
              <a:rPr lang="de-DE" dirty="0"/>
              <a:t> -</a:t>
            </a:r>
            <a:r>
              <a:rPr lang="de-DE" dirty="0" err="1"/>
              <a:t>Wmissing-declarations</a:t>
            </a:r>
            <a:r>
              <a:rPr lang="de-DE" dirty="0"/>
              <a:t> -</a:t>
            </a:r>
            <a:r>
              <a:rPr lang="de-DE" dirty="0" err="1"/>
              <a:t>Wno</a:t>
            </a:r>
            <a:r>
              <a:rPr lang="de-DE" dirty="0"/>
              <a:t>-</a:t>
            </a:r>
            <a:r>
              <a:rPr lang="de-DE" dirty="0" err="1"/>
              <a:t>unused</a:t>
            </a:r>
            <a:r>
              <a:rPr lang="de-DE" dirty="0"/>
              <a:t>-parameter -</a:t>
            </a:r>
            <a:r>
              <a:rPr lang="de-DE" dirty="0" err="1"/>
              <a:t>Wshift</a:t>
            </a:r>
            <a:r>
              <a:rPr lang="de-DE" dirty="0"/>
              <a:t>-overflow -</a:t>
            </a:r>
            <a:r>
              <a:rPr lang="de-DE" dirty="0" err="1"/>
              <a:t>Wformat-security</a:t>
            </a:r>
            <a:r>
              <a:rPr lang="de-DE" dirty="0"/>
              <a:t> -</a:t>
            </a:r>
            <a:r>
              <a:rPr lang="de-DE" dirty="0" err="1"/>
              <a:t>Wnull-dereference</a:t>
            </a:r>
            <a:r>
              <a:rPr lang="de-DE" dirty="0"/>
              <a:t> -</a:t>
            </a:r>
            <a:r>
              <a:rPr lang="de-DE" dirty="0" err="1"/>
              <a:t>Wstack-protector</a:t>
            </a:r>
            <a:r>
              <a:rPr lang="de-DE" dirty="0"/>
              <a:t> -</a:t>
            </a:r>
            <a:r>
              <a:rPr lang="de-DE" dirty="0" err="1"/>
              <a:t>Walloca</a:t>
            </a:r>
            <a:r>
              <a:rPr lang="de-DE" dirty="0"/>
              <a:t> -</a:t>
            </a:r>
            <a:r>
              <a:rPr lang="de-DE" dirty="0" err="1"/>
              <a:t>Warray-bounds</a:t>
            </a:r>
            <a:r>
              <a:rPr lang="de-DE" dirty="0"/>
              <a:t> -</a:t>
            </a:r>
            <a:r>
              <a:rPr lang="de-DE" dirty="0" err="1"/>
              <a:t>Wimplicit-fallthrough</a:t>
            </a:r>
            <a:r>
              <a:rPr lang="de-DE" dirty="0"/>
              <a:t> -</a:t>
            </a:r>
            <a:r>
              <a:rPr lang="de-DE" dirty="0" err="1"/>
              <a:t>Wliteral-conversion</a:t>
            </a:r>
            <a:r>
              <a:rPr lang="de-DE" dirty="0"/>
              <a:t> -</a:t>
            </a:r>
            <a:r>
              <a:rPr lang="de-DE" dirty="0" err="1"/>
              <a:t>Wcast</a:t>
            </a:r>
            <a:r>
              <a:rPr lang="de-DE" dirty="0"/>
              <a:t>-qual -</a:t>
            </a:r>
            <a:r>
              <a:rPr lang="de-DE" dirty="0" err="1"/>
              <a:t>Wundef</a:t>
            </a:r>
            <a:r>
              <a:rPr lang="de-DE" dirty="0"/>
              <a:t> -</a:t>
            </a:r>
            <a:r>
              <a:rPr lang="de-DE" dirty="0" err="1"/>
              <a:t>Wstrict-prototypes</a:t>
            </a:r>
            <a:r>
              <a:rPr lang="de-DE" dirty="0"/>
              <a:t> -</a:t>
            </a:r>
            <a:r>
              <a:rPr lang="de-DE" dirty="0" err="1"/>
              <a:t>Wswitch</a:t>
            </a:r>
            <a:r>
              <a:rPr lang="de-DE" dirty="0"/>
              <a:t>-default -</a:t>
            </a:r>
            <a:r>
              <a:rPr lang="de-DE" dirty="0" err="1"/>
              <a:t>Wcast-align</a:t>
            </a:r>
            <a:r>
              <a:rPr lang="de-DE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748377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CE750E9-2950-1A73-7A17-26BF4083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 Wichitige Tools 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1F47622B-4E1E-23E1-F1F4-7E9144FAE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gdb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valgrind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make und co.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7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293FEBD-4703-0320-7AA7-95010D8B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de-DE" sz="5400"/>
              <a:t>Wichtige Tools</a:t>
            </a:r>
          </a:p>
        </p:txBody>
      </p:sp>
      <p:pic>
        <p:nvPicPr>
          <p:cNvPr id="7" name="Picture 6" descr="Stillleben mit Holzlöffeln im Krug auf einem Küchentresen">
            <a:extLst>
              <a:ext uri="{FF2B5EF4-FFF2-40B4-BE49-F238E27FC236}">
                <a16:creationId xmlns:a16="http://schemas.microsoft.com/office/drawing/2014/main" id="{D849B39B-122A-1939-61A2-C7F8BC8DCE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721" r="10947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FEB3782-1B97-7894-3CB6-AD87AE601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de-DE" sz="2200" b="1" dirty="0" err="1"/>
              <a:t>gdb</a:t>
            </a:r>
            <a:r>
              <a:rPr lang="de-DE" sz="2200" b="1" dirty="0"/>
              <a:t> (</a:t>
            </a:r>
            <a:r>
              <a:rPr lang="de-DE" sz="2200" b="1" dirty="0" err="1"/>
              <a:t>mac</a:t>
            </a:r>
            <a:r>
              <a:rPr lang="de-DE" sz="2200" b="1" dirty="0"/>
              <a:t>: </a:t>
            </a:r>
            <a:r>
              <a:rPr lang="de-DE" sz="2200" b="1" dirty="0" err="1"/>
              <a:t>lldb</a:t>
            </a:r>
            <a:r>
              <a:rPr lang="de-DE" sz="2200" b="1" dirty="0"/>
              <a:t>)</a:t>
            </a:r>
            <a:r>
              <a:rPr lang="de-DE" sz="2200" dirty="0"/>
              <a:t> – Time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debug</a:t>
            </a:r>
            <a:r>
              <a:rPr lang="de-DE" sz="2200" dirty="0"/>
              <a:t>!</a:t>
            </a:r>
          </a:p>
          <a:p>
            <a:r>
              <a:rPr lang="de-DE" sz="2200" b="1" dirty="0" err="1"/>
              <a:t>valgrind</a:t>
            </a:r>
            <a:r>
              <a:rPr lang="de-DE" sz="2200" b="1" dirty="0"/>
              <a:t> (</a:t>
            </a:r>
            <a:r>
              <a:rPr lang="de-DE" sz="2200" b="1" dirty="0" err="1"/>
              <a:t>mac</a:t>
            </a:r>
            <a:r>
              <a:rPr lang="de-DE" sz="2200" b="1" dirty="0"/>
              <a:t>: </a:t>
            </a:r>
            <a:r>
              <a:rPr lang="de-DE" sz="2200" b="1" dirty="0" err="1"/>
              <a:t>leaks</a:t>
            </a:r>
            <a:r>
              <a:rPr lang="de-DE" sz="2200" b="1" dirty="0"/>
              <a:t>) </a:t>
            </a:r>
            <a:r>
              <a:rPr lang="de-DE" sz="2200" dirty="0"/>
              <a:t>– Time </a:t>
            </a:r>
            <a:r>
              <a:rPr lang="de-DE" sz="2200" dirty="0" err="1"/>
              <a:t>to</a:t>
            </a:r>
            <a:r>
              <a:rPr lang="de-DE" sz="2200" dirty="0"/>
              <a:t> find </a:t>
            </a:r>
            <a:r>
              <a:rPr lang="de-DE" sz="2200" dirty="0" err="1"/>
              <a:t>memory</a:t>
            </a:r>
            <a:r>
              <a:rPr lang="de-DE" sz="2200" dirty="0"/>
              <a:t> </a:t>
            </a:r>
            <a:r>
              <a:rPr lang="de-DE" sz="2200" dirty="0" err="1"/>
              <a:t>leaks</a:t>
            </a:r>
            <a:r>
              <a:rPr lang="de-DE" sz="2200" dirty="0"/>
              <a:t>!</a:t>
            </a:r>
          </a:p>
          <a:p>
            <a:r>
              <a:rPr lang="de-DE" sz="2200" b="1" dirty="0" err="1"/>
              <a:t>make</a:t>
            </a:r>
            <a:r>
              <a:rPr lang="de-DE" sz="2200" dirty="0"/>
              <a:t> – </a:t>
            </a:r>
            <a:r>
              <a:rPr lang="de-DE" sz="2200" dirty="0" err="1"/>
              <a:t>Make</a:t>
            </a:r>
            <a:r>
              <a:rPr lang="de-DE" sz="2200" dirty="0"/>
              <a:t> </a:t>
            </a:r>
            <a:r>
              <a:rPr lang="de-DE" sz="2200" dirty="0" err="1"/>
              <a:t>your</a:t>
            </a:r>
            <a:r>
              <a:rPr lang="de-DE" sz="2200" dirty="0"/>
              <a:t> </a:t>
            </a:r>
            <a:r>
              <a:rPr lang="de-DE" sz="2200" dirty="0" err="1"/>
              <a:t>life</a:t>
            </a:r>
            <a:r>
              <a:rPr lang="de-DE" sz="2200" dirty="0"/>
              <a:t> </a:t>
            </a:r>
            <a:r>
              <a:rPr lang="de-DE" sz="2200" dirty="0" err="1"/>
              <a:t>easier</a:t>
            </a:r>
            <a:r>
              <a:rPr lang="de-DE" sz="2200" dirty="0"/>
              <a:t>!</a:t>
            </a:r>
          </a:p>
          <a:p>
            <a:endParaRPr lang="de-DE" sz="2200" dirty="0"/>
          </a:p>
          <a:p>
            <a:r>
              <a:rPr lang="de-DE" sz="2200" dirty="0"/>
              <a:t>Am besten ihr schaut euch Guides/Tutorials an, sobald ihr die Programme benötigt </a:t>
            </a:r>
          </a:p>
          <a:p>
            <a:r>
              <a:rPr lang="de-DE" sz="2200" dirty="0" err="1"/>
              <a:t>Make</a:t>
            </a:r>
            <a:r>
              <a:rPr lang="de-DE" sz="2200" dirty="0"/>
              <a:t> werdet ihr selber nicht benötigen, aber nice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know</a:t>
            </a:r>
            <a:r>
              <a:rPr lang="de-DE" sz="2200" dirty="0"/>
              <a:t>, wenn man sich dafür interessiert </a:t>
            </a:r>
          </a:p>
          <a:p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39232615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Kalender auf Tisch">
            <a:extLst>
              <a:ext uri="{FF2B5EF4-FFF2-40B4-BE49-F238E27FC236}">
                <a16:creationId xmlns:a16="http://schemas.microsoft.com/office/drawing/2014/main" id="{B4F67104-8337-9DE2-45FA-C4610B440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4373414-2B41-1BF1-C131-961DD800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Danke, für die Aufmerksamkeit! Bis nächste Woche!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396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1858</Words>
  <Application>Microsoft Macintosh PowerPoint</Application>
  <PresentationFormat>Breitbild</PresentationFormat>
  <Paragraphs>299</Paragraphs>
  <Slides>43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49" baseType="lpstr">
      <vt:lpstr>-apple-system</vt:lpstr>
      <vt:lpstr>Arial</vt:lpstr>
      <vt:lpstr>Calibri</vt:lpstr>
      <vt:lpstr>Calibri Light</vt:lpstr>
      <vt:lpstr>Menlo</vt:lpstr>
      <vt:lpstr>Office</vt:lpstr>
      <vt:lpstr>Tutorium 1</vt:lpstr>
      <vt:lpstr>Vorab – Wer bin ich?</vt:lpstr>
      <vt:lpstr>Vorab - Organisatorisches</vt:lpstr>
      <vt:lpstr>Vorab – Ablauf</vt:lpstr>
      <vt:lpstr>1. Setup</vt:lpstr>
      <vt:lpstr>Empfehlungen</vt:lpstr>
      <vt:lpstr>Empfehlungen</vt:lpstr>
      <vt:lpstr>2. C - Refresher</vt:lpstr>
      <vt:lpstr>Warum C?</vt:lpstr>
      <vt:lpstr>Warum C?</vt:lpstr>
      <vt:lpstr>Warum C?</vt:lpstr>
      <vt:lpstr>Warum C?</vt:lpstr>
      <vt:lpstr>Warum C?</vt:lpstr>
      <vt:lpstr>C-Basics </vt:lpstr>
      <vt:lpstr>C-Basics </vt:lpstr>
      <vt:lpstr>C – Aufgabe 1.2 a) </vt:lpstr>
      <vt:lpstr>C – Aufgabe 1.2 a) </vt:lpstr>
      <vt:lpstr>C – Aufgabe 1.2 a) </vt:lpstr>
      <vt:lpstr>C – Aufgabe 1.2 a) </vt:lpstr>
      <vt:lpstr>C – Aufgabe 1.2 a) </vt:lpstr>
      <vt:lpstr>C – Aufgabe 1.2 a) </vt:lpstr>
      <vt:lpstr>C – Aufgabe 1.2 a) </vt:lpstr>
      <vt:lpstr>C – Aufgabe 1.2 b) </vt:lpstr>
      <vt:lpstr>C – Aufgabe 1.2 b) </vt:lpstr>
      <vt:lpstr>C – Aufgabe 1.2 b) </vt:lpstr>
      <vt:lpstr>C – Aufgabe 1.2 c) </vt:lpstr>
      <vt:lpstr>C – Aufgabe 1.2 c) </vt:lpstr>
      <vt:lpstr>C – Aufgabe 1.2 d) </vt:lpstr>
      <vt:lpstr>C – Aufgabe 1.2 d) </vt:lpstr>
      <vt:lpstr>C – Aufgabe 1.2 e) </vt:lpstr>
      <vt:lpstr>C – Aufgabe 1.2 e) </vt:lpstr>
      <vt:lpstr>C – Aufgabe 1.2 f) </vt:lpstr>
      <vt:lpstr>C – Aufgabe 1.2 f) </vt:lpstr>
      <vt:lpstr>C – Aufgabe 1.2 g) </vt:lpstr>
      <vt:lpstr>C – Aufgabe 1.2 g) </vt:lpstr>
      <vt:lpstr>C – Aufgabe 1.2 h) </vt:lpstr>
      <vt:lpstr>C – Aufgabe 1.2 g) </vt:lpstr>
      <vt:lpstr>C – Meine Tipps</vt:lpstr>
      <vt:lpstr>Achtung! </vt:lpstr>
      <vt:lpstr>Empfehlung</vt:lpstr>
      <vt:lpstr>3. Wichitige Tools </vt:lpstr>
      <vt:lpstr>Wichtige Tools</vt:lpstr>
      <vt:lpstr>Danke, für die Aufmerksamkeit! Bis nächste Woche!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Tutorium 1</dc:title>
  <dc:creator>TU-Pseudonym 4154380243227850</dc:creator>
  <cp:lastModifiedBy>TU-Pseudonym 4154380243227850</cp:lastModifiedBy>
  <cp:revision>5</cp:revision>
  <dcterms:created xsi:type="dcterms:W3CDTF">2024-04-22T15:37:16Z</dcterms:created>
  <dcterms:modified xsi:type="dcterms:W3CDTF">2024-04-25T15:18:30Z</dcterms:modified>
</cp:coreProperties>
</file>