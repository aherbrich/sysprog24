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9" r:id="rId3"/>
    <p:sldId id="305" r:id="rId4"/>
    <p:sldId id="303" r:id="rId5"/>
    <p:sldId id="306" r:id="rId6"/>
    <p:sldId id="304" r:id="rId7"/>
    <p:sldId id="307" r:id="rId8"/>
    <p:sldId id="299" r:id="rId9"/>
    <p:sldId id="308" r:id="rId10"/>
    <p:sldId id="300" r:id="rId11"/>
    <p:sldId id="309" r:id="rId12"/>
    <p:sldId id="310" r:id="rId13"/>
    <p:sldId id="311" r:id="rId14"/>
    <p:sldId id="312" r:id="rId15"/>
    <p:sldId id="301" r:id="rId16"/>
    <p:sldId id="317" r:id="rId17"/>
    <p:sldId id="315" r:id="rId18"/>
    <p:sldId id="314" r:id="rId19"/>
    <p:sldId id="316" r:id="rId20"/>
    <p:sldId id="298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26"/>
    <p:restoredTop sz="94141"/>
  </p:normalViewPr>
  <p:slideViewPr>
    <p:cSldViewPr snapToGrid="0">
      <p:cViewPr varScale="1">
        <p:scale>
          <a:sx n="116" d="100"/>
          <a:sy n="116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80AF94-E469-5F68-0959-67126CC13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950890-7A19-793F-B925-F7EAB7E36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9DC92A-5241-0969-6937-73BB7CC2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38D3-ED82-4F4A-8D89-517188837633}" type="datetimeFigureOut">
              <a:rPr lang="de-DE" smtClean="0"/>
              <a:t>28.04.24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6D38DB-19AE-146C-E2A5-0A8E35BFB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352D44-688A-9C3B-7E8E-FBBB46300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45625-98A1-A94D-B024-FFAFB745F9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169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1D2BFD-7198-589A-E829-1A22F07B7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821260-D1AC-8B4C-BE90-4EC48BC29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ECDE21-8BA5-D4A8-AE20-4CDDC03F6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38D3-ED82-4F4A-8D89-517188837633}" type="datetimeFigureOut">
              <a:rPr lang="de-DE" smtClean="0"/>
              <a:t>28.04.24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C55BB7-4BEC-170E-954C-DE442555D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4C250F-D431-E44B-2BEF-96AAD8DE1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45625-98A1-A94D-B024-FFAFB745F9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6776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062BB9-74D2-38B8-169A-F30DE7634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95241F-E9AF-BF58-3354-1A83BF10D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6B02B0-A651-C022-6F0A-8A854630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38D3-ED82-4F4A-8D89-517188837633}" type="datetimeFigureOut">
              <a:rPr lang="de-DE" smtClean="0"/>
              <a:t>28.04.24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D867EB-C1D3-5D55-C08B-C9110E44C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78EF30-E73B-5880-6105-34047859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45625-98A1-A94D-B024-FFAFB745F9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6485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142533-EE79-6BA7-2B2A-858A7FD84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1BBE44-EF2C-A934-7C29-D9D2B96CA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F12415E-DA9D-D699-368C-66980812C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EAA81FC-FB98-F70C-10E0-490B4CDAB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38D3-ED82-4F4A-8D89-517188837633}" type="datetimeFigureOut">
              <a:rPr lang="de-DE" smtClean="0"/>
              <a:t>28.04.24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EBC2568-D980-DC64-C7E0-48E8BEC3C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C9946A2-3571-3525-AAC9-4622D1C82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45625-98A1-A94D-B024-FFAFB745F9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403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0ED6B0-714F-0C28-2656-79D87A28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126EFB-199F-2E74-118C-1C6BF4AA2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20E8DA-DED2-90D9-B4E2-77F9901C8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B16536B-CBE9-4239-DE40-7DCA52FE7B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958CE77-ABE8-FC88-BF11-2BDC82623B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1E9A081-E704-0C6B-28B6-C36F1B4BF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38D3-ED82-4F4A-8D89-517188837633}" type="datetimeFigureOut">
              <a:rPr lang="de-DE" smtClean="0"/>
              <a:t>28.04.24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C590CC8-0D47-031B-5267-9A8433D23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FBAD545-FA5A-7D22-2D7B-366E0AEC4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45625-98A1-A94D-B024-FFAFB745F9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246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254925-BE65-8BF2-A57B-6F1753052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3BC6461-3A5E-F757-AB97-B7276649A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38D3-ED82-4F4A-8D89-517188837633}" type="datetimeFigureOut">
              <a:rPr lang="de-DE" smtClean="0"/>
              <a:t>28.04.24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6120FE-66EC-F2BD-FC03-666ED92B4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7B4C681-8634-3E8B-3854-1670A1A29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45625-98A1-A94D-B024-FFAFB745F9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6229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ADD7724-662A-B5AA-E815-F069694AA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38D3-ED82-4F4A-8D89-517188837633}" type="datetimeFigureOut">
              <a:rPr lang="de-DE" smtClean="0"/>
              <a:t>28.04.24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3B04321-EC32-68AD-A6DB-BDFB4D00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7FA8A69-56DA-4564-7273-CA16E7FD8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45625-98A1-A94D-B024-FFAFB745F9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2117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D23E9B-CA3F-FCEC-455D-F3B2017F7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024B75-7988-7743-3D37-B02AA5C1A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46A853B-F53E-E3BC-0E94-8C8406172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91BA553-526E-B4AC-3D18-18B7A09AE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38D3-ED82-4F4A-8D89-517188837633}" type="datetimeFigureOut">
              <a:rPr lang="de-DE" smtClean="0"/>
              <a:t>28.04.24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26FD69-A507-7A54-C69D-51A8C6363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5AB5BA2-C8CA-E706-0146-C6649CA1E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45625-98A1-A94D-B024-FFAFB745F9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701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BFEB1E-0D93-804F-7C94-639954455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832B974-5C1A-0838-F214-EECB0B1590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D731725-A8D4-8F4A-9912-0F047AF1D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C93F4C-2386-B921-5981-C33BE02EA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38D3-ED82-4F4A-8D89-517188837633}" type="datetimeFigureOut">
              <a:rPr lang="de-DE" smtClean="0"/>
              <a:t>28.04.24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3EDBE9E-E5E5-19CD-3685-24188C6D4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676A12-34B7-8408-FDEA-2EABC2368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45625-98A1-A94D-B024-FFAFB745F9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5738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A1FE6A-CEE5-2F6F-DB29-278E8CAA4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FECBDDA-C0F8-5F61-26A7-BC51057F3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A09C0C-D793-2F4F-AD1A-83EA31DBE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38D3-ED82-4F4A-8D89-517188837633}" type="datetimeFigureOut">
              <a:rPr lang="de-DE" smtClean="0"/>
              <a:t>28.04.24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DCC95E-1120-FF15-330E-CCA067104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F6B68A-4460-F778-CEE9-4FB459B3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45625-98A1-A94D-B024-FFAFB745F9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0898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C8FA718-9BA8-1BDE-BE6A-94FCCA6D0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91F3A90-35DB-72C9-1DFC-D853C386A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386AD0-DEE2-FE34-1F94-215234AB5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38D3-ED82-4F4A-8D89-517188837633}" type="datetimeFigureOut">
              <a:rPr lang="de-DE" smtClean="0"/>
              <a:t>28.04.24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1A4A85-409F-AAE4-04BB-A3439D6AD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A15C6E-4EF7-8E91-DE49-928E79DB0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45625-98A1-A94D-B024-FFAFB745F9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8567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1933F9C-45F9-7EF6-53AC-524DDA4F7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2571B3-9919-FE93-F1FC-1774FAD68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3D35E7-3A01-B01B-A59F-E485EB6658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38D3-ED82-4F4A-8D89-517188837633}" type="datetimeFigureOut">
              <a:rPr lang="de-DE" smtClean="0"/>
              <a:t>28.04.24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D7E3E2-B3A4-EC05-B495-76A9373135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F5C4A2-6AFA-56C7-0B5A-B58A7E88A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45625-98A1-A94D-B024-FFAFB745F9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5500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52567CF-4FE5-6E43-A88A-FF52C4CEA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de-DE" sz="6600" dirty="0"/>
              <a:t>Tutorium 2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98361BB-8130-A872-E4B9-2966BE056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de-DE" dirty="0"/>
              <a:t>Prozesse und Parallelität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774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Aufgabe 1.3 -Parallelisierung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2532051-EB05-ED09-2017-7027A4D2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sz="2400" dirty="0"/>
              <a:t>Wie unterscheidet sich die Herangehensweise von </a:t>
            </a:r>
            <a:r>
              <a:rPr lang="de-DE" sz="2400" i="1" dirty="0" err="1"/>
              <a:t>parbegin</a:t>
            </a:r>
            <a:r>
              <a:rPr lang="de-DE" sz="2400" i="1" dirty="0"/>
              <a:t>/</a:t>
            </a:r>
            <a:r>
              <a:rPr lang="de-DE" sz="2400" i="1" dirty="0" err="1"/>
              <a:t>parend</a:t>
            </a:r>
            <a:r>
              <a:rPr lang="de-DE" sz="2400" i="1" dirty="0"/>
              <a:t> </a:t>
            </a:r>
            <a:r>
              <a:rPr lang="de-DE" sz="2400" dirty="0"/>
              <a:t>und </a:t>
            </a:r>
            <a:r>
              <a:rPr lang="de-DE" sz="2400" i="1" dirty="0" err="1"/>
              <a:t>fork</a:t>
            </a:r>
            <a:r>
              <a:rPr lang="de-DE" sz="2400" i="1" dirty="0"/>
              <a:t>/</a:t>
            </a:r>
            <a:r>
              <a:rPr lang="de-DE" sz="2400" i="1" dirty="0" err="1"/>
              <a:t>join</a:t>
            </a:r>
            <a:r>
              <a:rPr lang="de-DE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78729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Aufgabe 1.3 Lösung</a:t>
            </a:r>
            <a:r>
              <a:rPr lang="de-DE" sz="2800" b="1" dirty="0">
                <a:solidFill>
                  <a:srgbClr val="FFFFFF"/>
                </a:solidFill>
              </a:rPr>
              <a:t> </a:t>
            </a:r>
            <a:r>
              <a:rPr lang="de-DE" sz="2800" dirty="0">
                <a:solidFill>
                  <a:srgbClr val="FFFFFF"/>
                </a:solidFill>
              </a:rPr>
              <a:t>-Parallelisierung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2532051-EB05-ED09-2017-7027A4D2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de-DE" sz="1800" b="1" dirty="0" err="1"/>
              <a:t>parbegin</a:t>
            </a:r>
            <a:r>
              <a:rPr lang="de-DE" sz="1800" b="1" dirty="0"/>
              <a:t>/</a:t>
            </a:r>
            <a:r>
              <a:rPr lang="de-DE" sz="1800" b="1" dirty="0" err="1"/>
              <a:t>parend</a:t>
            </a:r>
            <a:r>
              <a:rPr lang="de-DE" sz="1800" b="1" dirty="0"/>
              <a:t> </a:t>
            </a:r>
          </a:p>
          <a:p>
            <a:pPr lvl="1"/>
            <a:r>
              <a:rPr lang="de-DE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Startet mehrere Prozesse, die unabhängig voneinander arbeiten können</a:t>
            </a:r>
          </a:p>
          <a:p>
            <a:pPr lvl="1"/>
            <a:r>
              <a:rPr lang="de-DE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Alle parallelen Aufgaben beginnen gleichzeitig</a:t>
            </a:r>
          </a:p>
          <a:p>
            <a:pPr lvl="1"/>
            <a:r>
              <a:rPr lang="de-DE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Wartet mit </a:t>
            </a:r>
            <a:r>
              <a:rPr lang="de-DE" sz="1800" b="0" i="1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parend</a:t>
            </a:r>
            <a:r>
              <a:rPr lang="de-DE" sz="1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bis alle parallelen Prozesse abgeschlossen sind, bevor das Programm fortgesetzt wird</a:t>
            </a:r>
          </a:p>
          <a:p>
            <a:r>
              <a:rPr lang="de-DE" sz="1800" b="1" dirty="0" err="1"/>
              <a:t>fork</a:t>
            </a:r>
            <a:r>
              <a:rPr lang="de-DE" sz="1800" b="1" dirty="0"/>
              <a:t>/</a:t>
            </a:r>
            <a:r>
              <a:rPr lang="de-DE" sz="1800" b="1" dirty="0" err="1"/>
              <a:t>join</a:t>
            </a:r>
            <a:r>
              <a:rPr lang="de-DE" sz="1800" b="1" dirty="0"/>
              <a:t> </a:t>
            </a:r>
          </a:p>
          <a:p>
            <a:pPr lvl="1"/>
            <a:r>
              <a:rPr lang="de-DE" sz="1800" i="1" dirty="0" err="1"/>
              <a:t>fork</a:t>
            </a:r>
            <a:r>
              <a:rPr lang="de-DE" sz="1800" dirty="0"/>
              <a:t> erstellt dynamisch einen neuen Child Prozess, der parallel ausgeführt werden kann)</a:t>
            </a:r>
          </a:p>
          <a:p>
            <a:pPr lvl="1"/>
            <a:r>
              <a:rPr lang="de-DE" sz="1800" dirty="0"/>
              <a:t>Mit </a:t>
            </a:r>
            <a:r>
              <a:rPr lang="de-DE" sz="1800" i="1" dirty="0" err="1"/>
              <a:t>join</a:t>
            </a:r>
            <a:r>
              <a:rPr lang="de-DE" sz="1800" dirty="0"/>
              <a:t> kann man genauer steuern, wann und auf welche Prozesse gewartet werden soll. Ermöglicht komplexere Abhängigkeiten. </a:t>
            </a:r>
          </a:p>
        </p:txBody>
      </p:sp>
    </p:spTree>
    <p:extLst>
      <p:ext uri="{BB962C8B-B14F-4D97-AF65-F5344CB8AC3E}">
        <p14:creationId xmlns:p14="http://schemas.microsoft.com/office/powerpoint/2010/main" val="2331153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Aufgabe 1.3 -Parallelisierung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2532051-EB05-ED09-2017-7027A4D2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18641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sz="2400" dirty="0"/>
              <a:t>Gegeben sei der untenstehende Abhängigkeitsgraph. Setzen Sie diesen mithilfe der aus der Vorlesung bekannten Befehle </a:t>
            </a:r>
            <a:r>
              <a:rPr lang="de-DE" sz="2400" i="1" dirty="0" err="1"/>
              <a:t>fork</a:t>
            </a:r>
            <a:r>
              <a:rPr lang="de-DE" sz="2400" i="1" dirty="0"/>
              <a:t>/</a:t>
            </a:r>
            <a:r>
              <a:rPr lang="de-DE" sz="2400" i="1" dirty="0" err="1"/>
              <a:t>join</a:t>
            </a:r>
            <a:r>
              <a:rPr lang="de-DE" sz="2400" i="1" dirty="0"/>
              <a:t> </a:t>
            </a:r>
            <a:r>
              <a:rPr lang="de-DE" sz="2400" dirty="0"/>
              <a:t>und </a:t>
            </a:r>
            <a:r>
              <a:rPr lang="de-DE" sz="2400" i="1" dirty="0" err="1"/>
              <a:t>parbegin</a:t>
            </a:r>
            <a:r>
              <a:rPr lang="de-DE" sz="2400" i="1" dirty="0"/>
              <a:t>/</a:t>
            </a:r>
            <a:r>
              <a:rPr lang="de-DE" sz="2400" i="1" dirty="0" err="1"/>
              <a:t>parend</a:t>
            </a:r>
            <a:r>
              <a:rPr lang="de-DE" sz="2400" i="1" dirty="0"/>
              <a:t> </a:t>
            </a:r>
            <a:r>
              <a:rPr lang="de-DE" sz="2400" dirty="0"/>
              <a:t>in Pseudocode um.</a:t>
            </a:r>
          </a:p>
        </p:txBody>
      </p:sp>
      <p:pic>
        <p:nvPicPr>
          <p:cNvPr id="4" name="Grafik 3" descr="Ein Bild, das Zeichnung, Diagramm, Entwurf, Kreis enthält.&#10;&#10;Automatisch generierte Beschreibung">
            <a:extLst>
              <a:ext uri="{FF2B5EF4-FFF2-40B4-BE49-F238E27FC236}">
                <a16:creationId xmlns:a16="http://schemas.microsoft.com/office/drawing/2014/main" id="{E28EB1DF-35B2-DB3F-7CC7-F218D5AEA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058" y="2558789"/>
            <a:ext cx="5996616" cy="352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697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Aufgabe 1.3 Lösung -Parallelisierung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fik 7" descr="Ein Bild, das Text, Screenshot, Schrift, Zahl enthält.&#10;&#10;Automatisch generierte Beschreibung">
            <a:extLst>
              <a:ext uri="{FF2B5EF4-FFF2-40B4-BE49-F238E27FC236}">
                <a16:creationId xmlns:a16="http://schemas.microsoft.com/office/drawing/2014/main" id="{8CE063A2-4D3D-D4F4-1C75-C7FCD3A69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0237" y="688228"/>
            <a:ext cx="4617283" cy="548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355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Aufgabe 1.3 -Parallelisierung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2532051-EB05-ED09-2017-7027A4D2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sz="2400" dirty="0"/>
              <a:t>Gehen Sie dann wieder den umgekehrten Weg und zeichnen Sie den Abhängigkeitsgraphen aus dem Pseudocode. Haben sich zusätzliche Abhängigkeiten gebildet? </a:t>
            </a:r>
          </a:p>
        </p:txBody>
      </p:sp>
    </p:spTree>
    <p:extLst>
      <p:ext uri="{BB962C8B-B14F-4D97-AF65-F5344CB8AC3E}">
        <p14:creationId xmlns:p14="http://schemas.microsoft.com/office/powerpoint/2010/main" val="1022821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Aufgabe 1.3 Lösung -Parallelisierung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2532051-EB05-ED09-2017-7027A4D2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5565" y="4164654"/>
            <a:ext cx="6558329" cy="1754417"/>
          </a:xfrm>
        </p:spPr>
        <p:txBody>
          <a:bodyPr anchor="ctr">
            <a:normAutofit/>
          </a:bodyPr>
          <a:lstStyle/>
          <a:p>
            <a:r>
              <a:rPr lang="de-DE" sz="1600" dirty="0"/>
              <a:t>Es hat sich nach der Rucktransformation tatsächlich eine neue Abhängigkeit ergeben. P4 muss nun auch auf P6 warten, was im Originalgraph nicht der Fall war.</a:t>
            </a:r>
          </a:p>
          <a:p>
            <a:r>
              <a:rPr lang="de-DE" sz="1600" dirty="0"/>
              <a:t>Bei der Rucktransformation von </a:t>
            </a:r>
            <a:r>
              <a:rPr lang="de-DE" sz="1600" i="1" dirty="0" err="1"/>
              <a:t>fork</a:t>
            </a:r>
            <a:r>
              <a:rPr lang="de-DE" sz="1600" i="1" dirty="0"/>
              <a:t>/</a:t>
            </a:r>
            <a:r>
              <a:rPr lang="de-DE" sz="1600" i="1" dirty="0" err="1"/>
              <a:t>join</a:t>
            </a:r>
            <a:r>
              <a:rPr lang="de-DE" sz="1600" dirty="0"/>
              <a:t> bleibt der Graph genauso erhalten.</a:t>
            </a:r>
            <a:endParaRPr lang="de-DE" sz="2400" dirty="0"/>
          </a:p>
        </p:txBody>
      </p:sp>
      <p:pic>
        <p:nvPicPr>
          <p:cNvPr id="4" name="Grafik 3" descr="Ein Bild, das Entwurf, Diagramm, Zeichnung, weiß enthält.&#10;&#10;Automatisch generierte Beschreibung">
            <a:extLst>
              <a:ext uri="{FF2B5EF4-FFF2-40B4-BE49-F238E27FC236}">
                <a16:creationId xmlns:a16="http://schemas.microsoft.com/office/drawing/2014/main" id="{93F08963-E25E-684C-6A36-32EDF4C17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565" y="1035950"/>
            <a:ext cx="6145592" cy="28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60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Aufgabe 1.4 - Prozessmanagement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2532051-EB05-ED09-2017-7027A4D2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sz="2400" dirty="0"/>
              <a:t>Benennen Sie die möglichen Zustände eines Prozesses und Skizzieren Sie die Übergänge. </a:t>
            </a:r>
          </a:p>
        </p:txBody>
      </p:sp>
    </p:spTree>
    <p:extLst>
      <p:ext uri="{BB962C8B-B14F-4D97-AF65-F5344CB8AC3E}">
        <p14:creationId xmlns:p14="http://schemas.microsoft.com/office/powerpoint/2010/main" val="944984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Aufgabe 1.4 - Prozessmanagement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fik 6" descr="Ein Bild, das Text, Kreis, Screenshot, Diagramm enthält.&#10;&#10;Automatisch generierte Beschreibung">
            <a:extLst>
              <a:ext uri="{FF2B5EF4-FFF2-40B4-BE49-F238E27FC236}">
                <a16:creationId xmlns:a16="http://schemas.microsoft.com/office/drawing/2014/main" id="{08A3B0DD-7C28-F779-8C86-4F4A968FF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058" y="1537607"/>
            <a:ext cx="6214577" cy="378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300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Aufgabe 1.5 - Prozessmodi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2532051-EB05-ED09-2017-7027A4D2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dirty="0"/>
              <a:t>Welche Prozessormodi existieren? Nennen Sie zwei privilegierte Modi und einen nicht privilegierten Modus.</a:t>
            </a:r>
          </a:p>
        </p:txBody>
      </p:sp>
    </p:spTree>
    <p:extLst>
      <p:ext uri="{BB962C8B-B14F-4D97-AF65-F5344CB8AC3E}">
        <p14:creationId xmlns:p14="http://schemas.microsoft.com/office/powerpoint/2010/main" val="2786983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Aufgabe 1.5 Lösung - Prozessmodi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fik 3" descr="Ein Bild, das Text, Screenshot, Schrift, Zahl enthält.&#10;&#10;Automatisch generierte Beschreibung">
            <a:extLst>
              <a:ext uri="{FF2B5EF4-FFF2-40B4-BE49-F238E27FC236}">
                <a16:creationId xmlns:a16="http://schemas.microsoft.com/office/drawing/2014/main" id="{FCEA5B15-5FEF-E356-B7EF-51D1F6EFF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590" y="2496522"/>
            <a:ext cx="6808576" cy="2000673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87FAEEA3-A81A-E2C3-6D65-4A9C86343BDE}"/>
              </a:ext>
            </a:extLst>
          </p:cNvPr>
          <p:cNvSpPr txBox="1"/>
          <p:nvPr/>
        </p:nvSpPr>
        <p:spPr>
          <a:xfrm>
            <a:off x="5012871" y="1485899"/>
            <a:ext cx="6191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Beispielhaft alle (relevanten) Modi auf einem ARM7-Prozessor</a:t>
            </a:r>
          </a:p>
        </p:txBody>
      </p:sp>
    </p:spTree>
    <p:extLst>
      <p:ext uri="{BB962C8B-B14F-4D97-AF65-F5344CB8AC3E}">
        <p14:creationId xmlns:p14="http://schemas.microsoft.com/office/powerpoint/2010/main" val="752730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Aufgabe 1.5 - Prozessmodi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2532051-EB05-ED09-2017-7027A4D2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dirty="0"/>
              <a:t>Worin unterscheiden sich nicht privilegierte und privilegierte Modi (Rechte und Anwendung)? Nennen Sie 3 Unterschiede.</a:t>
            </a:r>
          </a:p>
        </p:txBody>
      </p:sp>
    </p:spTree>
    <p:extLst>
      <p:ext uri="{BB962C8B-B14F-4D97-AF65-F5344CB8AC3E}">
        <p14:creationId xmlns:p14="http://schemas.microsoft.com/office/powerpoint/2010/main" val="3527248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Aufgabe 1.5 Lösung - Prozessmodi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fik 6" descr="Ein Bild, das Screenshot, Diagramm, Text, Reihe enthält.&#10;&#10;Automatisch generierte Beschreibung">
            <a:extLst>
              <a:ext uri="{FF2B5EF4-FFF2-40B4-BE49-F238E27FC236}">
                <a16:creationId xmlns:a16="http://schemas.microsoft.com/office/drawing/2014/main" id="{023B33C5-4C7C-C8D2-9D35-BD8096D4A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020" y="1582964"/>
            <a:ext cx="6315784" cy="4213679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B22E0C6-C6AE-CD27-7579-6C71E32F4C08}"/>
              </a:ext>
            </a:extLst>
          </p:cNvPr>
          <p:cNvSpPr txBox="1"/>
          <p:nvPr/>
        </p:nvSpPr>
        <p:spPr>
          <a:xfrm>
            <a:off x="4929035" y="823541"/>
            <a:ext cx="6191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Beispielhaft alle (relevanten) Register auf einem ARM7-Prozessor</a:t>
            </a:r>
          </a:p>
        </p:txBody>
      </p:sp>
    </p:spTree>
    <p:extLst>
      <p:ext uri="{BB962C8B-B14F-4D97-AF65-F5344CB8AC3E}">
        <p14:creationId xmlns:p14="http://schemas.microsoft.com/office/powerpoint/2010/main" val="1473675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Aufgabe 1.5 - Prozessmodi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2532051-EB05-ED09-2017-7027A4D2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dirty="0"/>
              <a:t>Wie wird zwischen privilegierten und nicht privilegierten Modus gewechselt? Nennen Sie drei Beispiele zum Wechseln in einen privilegierten Modus und ein Beispiel zum Wechseln in den unprivilegierten Modus.</a:t>
            </a:r>
          </a:p>
        </p:txBody>
      </p:sp>
    </p:spTree>
    <p:extLst>
      <p:ext uri="{BB962C8B-B14F-4D97-AF65-F5344CB8AC3E}">
        <p14:creationId xmlns:p14="http://schemas.microsoft.com/office/powerpoint/2010/main" val="2964889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Aufgabe 1.6 - Interrupts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2532051-EB05-ED09-2017-7027A4D2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dirty="0"/>
              <a:t>Was ist ein Hardware-Interrupt? Wie reagiert das Betriebssystem und der Prozessor auf einen Hardware Interrupt?</a:t>
            </a:r>
          </a:p>
        </p:txBody>
      </p:sp>
    </p:spTree>
    <p:extLst>
      <p:ext uri="{BB962C8B-B14F-4D97-AF65-F5344CB8AC3E}">
        <p14:creationId xmlns:p14="http://schemas.microsoft.com/office/powerpoint/2010/main" val="3084170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Aufgabe 1.6 Lösung - Interrupts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fik 6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3C58D6AB-730D-84D6-7AAD-33B2BD04D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584" y="2418359"/>
            <a:ext cx="6530292" cy="202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019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Aufgabe 1.6 - Interrupts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2532051-EB05-ED09-2017-7027A4D2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dirty="0"/>
              <a:t>Wie erkennt der Prozessor, dass ein Hardware-Interrupt vorliegt? 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Nennen Sie zwei Beispiele, wie Hardware-Interrupts entstehen können</a:t>
            </a:r>
          </a:p>
        </p:txBody>
      </p:sp>
    </p:spTree>
    <p:extLst>
      <p:ext uri="{BB962C8B-B14F-4D97-AF65-F5344CB8AC3E}">
        <p14:creationId xmlns:p14="http://schemas.microsoft.com/office/powerpoint/2010/main" val="1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Aufgabe 1.6 Lösung - Interrupts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fik 6" descr="Ein Bild, das Diagramm, Plan, technische Zeichnung, Reihe enthält.&#10;&#10;Automatisch generierte Beschreibung">
            <a:extLst>
              <a:ext uri="{FF2B5EF4-FFF2-40B4-BE49-F238E27FC236}">
                <a16:creationId xmlns:a16="http://schemas.microsoft.com/office/drawing/2014/main" id="{728AEA71-4886-9453-F5DA-DCCAB425E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058" y="2136391"/>
            <a:ext cx="6247420" cy="265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401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Aufgabe 1.6 - Interrupts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2532051-EB05-ED09-2017-7027A4D2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dirty="0"/>
              <a:t>Wie unterscheiden sich sequentielle Unterbrechungsbehandlung und geschachtelte Unterbrechungsbehandlung? Was passiert, wenn ein Interrupt eintritt, während noch ein vorheriger Interrupt behandelt wird?</a:t>
            </a:r>
          </a:p>
        </p:txBody>
      </p:sp>
    </p:spTree>
    <p:extLst>
      <p:ext uri="{BB962C8B-B14F-4D97-AF65-F5344CB8AC3E}">
        <p14:creationId xmlns:p14="http://schemas.microsoft.com/office/powerpoint/2010/main" val="3654528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Kalender auf Tisch">
            <a:extLst>
              <a:ext uri="{FF2B5EF4-FFF2-40B4-BE49-F238E27FC236}">
                <a16:creationId xmlns:a16="http://schemas.microsoft.com/office/drawing/2014/main" id="{B4F67104-8337-9DE2-45FA-C4610B440B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627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4373414-2B41-1BF1-C131-961DD800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Danke, für die Aufmerksamkeit! Bis nächste Woche!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6396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</Words>
  <Application>Microsoft Macintosh PowerPoint</Application>
  <PresentationFormat>Breitbild</PresentationFormat>
  <Paragraphs>44</Paragraphs>
  <Slides>20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Söhne</vt:lpstr>
      <vt:lpstr>Office</vt:lpstr>
      <vt:lpstr>Tutorium 2</vt:lpstr>
      <vt:lpstr>Aufgabe 1.3 -Parallelisierung</vt:lpstr>
      <vt:lpstr>Aufgabe 1.3 Lösung -Parallelisierung</vt:lpstr>
      <vt:lpstr>Aufgabe 1.3 -Parallelisierung</vt:lpstr>
      <vt:lpstr>Aufgabe 1.3 Lösung -Parallelisierung</vt:lpstr>
      <vt:lpstr>Aufgabe 1.3 -Parallelisierung</vt:lpstr>
      <vt:lpstr>Aufgabe 1.3 Lösung -Parallelisierung</vt:lpstr>
      <vt:lpstr>Aufgabe 1.4 - Prozessmanagement</vt:lpstr>
      <vt:lpstr>Aufgabe 1.4 - Prozessmanagement</vt:lpstr>
      <vt:lpstr>Aufgabe 1.5 - Prozessmodi</vt:lpstr>
      <vt:lpstr>Aufgabe 1.5 Lösung - Prozessmodi</vt:lpstr>
      <vt:lpstr>Aufgabe 1.5 - Prozessmodi</vt:lpstr>
      <vt:lpstr>Aufgabe 1.5 Lösung - Prozessmodi</vt:lpstr>
      <vt:lpstr>Aufgabe 1.5 - Prozessmodi</vt:lpstr>
      <vt:lpstr>Aufgabe 1.6 - Interrupts</vt:lpstr>
      <vt:lpstr>Aufgabe 1.6 Lösung - Interrupts</vt:lpstr>
      <vt:lpstr>Aufgabe 1.6 - Interrupts</vt:lpstr>
      <vt:lpstr>Aufgabe 1.6 Lösung - Interrupts</vt:lpstr>
      <vt:lpstr>Aufgabe 1.6 - Interrupts</vt:lpstr>
      <vt:lpstr>Danke, für die Aufmerksamkeit! Bis nächste Woche!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Tutorium 1</dc:title>
  <dc:creator>TU-Pseudonym 4154380243227850</dc:creator>
  <cp:lastModifiedBy>TU-Pseudonym 4154380243227850</cp:lastModifiedBy>
  <cp:revision>6</cp:revision>
  <dcterms:created xsi:type="dcterms:W3CDTF">2024-04-22T15:37:16Z</dcterms:created>
  <dcterms:modified xsi:type="dcterms:W3CDTF">2024-04-29T13:26:32Z</dcterms:modified>
</cp:coreProperties>
</file>